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DM Sans Medium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DM Sa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DMSansMedium-bold.fntdata"/><Relationship Id="rId21" Type="http://schemas.openxmlformats.org/officeDocument/2006/relationships/font" Target="fonts/DMSansMedium-regular.fntdata"/><Relationship Id="rId24" Type="http://schemas.openxmlformats.org/officeDocument/2006/relationships/font" Target="fonts/DMSansMedium-boldItalic.fntdata"/><Relationship Id="rId23" Type="http://schemas.openxmlformats.org/officeDocument/2006/relationships/font" Target="fonts/DMSans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Light-italic.fntdata"/><Relationship Id="rId30" Type="http://schemas.openxmlformats.org/officeDocument/2006/relationships/font" Target="fonts/DMSansLigh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DMSansLigh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15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9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9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Python Data Structures: Sets &amp; Dictionaries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9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 beginner's guide to understanding sets, dictionaries, and when to use each one.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9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0"/>
          <p:cNvSpPr/>
          <p:nvPr/>
        </p:nvSpPr>
        <p:spPr>
          <a:xfrm>
            <a:off x="496119" y="900187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 Set?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0"/>
          <p:cNvSpPr/>
          <p:nvPr/>
        </p:nvSpPr>
        <p:spPr>
          <a:xfrm>
            <a:off x="496119" y="1555775"/>
            <a:ext cx="2290465" cy="1497285"/>
          </a:xfrm>
          <a:prstGeom prst="roundRect">
            <a:avLst>
              <a:gd fmla="val 14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0"/>
          <p:cNvSpPr/>
          <p:nvPr/>
        </p:nvSpPr>
        <p:spPr>
          <a:xfrm>
            <a:off x="637877" y="1697534"/>
            <a:ext cx="183557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Unique Elements Only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0"/>
          <p:cNvSpPr/>
          <p:nvPr/>
        </p:nvSpPr>
        <p:spPr>
          <a:xfrm>
            <a:off x="637877" y="2004045"/>
            <a:ext cx="200694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Unordered, mutable collection — duplicates are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automatically removed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when added.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0"/>
          <p:cNvSpPr/>
          <p:nvPr/>
        </p:nvSpPr>
        <p:spPr>
          <a:xfrm>
            <a:off x="2928342" y="1555775"/>
            <a:ext cx="2290539" cy="1497285"/>
          </a:xfrm>
          <a:prstGeom prst="roundRect">
            <a:avLst>
              <a:gd fmla="val 14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0"/>
          <p:cNvSpPr/>
          <p:nvPr/>
        </p:nvSpPr>
        <p:spPr>
          <a:xfrm>
            <a:off x="3070101" y="169753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How to Create One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0"/>
          <p:cNvSpPr/>
          <p:nvPr/>
        </p:nvSpPr>
        <p:spPr>
          <a:xfrm>
            <a:off x="3070101" y="2004045"/>
            <a:ext cx="2007022" cy="6899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my_set = {1, 2, 3}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set([1, 2, 2, 3])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{1, 2, 3}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0"/>
          <p:cNvSpPr/>
          <p:nvPr/>
        </p:nvSpPr>
        <p:spPr>
          <a:xfrm>
            <a:off x="496119" y="3194819"/>
            <a:ext cx="4722763" cy="1048420"/>
          </a:xfrm>
          <a:prstGeom prst="roundRect">
            <a:avLst>
              <a:gd fmla="val 202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/>
          <p:nvPr/>
        </p:nvSpPr>
        <p:spPr>
          <a:xfrm>
            <a:off x="637877" y="333657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No Indexing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0"/>
          <p:cNvSpPr/>
          <p:nvPr/>
        </p:nvSpPr>
        <p:spPr>
          <a:xfrm>
            <a:off x="637877" y="3643089"/>
            <a:ext cx="4439245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Cannot be indexed — use loops or membership tests with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access elements.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0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27" y="55853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/>
          <p:nvPr/>
        </p:nvSpPr>
        <p:spPr>
          <a:xfrm>
            <a:off x="496119" y="754856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Core Set Operations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" name="Google Shape;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5938" y="1569913"/>
            <a:ext cx="2536924" cy="114798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>
            <a:off x="3692947" y="1730722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Union —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| B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/>
          <p:nvPr/>
        </p:nvSpPr>
        <p:spPr>
          <a:xfrm>
            <a:off x="3692947" y="2103462"/>
            <a:ext cx="213910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All elements from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both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sets combined.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9" name="Google Shape;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571" y="1569913"/>
            <a:ext cx="2536999" cy="114798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1"/>
          <p:cNvSpPr/>
          <p:nvPr/>
        </p:nvSpPr>
        <p:spPr>
          <a:xfrm>
            <a:off x="6352580" y="1730722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Intersection —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&amp; B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1"/>
          <p:cNvSpPr/>
          <p:nvPr/>
        </p:nvSpPr>
        <p:spPr>
          <a:xfrm>
            <a:off x="6352580" y="2103462"/>
            <a:ext cx="21391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Only elements that appear in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both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sets.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55938" y="2859658"/>
            <a:ext cx="2536924" cy="136944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1"/>
          <p:cNvSpPr/>
          <p:nvPr/>
        </p:nvSpPr>
        <p:spPr>
          <a:xfrm>
            <a:off x="3692947" y="3020467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Difference —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- B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1"/>
          <p:cNvSpPr/>
          <p:nvPr/>
        </p:nvSpPr>
        <p:spPr>
          <a:xfrm>
            <a:off x="3692947" y="3393207"/>
            <a:ext cx="21391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Elements in A but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B.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" name="Google Shape;8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15571" y="2859658"/>
            <a:ext cx="2536999" cy="136944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1"/>
          <p:cNvSpPr/>
          <p:nvPr/>
        </p:nvSpPr>
        <p:spPr>
          <a:xfrm>
            <a:off x="6352575" y="3020475"/>
            <a:ext cx="23001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Symmetric Difference —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A ^ B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1"/>
          <p:cNvSpPr/>
          <p:nvPr/>
        </p:nvSpPr>
        <p:spPr>
          <a:xfrm>
            <a:off x="6352580" y="3614663"/>
            <a:ext cx="2139181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Elements in either, but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not both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1" title="Logo Black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496119" y="763116"/>
            <a:ext cx="4137645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 Methods in Action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5" name="Google Shape;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8962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2"/>
          <p:cNvSpPr/>
          <p:nvPr/>
        </p:nvSpPr>
        <p:spPr>
          <a:xfrm>
            <a:off x="496119" y="2021160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.add(x)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2"/>
          <p:cNvSpPr/>
          <p:nvPr/>
        </p:nvSpPr>
        <p:spPr>
          <a:xfrm>
            <a:off x="496119" y="2337197"/>
            <a:ext cx="398725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Add a single element to the set.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53" y="148962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2"/>
          <p:cNvSpPr/>
          <p:nvPr/>
        </p:nvSpPr>
        <p:spPr>
          <a:xfrm>
            <a:off x="4660547" y="2021151"/>
            <a:ext cx="353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.remove(x)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/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.discard(x)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2"/>
          <p:cNvSpPr/>
          <p:nvPr/>
        </p:nvSpPr>
        <p:spPr>
          <a:xfrm>
            <a:off x="4660553" y="2436422"/>
            <a:ext cx="3987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.remove(x)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raises an error if missing. Use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.discard(x)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to avoid errors safely.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07910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/>
          <p:nvPr/>
        </p:nvSpPr>
        <p:spPr>
          <a:xfrm>
            <a:off x="496119" y="361064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Operator Methods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496119" y="3917156"/>
            <a:ext cx="3987254" cy="463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.union()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.intersection()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.difference()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method equivalents of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0553" y="307910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/>
          <p:nvPr/>
        </p:nvSpPr>
        <p:spPr>
          <a:xfrm>
            <a:off x="4660547" y="3610650"/>
            <a:ext cx="381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.issubset()</a:t>
            </a: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/ </a:t>
            </a: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.issuperset()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4660553" y="3926681"/>
            <a:ext cx="3987329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Check containment relationships between two sets.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2" title="Logo Black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/>
          <p:nvPr/>
        </p:nvSpPr>
        <p:spPr>
          <a:xfrm>
            <a:off x="496119" y="770334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When to Use a Set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3"/>
          <p:cNvSpPr/>
          <p:nvPr/>
        </p:nvSpPr>
        <p:spPr>
          <a:xfrm>
            <a:off x="3474988" y="1665684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3528157" y="169225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1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3935685" y="1714351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Remove Duplicates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3935685" y="2077566"/>
            <a:ext cx="2039466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Turn any list into unique items instantly: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unique = list(set(my_list))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6152331" y="1665684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6205500" y="1692250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2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6613029" y="1714351"/>
            <a:ext cx="203954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Fast Membership Testing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6613029" y="2299022"/>
            <a:ext cx="2039541" cy="685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O(1)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lookup speed vs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O(n)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for lists — sets are dramatically faster for </a:t>
            </a: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checks.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3474988" y="3267745"/>
            <a:ext cx="318939" cy="318939"/>
          </a:xfrm>
          <a:prstGeom prst="roundRect">
            <a:avLst>
              <a:gd fmla="val 6667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3528157" y="3294311"/>
            <a:ext cx="212601" cy="265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650"/>
              <a:buFont typeface="DM Sans Medium"/>
              <a:buNone/>
            </a:pPr>
            <a:r>
              <a:rPr b="0" i="0" lang="en-US" sz="16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3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3935685" y="3316412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Compare Collections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3935685" y="3679627"/>
            <a:ext cx="471688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Find common or unique items between two groups using union, intersection, or difference.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23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/>
          <p:nvPr/>
        </p:nvSpPr>
        <p:spPr>
          <a:xfrm>
            <a:off x="496119" y="531316"/>
            <a:ext cx="4829324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List vs Tuple vs Set vs Dict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496119" y="1257821"/>
            <a:ext cx="8151763" cy="2968079"/>
          </a:xfrm>
          <a:prstGeom prst="roundRect">
            <a:avLst>
              <a:gd fmla="val 71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642863" y="1352401"/>
            <a:ext cx="17997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4"/>
          <p:cNvSpPr/>
          <p:nvPr/>
        </p:nvSpPr>
        <p:spPr>
          <a:xfrm>
            <a:off x="2273647" y="1352401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Ordered?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3902050" y="1352401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Mutable?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5530453" y="1352401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Duplicates?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7158856" y="1352401"/>
            <a:ext cx="1799704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Best For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642863" y="1763613"/>
            <a:ext cx="179970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2273647" y="1763613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3902050" y="1763613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5530453" y="1763613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7158856" y="1763613"/>
            <a:ext cx="13425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Sequences you'll modify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642863" y="2401639"/>
            <a:ext cx="179970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Tuple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2273647" y="2401639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3902050" y="2401639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5530453" y="2401639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7158856" y="2401639"/>
            <a:ext cx="13425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Fixed data (coords, RGB)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42863" y="3039666"/>
            <a:ext cx="179970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2273647" y="3039666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3902050" y="3039666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5530453" y="3039666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158856" y="3039666"/>
            <a:ext cx="13425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Unique items &amp; fast lookup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42863" y="3677692"/>
            <a:ext cx="1799704" cy="231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2273647" y="3677692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Yes*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3902050" y="3677692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Yes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5530453" y="3677692"/>
            <a:ext cx="179732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Keys: No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158856" y="3677692"/>
            <a:ext cx="134250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Labeled / structured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496119" y="4385370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*Dicts preserve insertion order in Python 3.7+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4" title="Logo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/>
          <p:nvPr/>
        </p:nvSpPr>
        <p:spPr>
          <a:xfrm>
            <a:off x="441871" y="366713"/>
            <a:ext cx="476726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450"/>
              <a:buFont typeface="DM Sans Medium"/>
              <a:buNone/>
            </a:pPr>
            <a:r>
              <a:rPr b="0" i="0" lang="en-US" sz="2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Choosing the Right Structure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9" name="Google Shape;1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871" y="929878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/>
          <p:nvPr/>
        </p:nvSpPr>
        <p:spPr>
          <a:xfrm>
            <a:off x="1185565" y="1056084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Order + Mutability?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1185565" y="1320775"/>
            <a:ext cx="4087564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Use a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2" name="Google Shape;1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871" y="1687413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/>
          <p:nvPr/>
        </p:nvSpPr>
        <p:spPr>
          <a:xfrm>
            <a:off x="1185565" y="1813620"/>
            <a:ext cx="1624310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Order + Immutability?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1185565" y="2078310"/>
            <a:ext cx="4087564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Use a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Tuple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871" y="2444948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1185565" y="2571155"/>
            <a:ext cx="1594470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Uniqueness + Speed?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1185565" y="2835846"/>
            <a:ext cx="4087564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Use a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8" name="Google Shape;17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871" y="3202484"/>
            <a:ext cx="631254" cy="75753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/>
          <p:nvPr/>
        </p:nvSpPr>
        <p:spPr>
          <a:xfrm>
            <a:off x="1185565" y="3328690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00"/>
              <a:buFont typeface="DM Sans Medium"/>
              <a:buNone/>
            </a:pPr>
            <a:r>
              <a:rPr b="0" i="0" lang="en-US" sz="1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Labeled Data?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185565" y="3593381"/>
            <a:ext cx="4087564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→ Use a </a:t>
            </a:r>
            <a:r>
              <a:rPr b="1" i="0" lang="en-US" sz="9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Dict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441871" y="4086523"/>
            <a:ext cx="4831259" cy="690190"/>
          </a:xfrm>
          <a:prstGeom prst="roundRect">
            <a:avLst>
              <a:gd fmla="val 274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2" name="Google Shape;18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8077" y="4276725"/>
            <a:ext cx="157758" cy="1262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/>
          <p:nvPr/>
        </p:nvSpPr>
        <p:spPr>
          <a:xfrm>
            <a:off x="852041" y="4230514"/>
            <a:ext cx="4294882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When in doubt: if you're storing </a:t>
            </a: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pairs of related info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use a dict; if you just need a </a:t>
            </a:r>
            <a:r>
              <a:rPr b="1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bag of unique items</a:t>
            </a: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use a set.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9" name="Google Shape;1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6"/>
          <p:cNvSpPr/>
          <p:nvPr/>
        </p:nvSpPr>
        <p:spPr>
          <a:xfrm>
            <a:off x="3925119" y="902568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What Is a Dictionary?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3925119" y="1558156"/>
            <a:ext cx="2290465" cy="1497285"/>
          </a:xfrm>
          <a:prstGeom prst="roundRect">
            <a:avLst>
              <a:gd fmla="val 14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066877" y="169991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Key-Value Pairs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4066877" y="2006426"/>
            <a:ext cx="2006947" cy="45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Each key maps to a value: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{"name": "Alice", "age": 25}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6357342" y="1558156"/>
            <a:ext cx="2290539" cy="1497285"/>
          </a:xfrm>
          <a:prstGeom prst="roundRect">
            <a:avLst>
              <a:gd fmla="val 1420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6499101" y="1699915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Keys Must Be Unique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6499101" y="2006426"/>
            <a:ext cx="2007022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Keys are unique and immutable — strings, numbers, and tuples are valid key types.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3925119" y="3197200"/>
            <a:ext cx="4722763" cy="1043657"/>
          </a:xfrm>
          <a:prstGeom prst="roundRect">
            <a:avLst>
              <a:gd fmla="val 2038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4066877" y="333895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Values Are Flexible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4066877" y="3645471"/>
            <a:ext cx="443924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Values can be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any type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strings, lists, numbers, or even other dictionaries.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6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465162" y="426169"/>
            <a:ext cx="4922490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Accessing &amp; Modifying Dicts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162" y="1168450"/>
            <a:ext cx="2550393" cy="16444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612353" y="1706017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Direct Access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612353" y="2038276"/>
            <a:ext cx="2256011" cy="62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dict["key"]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returns the value, but raises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KeyError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if the key doesn't exist.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0" name="Google Shape;2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0125" y="1168450"/>
            <a:ext cx="2550468" cy="1644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/>
          <p:nvPr/>
        </p:nvSpPr>
        <p:spPr>
          <a:xfrm>
            <a:off x="3287316" y="1706017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Safe Access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3287316" y="2038276"/>
            <a:ext cx="2256086" cy="416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dict.get("key", default)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returns the fallback value instead of crashing.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3" name="Google Shape;2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62" y="2937495"/>
            <a:ext cx="2550393" cy="163971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/>
          <p:nvPr/>
        </p:nvSpPr>
        <p:spPr>
          <a:xfrm>
            <a:off x="612353" y="3475062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Add or Update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612353" y="3807321"/>
            <a:ext cx="2256011" cy="416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dict["key"] = value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creates a new key or overwrites an existing one.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6" name="Google Shape;21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40125" y="2937495"/>
            <a:ext cx="2550468" cy="163971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3287316" y="3475062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Merge Dicts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3287316" y="3807321"/>
            <a:ext cx="2256086" cy="622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dict.update({"key": value})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merges another dictionary into the current one.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9" name="Google Shape;21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19502" y="1540818"/>
            <a:ext cx="2664023" cy="266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7" title="Logo Black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>
            <a:off x="496119" y="1183630"/>
            <a:ext cx="4284315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50"/>
              <a:buFont typeface="DM Sans Medium"/>
              <a:buNone/>
            </a:pPr>
            <a:r>
              <a:rPr b="0" i="0" lang="en-US" sz="27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Essential Dict Methods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91013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/>
          <p:nvPr/>
        </p:nvSpPr>
        <p:spPr>
          <a:xfrm>
            <a:off x="1027658" y="1910135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.keys()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1027658" y="2226171"/>
            <a:ext cx="20675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a view of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all keys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the dictionary.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0" name="Google Shape;2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191013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/>
          <p:nvPr/>
        </p:nvSpPr>
        <p:spPr>
          <a:xfrm>
            <a:off x="3803972" y="1910135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.values()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3803972" y="2226171"/>
            <a:ext cx="20675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a view of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all values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in the dictionary.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1910135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8"/>
          <p:cNvSpPr/>
          <p:nvPr/>
        </p:nvSpPr>
        <p:spPr>
          <a:xfrm>
            <a:off x="6580287" y="1910135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.items()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6580287" y="2226171"/>
            <a:ext cx="206759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 all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key-value pairs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as tuples — the most versatile method.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6" name="Google Shape;23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19013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/>
          <p:nvPr/>
        </p:nvSpPr>
        <p:spPr>
          <a:xfrm>
            <a:off x="1027658" y="3190131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.pop("key")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1027658" y="3506167"/>
            <a:ext cx="20675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Removes and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returns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the value for the given key.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2433" y="3190131"/>
            <a:ext cx="354360" cy="35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/>
          <p:nvPr/>
        </p:nvSpPr>
        <p:spPr>
          <a:xfrm>
            <a:off x="3803972" y="3190131"/>
            <a:ext cx="1772022" cy="230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"key" in dict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3803972" y="3506167"/>
            <a:ext cx="206759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Check if a key exists — </a:t>
            </a:r>
            <a:r>
              <a:rPr b="1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O(1)</a:t>
            </a:r>
            <a:r>
              <a:rPr b="0" i="0" lang="en-US" sz="11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speed, just like sets.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8" title="Logo Black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/>
          <p:nvPr/>
        </p:nvSpPr>
        <p:spPr>
          <a:xfrm>
            <a:off x="465162" y="415975"/>
            <a:ext cx="4576688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Iterating Over a Dictionary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465162" y="1142702"/>
            <a:ext cx="2308696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Three Iteration Patterns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465162" y="1490514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DM Sans Light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465162" y="1702073"/>
            <a:ext cx="3944764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465162" y="1797100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Keys only (default)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465162" y="2129358"/>
            <a:ext cx="3944764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key in dict: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9"/>
          <p:cNvSpPr/>
          <p:nvPr/>
        </p:nvSpPr>
        <p:spPr>
          <a:xfrm>
            <a:off x="465162" y="2564309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DM Sans Light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65162" y="2775868"/>
            <a:ext cx="3944764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65162" y="2870895"/>
            <a:ext cx="2359893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Keys + Values (most common)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465162" y="3203153"/>
            <a:ext cx="3944764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key, value in dict.items():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465162" y="3638104"/>
            <a:ext cx="265807" cy="166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DM Sans Light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DM Sans Light"/>
                <a:ea typeface="DM Sans Light"/>
                <a:cs typeface="DM Sans Light"/>
                <a:sym typeface="DM Sans Light"/>
              </a:rPr>
              <a:t>03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465162" y="3849663"/>
            <a:ext cx="3944764" cy="14288"/>
          </a:xfrm>
          <a:prstGeom prst="rect">
            <a:avLst/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465162" y="3944689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Values only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5162" y="4276948"/>
            <a:ext cx="3944764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for value in dict.values():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4738836" y="1142702"/>
            <a:ext cx="2493169" cy="2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Example: </a:t>
            </a:r>
            <a:r>
              <a:rPr b="0" i="0" lang="en-US" sz="13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.items()</a:t>
            </a: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in action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4738836" y="1500039"/>
            <a:ext cx="3944764" cy="2943523"/>
          </a:xfrm>
          <a:prstGeom prst="roundRect">
            <a:avLst>
              <a:gd fmla="val 6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4732213" y="1500039"/>
            <a:ext cx="3958010" cy="2943523"/>
          </a:xfrm>
          <a:prstGeom prst="roundRect">
            <a:avLst>
              <a:gd fmla="val 67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4898306" y="1632942"/>
            <a:ext cx="3625825" cy="267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student = {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"name": "Alice",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"grade": "A",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"score": 95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key, value in student.items():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print(f"{key}: {value}")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name: Alice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grade: 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score: 95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29" title="Logo Blac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/>
          <p:nvPr/>
        </p:nvSpPr>
        <p:spPr>
          <a:xfrm>
            <a:off x="674489" y="327496"/>
            <a:ext cx="3281437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200"/>
              <a:buFont typeface="DM Sans Medium"/>
              <a:buNone/>
            </a:pPr>
            <a:r>
              <a:rPr b="0" i="0" lang="en-US" sz="22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Nested Dictionaries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674489" y="905396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100"/>
              <a:buFont typeface="DM Sans Medium"/>
              <a:buNone/>
            </a:pPr>
            <a:r>
              <a:rPr b="0" i="0" lang="en-US" sz="11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Dicts inside Dicts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0"/>
          <p:cNvSpPr/>
          <p:nvPr/>
        </p:nvSpPr>
        <p:spPr>
          <a:xfrm>
            <a:off x="674489" y="1171873"/>
            <a:ext cx="3759622" cy="735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Values can themselves be dictionaries — perfect for </a:t>
            </a:r>
            <a:r>
              <a:rPr b="1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structured records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like a student database.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Access nested values by </a:t>
            </a:r>
            <a:r>
              <a:rPr b="1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chaining keys</a:t>
            </a:r>
            <a:r>
              <a:rPr b="0" i="0" lang="en-US" sz="8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data["user"]["email"]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674489" y="2008287"/>
            <a:ext cx="3759622" cy="585118"/>
          </a:xfrm>
          <a:prstGeom prst="roundRect">
            <a:avLst>
              <a:gd fmla="val 289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6" name="Google Shape;2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50" y="2169616"/>
            <a:ext cx="141163" cy="11296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0"/>
          <p:cNvSpPr/>
          <p:nvPr/>
        </p:nvSpPr>
        <p:spPr>
          <a:xfrm>
            <a:off x="1041574" y="2126456"/>
            <a:ext cx="3279577" cy="329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0" i="0" lang="en-US" sz="8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.get()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at each level to avoid </a:t>
            </a:r>
            <a:r>
              <a:rPr b="0" i="0" lang="en-US" sz="850" u="none" cap="none" strike="noStrike">
                <a:solidFill>
                  <a:srgbClr val="000000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KeyError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 missing nested keys.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/>
          <p:nvPr/>
        </p:nvSpPr>
        <p:spPr>
          <a:xfrm>
            <a:off x="4714503" y="916632"/>
            <a:ext cx="3759622" cy="3798094"/>
          </a:xfrm>
          <a:prstGeom prst="roundRect">
            <a:avLst>
              <a:gd fmla="val 45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4708922" y="916632"/>
            <a:ext cx="3770784" cy="3798094"/>
          </a:xfrm>
          <a:prstGeom prst="roundRect">
            <a:avLst>
              <a:gd fmla="val 44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0"/>
          <p:cNvSpPr/>
          <p:nvPr/>
        </p:nvSpPr>
        <p:spPr>
          <a:xfrm>
            <a:off x="4850085" y="1029593"/>
            <a:ext cx="3488457" cy="3572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students = {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"Alice": {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"grade": "A",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"score": 95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"Bob": {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"grade": "B",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"score": 82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},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"Carol": {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"grade": "A",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"score": 91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Access nested value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print(students["Alice"]["score"])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Output: 95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# Safe access with .get()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grade = students.get("Bob", {}).get("grade", "N/A")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print(grade) # Output: B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30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1"/>
          <p:cNvSpPr/>
          <p:nvPr/>
        </p:nvSpPr>
        <p:spPr>
          <a:xfrm>
            <a:off x="3878610" y="495598"/>
            <a:ext cx="4572744" cy="401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00"/>
              <a:buFont typeface="DM Sans Medium"/>
              <a:buNone/>
            </a:pPr>
            <a:r>
              <a:rPr b="0" i="0" lang="en-US" sz="25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Nested Lists in Dictionaries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3878610" y="1071637"/>
            <a:ext cx="2349698" cy="1928217"/>
          </a:xfrm>
          <a:prstGeom prst="roundRect">
            <a:avLst>
              <a:gd fmla="val 999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4021336" y="1214363"/>
            <a:ext cx="2064246" cy="401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One-to-Many Relationships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4021336" y="1685553"/>
            <a:ext cx="2064246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Values can be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lists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store multiple items under a single key: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4021336" y="2208386"/>
            <a:ext cx="2064246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4014936" y="2208386"/>
            <a:ext cx="2077045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175522" y="2336825"/>
            <a:ext cx="1755874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{"fruits": ["apple", "banana"],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 "veggies": ["carrot"]}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6344692" y="1071637"/>
            <a:ext cx="2349698" cy="1928217"/>
          </a:xfrm>
          <a:prstGeom prst="roundRect">
            <a:avLst>
              <a:gd fmla="val 999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6487418" y="1214363"/>
            <a:ext cx="2053903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Appending to a Nested List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6487418" y="1484858"/>
            <a:ext cx="2064246" cy="396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Add new items directly using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.append()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6487418" y="2012454"/>
            <a:ext cx="2064246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6481018" y="2012454"/>
            <a:ext cx="2077045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6641604" y="2140893"/>
            <a:ext cx="1755874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dict["fruits"].append("mango")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3878610" y="3116238"/>
            <a:ext cx="4815780" cy="1531590"/>
          </a:xfrm>
          <a:prstGeom prst="roundRect">
            <a:avLst>
              <a:gd fmla="val 1258" name="adj"/>
            </a:avLst>
          </a:prstGeom>
          <a:solidFill>
            <a:srgbClr val="F9F8F5"/>
          </a:solidFill>
          <a:ln cap="flat" cmpd="sng" w="14275">
            <a:solidFill>
              <a:srgbClr val="D3D1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4021336" y="3258964"/>
            <a:ext cx="2015356" cy="200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Iterating Over Nested Lists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4021336" y="3529459"/>
            <a:ext cx="4530328" cy="195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Loop through the inner list just like any other: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4021336" y="3856360"/>
            <a:ext cx="4530328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4014936" y="3856360"/>
            <a:ext cx="4543127" cy="648742"/>
          </a:xfrm>
          <a:prstGeom prst="roundRect">
            <a:avLst>
              <a:gd fmla="val 2971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175522" y="3984799"/>
            <a:ext cx="4221956" cy="3918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for item in dict["fruits"]: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print(item)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31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2"/>
          <p:cNvSpPr/>
          <p:nvPr/>
        </p:nvSpPr>
        <p:spPr>
          <a:xfrm>
            <a:off x="488379" y="740346"/>
            <a:ext cx="4015160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700"/>
              <a:buFont typeface="DM Sans Medium"/>
              <a:buNone/>
            </a:pPr>
            <a:r>
              <a:rPr b="0" i="0" lang="en-US" sz="27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Dict Comprehensions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4" name="Google Shape;3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379" y="1574155"/>
            <a:ext cx="2637234" cy="263723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/>
          <p:nvPr/>
        </p:nvSpPr>
        <p:spPr>
          <a:xfrm>
            <a:off x="3470746" y="1519833"/>
            <a:ext cx="2290167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Build Dicts in One Line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1696" y="1873300"/>
            <a:ext cx="1634430" cy="2394347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2"/>
          <p:cNvSpPr/>
          <p:nvPr/>
        </p:nvSpPr>
        <p:spPr>
          <a:xfrm>
            <a:off x="3648373" y="1892350"/>
            <a:ext cx="1437754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Basic Comprehension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3648373" y="2482900"/>
            <a:ext cx="1437754" cy="721965"/>
          </a:xfrm>
          <a:prstGeom prst="roundRect">
            <a:avLst>
              <a:gd fmla="val 289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3641452" y="2482900"/>
            <a:ext cx="1451595" cy="721965"/>
          </a:xfrm>
          <a:prstGeom prst="roundRect">
            <a:avLst>
              <a:gd fmla="val 289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3815879" y="2622426"/>
            <a:ext cx="110274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{k: v for k, v in pairs}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3648373" y="3359348"/>
            <a:ext cx="1437754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Constructs a dict from any iterable of key-value pairs.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2" name="Google Shape;32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0" y="1873300"/>
            <a:ext cx="1634430" cy="2394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/>
          <p:nvPr/>
        </p:nvSpPr>
        <p:spPr>
          <a:xfrm>
            <a:off x="5435426" y="1892350"/>
            <a:ext cx="1437754" cy="43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Filter While Building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5435426" y="2482900"/>
            <a:ext cx="1437754" cy="721965"/>
          </a:xfrm>
          <a:prstGeom prst="roundRect">
            <a:avLst>
              <a:gd fmla="val 289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5428506" y="2482900"/>
            <a:ext cx="1451595" cy="721965"/>
          </a:xfrm>
          <a:prstGeom prst="roundRect">
            <a:avLst>
              <a:gd fmla="val 2899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5602932" y="2622426"/>
            <a:ext cx="110274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{k: v for k, v in d.items() if v &gt; 0}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5435426" y="3359348"/>
            <a:ext cx="1437754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Only include entries that pass the condition.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8" name="Google Shape;32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5804" y="1873300"/>
            <a:ext cx="1634430" cy="2394347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/>
          <p:nvPr/>
        </p:nvSpPr>
        <p:spPr>
          <a:xfrm>
            <a:off x="7222480" y="1892350"/>
            <a:ext cx="1437754" cy="21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50"/>
              <a:buFont typeface="DM Sans Medium"/>
              <a:buNone/>
            </a:pPr>
            <a:r>
              <a:rPr b="0" i="0" lang="en-US" sz="13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Transform Values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7222480" y="2264866"/>
            <a:ext cx="1437754" cy="1164878"/>
          </a:xfrm>
          <a:prstGeom prst="roundRect">
            <a:avLst>
              <a:gd fmla="val 179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7215560" y="2264866"/>
            <a:ext cx="1451595" cy="1164878"/>
          </a:xfrm>
          <a:prstGeom prst="roundRect">
            <a:avLst>
              <a:gd fmla="val 1797" name="adj"/>
            </a:avLst>
          </a:prstGeom>
          <a:solidFill>
            <a:srgbClr val="ECE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7389986" y="2404393"/>
            <a:ext cx="1102742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{name: score * 2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Consolas"/>
                <a:ea typeface="Consolas"/>
                <a:cs typeface="Consolas"/>
                <a:sym typeface="Consolas"/>
              </a:rPr>
              <a:t> for name, score in scores.items()}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7222480" y="3584228"/>
            <a:ext cx="1437754" cy="664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Apply any expression to transform each value on the fly.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2" title="Logo Black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"/>
          <p:cNvSpPr/>
          <p:nvPr/>
        </p:nvSpPr>
        <p:spPr>
          <a:xfrm>
            <a:off x="457349" y="418133"/>
            <a:ext cx="5465862" cy="408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550"/>
              <a:buFont typeface="DM Sans Medium"/>
              <a:buNone/>
            </a:pPr>
            <a:r>
              <a:rPr b="0" i="0" lang="en-US" sz="25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Sets vs Dicts — Easy to Confuse!</a:t>
            </a:r>
            <a:endParaRPr b="0" i="0" sz="25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/>
          <p:nvPr/>
        </p:nvSpPr>
        <p:spPr>
          <a:xfrm>
            <a:off x="363289" y="1007194"/>
            <a:ext cx="4143375" cy="3718099"/>
          </a:xfrm>
          <a:prstGeom prst="roundRect">
            <a:avLst>
              <a:gd fmla="val 527" name="adj"/>
            </a:avLst>
          </a:prstGeom>
          <a:solidFill>
            <a:srgbClr val="2828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493961" y="1127671"/>
            <a:ext cx="2090812" cy="20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Trap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🪤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493961" y="1457027"/>
            <a:ext cx="3882033" cy="91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Both use </a:t>
            </a:r>
            <a:r>
              <a:rPr b="0" i="0" lang="en-US" sz="1000" u="none" cap="none" strike="noStrike">
                <a:solidFill>
                  <a:srgbClr val="FFFFFF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{ }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curly braces — but they behave very differently. This trips up almost every beginner!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/>
          <p:nvPr/>
        </p:nvSpPr>
        <p:spPr>
          <a:xfrm>
            <a:off x="493961" y="2489299"/>
            <a:ext cx="2090812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The Golden Rule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3"/>
          <p:cNvSpPr/>
          <p:nvPr/>
        </p:nvSpPr>
        <p:spPr>
          <a:xfrm>
            <a:off x="493961" y="2813893"/>
            <a:ext cx="3882033" cy="911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Look for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colons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If you see </a:t>
            </a:r>
            <a:r>
              <a:rPr b="0" i="0" lang="en-US" sz="1000" u="none" cap="none" strike="noStrike">
                <a:solidFill>
                  <a:srgbClr val="FFFFFF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key: value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pairs, it's a dict. No colons? It's a set.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493961" y="3861197"/>
            <a:ext cx="3882033" cy="728588"/>
          </a:xfrm>
          <a:prstGeom prst="roundRect">
            <a:avLst>
              <a:gd fmla="val 2691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7" name="Google Shape;3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632" y="4057799"/>
            <a:ext cx="163339" cy="13067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/>
          <p:nvPr/>
        </p:nvSpPr>
        <p:spPr>
          <a:xfrm>
            <a:off x="918642" y="4014341"/>
            <a:ext cx="3326681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Writing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{}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creates an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empty dict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NOT an empty set. Always use </a:t>
            </a:r>
            <a:r>
              <a:rPr b="0" i="0" lang="en-US" sz="1000" u="none" cap="none" strike="noStrike">
                <a:solidFill>
                  <a:srgbClr val="000000"/>
                </a:solidFill>
                <a:highlight>
                  <a:srgbClr val="35353C"/>
                </a:highlight>
                <a:latin typeface="Consolas"/>
                <a:ea typeface="Consolas"/>
                <a:cs typeface="Consolas"/>
                <a:sym typeface="Consolas"/>
              </a:rPr>
              <a:t>set()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an empty set!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4736157" y="1127671"/>
            <a:ext cx="2479179" cy="204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250"/>
              <a:buFont typeface="DM Sans Medium"/>
              <a:buNone/>
            </a:pPr>
            <a:r>
              <a:rPr b="0" i="0" lang="en-US" sz="12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Side-by-Side Comparison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4736157" y="1467296"/>
            <a:ext cx="3955256" cy="2531790"/>
          </a:xfrm>
          <a:prstGeom prst="roundRect">
            <a:avLst>
              <a:gd fmla="val 77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4871665" y="1549078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Expression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6452295" y="1549078"/>
            <a:ext cx="2560886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What it creates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4871665" y="1908721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6452295" y="1908721"/>
            <a:ext cx="2560886" cy="205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Empty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dict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4871665" y="2273126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set()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6452295" y="2273126"/>
            <a:ext cx="2560886" cy="205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Empty </a:t>
            </a: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4871665" y="2637532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{1, 2, 3}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6452295" y="2637532"/>
            <a:ext cx="2560886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 colons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4871665" y="2997175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{"a": 1}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6452295" y="2997175"/>
            <a:ext cx="2560886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Dict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has colons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871665" y="3356818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{"a": 1, "b": 2}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6452295" y="3356818"/>
            <a:ext cx="2560886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Dict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has colons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4871665" y="3716462"/>
            <a:ext cx="1771724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{"a", "b", "c"}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6452295" y="3716462"/>
            <a:ext cx="2560886" cy="200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Set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no colons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33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4"/>
          <p:cNvSpPr/>
          <p:nvPr/>
        </p:nvSpPr>
        <p:spPr>
          <a:xfrm>
            <a:off x="465162" y="365820"/>
            <a:ext cx="5098554" cy="41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2600"/>
              <a:buFont typeface="DM Sans Medium"/>
              <a:buNone/>
            </a:pPr>
            <a:r>
              <a:rPr b="0" i="0" lang="en-US" sz="26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Quick Reference: Sets &amp; Dicts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465162" y="1030263"/>
            <a:ext cx="8213675" cy="1771576"/>
          </a:xfrm>
          <a:prstGeom prst="roundRect">
            <a:avLst>
              <a:gd fmla="val 112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465162" y="1030263"/>
            <a:ext cx="4106838" cy="1771576"/>
          </a:xfrm>
          <a:prstGeom prst="roundRect">
            <a:avLst>
              <a:gd fmla="val 1125" name="adj"/>
            </a:avLst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598066" y="1163166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Sets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🔵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4"/>
          <p:cNvSpPr/>
          <p:nvPr/>
        </p:nvSpPr>
        <p:spPr>
          <a:xfrm>
            <a:off x="598066" y="1445568"/>
            <a:ext cx="3841031" cy="1223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Unique items, no duplicates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Fast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O(1)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lookup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Union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Intersection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, Difference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Create: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{1, 2, 3}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set()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Empty set: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set()</a:t>
            </a: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 — never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"/>
          <p:cNvSpPr/>
          <p:nvPr/>
        </p:nvSpPr>
        <p:spPr>
          <a:xfrm>
            <a:off x="4572000" y="1030263"/>
            <a:ext cx="4106838" cy="1771576"/>
          </a:xfrm>
          <a:prstGeom prst="rect">
            <a:avLst/>
          </a:prstGeom>
          <a:solidFill>
            <a:srgbClr val="EDEB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4572000" y="1030263"/>
            <a:ext cx="14288" cy="1771576"/>
          </a:xfrm>
          <a:prstGeom prst="roundRect">
            <a:avLst>
              <a:gd fmla="val 139530" name="adj"/>
            </a:avLst>
          </a:prstGeom>
          <a:solidFill>
            <a:srgbClr val="D3D1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4"/>
          <p:cNvSpPr/>
          <p:nvPr/>
        </p:nvSpPr>
        <p:spPr>
          <a:xfrm>
            <a:off x="4704904" y="1163166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Dicts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🟡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4"/>
          <p:cNvSpPr/>
          <p:nvPr/>
        </p:nvSpPr>
        <p:spPr>
          <a:xfrm>
            <a:off x="4704904" y="1445568"/>
            <a:ext cx="3841031" cy="1218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Labeled key-value data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Safe access: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.get("key", default)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Iterate pairs: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.items()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Supports nesting: dicts &amp; lists as values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Char char="•"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Empty dict: </a:t>
            </a:r>
            <a:r>
              <a:rPr b="0" i="0" lang="en-US" sz="1000" u="none" cap="none" strike="noStrike">
                <a:solidFill>
                  <a:srgbClr val="161613"/>
                </a:solidFill>
                <a:highlight>
                  <a:srgbClr val="ECEBE8"/>
                </a:highlight>
                <a:latin typeface="Consolas"/>
                <a:ea typeface="Consolas"/>
                <a:cs typeface="Consolas"/>
                <a:sym typeface="Consolas"/>
              </a:rPr>
              <a:t>{}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465162" y="3008412"/>
            <a:ext cx="2634035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450"/>
              <a:buFont typeface="DM Sans Medium"/>
              <a:buNone/>
            </a:pPr>
            <a:r>
              <a:rPr b="0" i="0" lang="en-US" sz="3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O(1)</a:t>
            </a:r>
            <a:endParaRPr b="0" i="0" sz="3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951533" y="3606850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Set Lookup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465162" y="3889251"/>
            <a:ext cx="263403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Constant time membership test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3254946" y="3008412"/>
            <a:ext cx="2634035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450"/>
              <a:buFont typeface="DM Sans Medium"/>
              <a:buNone/>
            </a:pPr>
            <a:r>
              <a:rPr b="0" i="0" lang="en-US" sz="3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4</a:t>
            </a:r>
            <a:endParaRPr b="0" i="0" sz="3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3741316" y="3606850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Data Structures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3254946" y="3889251"/>
            <a:ext cx="263403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List, Tuple, Set, Dict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6044729" y="3008412"/>
            <a:ext cx="2634035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3450"/>
              <a:buFont typeface="DM Sans Medium"/>
              <a:buNone/>
            </a:pPr>
            <a:r>
              <a:rPr b="0" i="0" lang="en-US" sz="345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5</a:t>
            </a:r>
            <a:endParaRPr b="0" i="0" sz="3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6531099" y="3606850"/>
            <a:ext cx="1661294" cy="20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300"/>
              <a:buFont typeface="DM Sans Medium"/>
              <a:buNone/>
            </a:pPr>
            <a:r>
              <a:rPr b="0" i="0" lang="en-US" sz="1300" u="none" cap="none" strike="noStrike">
                <a:solidFill>
                  <a:srgbClr val="161613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Dict Methods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6044729" y="3889251"/>
            <a:ext cx="2634035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get, update, keys, values, items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465162" y="4235351"/>
            <a:ext cx="8213675" cy="542255"/>
          </a:xfrm>
          <a:prstGeom prst="roundRect">
            <a:avLst>
              <a:gd fmla="val 3677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0" name="Google Shape;39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66" y="4432771"/>
            <a:ext cx="166092" cy="13290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4"/>
          <p:cNvSpPr/>
          <p:nvPr/>
        </p:nvSpPr>
        <p:spPr>
          <a:xfrm>
            <a:off x="897062" y="4393109"/>
            <a:ext cx="8106073" cy="205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 now have the tools to choose the right structure every time. When in doubt: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pairs → dict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unique items → set</a:t>
            </a:r>
            <a:r>
              <a:rPr b="0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34" title="Logo Black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9477" y="78878"/>
            <a:ext cx="2025001" cy="3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