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5143500" cy="9144000"/>
  <p:embeddedFontLst>
    <p:embeddedFont>
      <p:font typeface="DM Sans Medium"/>
      <p:regular r:id="rId19"/>
      <p:bold r:id="rId20"/>
      <p:italic r:id="rId21"/>
      <p:boldItalic r:id="rId22"/>
    </p:embeddedFont>
    <p:embeddedFont>
      <p:font typeface="Inter"/>
      <p:regular r:id="rId23"/>
      <p:bold r:id="rId24"/>
      <p:italic r:id="rId25"/>
      <p:boldItalic r:id="rId26"/>
    </p:embeddedFont>
    <p:embeddedFont>
      <p:font typeface="DM Sans Light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Medium-bold.fntdata"/><Relationship Id="rId22" Type="http://schemas.openxmlformats.org/officeDocument/2006/relationships/font" Target="fonts/DMSansMedium-boldItalic.fntdata"/><Relationship Id="rId21" Type="http://schemas.openxmlformats.org/officeDocument/2006/relationships/font" Target="fonts/DMSansMedium-italic.fntdata"/><Relationship Id="rId24" Type="http://schemas.openxmlformats.org/officeDocument/2006/relationships/font" Target="fonts/Inter-bold.fntdata"/><Relationship Id="rId23" Type="http://schemas.openxmlformats.org/officeDocument/2006/relationships/font" Target="fonts/Inter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Inter-boldItalic.fntdata"/><Relationship Id="rId25" Type="http://schemas.openxmlformats.org/officeDocument/2006/relationships/font" Target="fonts/Inter-italic.fntdata"/><Relationship Id="rId28" Type="http://schemas.openxmlformats.org/officeDocument/2006/relationships/font" Target="fonts/DMSansLight-bold.fntdata"/><Relationship Id="rId27" Type="http://schemas.openxmlformats.org/officeDocument/2006/relationships/font" Target="fonts/DMSansLight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DMSansLight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schemas.openxmlformats.org/officeDocument/2006/relationships/font" Target="fonts/DMSansLight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DMSansMedium-regular.fntdata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" name="Google Shape;4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" name="Google Shape;5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" name="Google Shape;6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Relationship Id="rId6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.png"/><Relationship Id="rId4" Type="http://schemas.openxmlformats.org/officeDocument/2006/relationships/image" Target="../media/image15.png"/><Relationship Id="rId5" Type="http://schemas.openxmlformats.org/officeDocument/2006/relationships/image" Target="../media/image7.png"/><Relationship Id="rId6" Type="http://schemas.openxmlformats.org/officeDocument/2006/relationships/image" Target="../media/image10.png"/><Relationship Id="rId7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13.png"/><Relationship Id="rId5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Relationship Id="rId4" Type="http://schemas.openxmlformats.org/officeDocument/2006/relationships/image" Target="../media/image22.png"/><Relationship Id="rId5" Type="http://schemas.openxmlformats.org/officeDocument/2006/relationships/image" Target="../media/image21.png"/><Relationship Id="rId6" Type="http://schemas.openxmlformats.org/officeDocument/2006/relationships/image" Target="../media/image24.png"/><Relationship Id="rId7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4" name="Google Shape;4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7"/>
          <p:cNvSpPr/>
          <p:nvPr/>
        </p:nvSpPr>
        <p:spPr>
          <a:xfrm>
            <a:off x="496119" y="2017142"/>
            <a:ext cx="4044032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750"/>
              <a:buFont typeface="DM Sans Medium"/>
              <a:buNone/>
            </a:pPr>
            <a:r>
              <a:rPr b="0" i="0" lang="en-US" sz="27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Python Lists &amp; Tuples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7"/>
          <p:cNvSpPr/>
          <p:nvPr/>
        </p:nvSpPr>
        <p:spPr>
          <a:xfrm>
            <a:off x="496119" y="2672730"/>
            <a:ext cx="4722763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 beginner's guide to storing, organizing, and working with collections of data in Python.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" name="Google Shape;47;p17" title="Logo 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775" y="71453"/>
            <a:ext cx="1502228" cy="2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3" name="Google Shape;5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8"/>
          <p:cNvSpPr/>
          <p:nvPr/>
        </p:nvSpPr>
        <p:spPr>
          <a:xfrm>
            <a:off x="3925119" y="477143"/>
            <a:ext cx="4001319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750"/>
              <a:buFont typeface="DM Sans Medium"/>
              <a:buNone/>
            </a:pPr>
            <a:r>
              <a:rPr b="0" i="0" lang="en-US" sz="27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What Is a List?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5" name="Google Shape;5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06069" y="1132731"/>
            <a:ext cx="4741813" cy="1081757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8"/>
          <p:cNvSpPr/>
          <p:nvPr/>
        </p:nvSpPr>
        <p:spPr>
          <a:xfrm>
            <a:off x="4143077" y="1293540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Ordered Collection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8"/>
          <p:cNvSpPr/>
          <p:nvPr/>
        </p:nvSpPr>
        <p:spPr>
          <a:xfrm>
            <a:off x="4143077" y="1600051"/>
            <a:ext cx="4343995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 list stores multiple values in a single variable, keeping them in a defined order.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8" name="Google Shape;5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06069" y="2356247"/>
            <a:ext cx="4741813" cy="1081757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8"/>
          <p:cNvSpPr/>
          <p:nvPr/>
        </p:nvSpPr>
        <p:spPr>
          <a:xfrm>
            <a:off x="4143077" y="2517056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Mutable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8"/>
          <p:cNvSpPr/>
          <p:nvPr/>
        </p:nvSpPr>
        <p:spPr>
          <a:xfrm>
            <a:off x="4143077" y="2823567"/>
            <a:ext cx="4343995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Lists are </a:t>
            </a:r>
            <a:r>
              <a:rPr b="1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mutable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— you can change, add, or remove items after creation.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1" name="Google Shape;6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06069" y="3579763"/>
            <a:ext cx="4741813" cy="108652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8"/>
          <p:cNvSpPr/>
          <p:nvPr/>
        </p:nvSpPr>
        <p:spPr>
          <a:xfrm>
            <a:off x="4143077" y="3740572"/>
            <a:ext cx="1885504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Square Bracket Syntax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8"/>
          <p:cNvSpPr/>
          <p:nvPr/>
        </p:nvSpPr>
        <p:spPr>
          <a:xfrm>
            <a:off x="4143077" y="4047083"/>
            <a:ext cx="4343995" cy="458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Created with square brackets: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fruits = ["apple", "banana", "cherry"]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" name="Google Shape;64;p18" title="Logo Black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77100" y="82378"/>
            <a:ext cx="1502228" cy="2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9"/>
          <p:cNvSpPr/>
          <p:nvPr/>
        </p:nvSpPr>
        <p:spPr>
          <a:xfrm>
            <a:off x="496119" y="770334"/>
            <a:ext cx="4001319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750"/>
              <a:buFont typeface="DM Sans Medium"/>
              <a:buNone/>
            </a:pPr>
            <a:r>
              <a:rPr b="0" i="0" lang="en-US" sz="27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Creating Lists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1" name="Google Shape;7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585392"/>
            <a:ext cx="2628230" cy="262823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9"/>
          <p:cNvSpPr/>
          <p:nvPr/>
        </p:nvSpPr>
        <p:spPr>
          <a:xfrm>
            <a:off x="3474988" y="1688157"/>
            <a:ext cx="3554090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Three Common Ways to Create a List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9"/>
          <p:cNvSpPr/>
          <p:nvPr/>
        </p:nvSpPr>
        <p:spPr>
          <a:xfrm>
            <a:off x="3474988" y="2069083"/>
            <a:ext cx="318939" cy="318939"/>
          </a:xfrm>
          <a:prstGeom prst="roundRect">
            <a:avLst>
              <a:gd fmla="val 6667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9"/>
          <p:cNvSpPr/>
          <p:nvPr/>
        </p:nvSpPr>
        <p:spPr>
          <a:xfrm>
            <a:off x="3528157" y="2095649"/>
            <a:ext cx="212601" cy="265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650"/>
              <a:buFont typeface="DM Sans Medium"/>
              <a:buNone/>
            </a:pPr>
            <a:r>
              <a:rPr b="0" i="0" lang="en-US" sz="16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1</a:t>
            </a:r>
            <a:endParaRPr b="0" i="0" sz="1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9"/>
          <p:cNvSpPr/>
          <p:nvPr/>
        </p:nvSpPr>
        <p:spPr>
          <a:xfrm>
            <a:off x="3935685" y="2117750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Empty List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9"/>
          <p:cNvSpPr/>
          <p:nvPr/>
        </p:nvSpPr>
        <p:spPr>
          <a:xfrm>
            <a:off x="3935685" y="2480965"/>
            <a:ext cx="2039466" cy="685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my_list = []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— start blank and fill it later as your program runs.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9"/>
          <p:cNvSpPr/>
          <p:nvPr/>
        </p:nvSpPr>
        <p:spPr>
          <a:xfrm>
            <a:off x="6152331" y="2069083"/>
            <a:ext cx="318939" cy="318939"/>
          </a:xfrm>
          <a:prstGeom prst="roundRect">
            <a:avLst>
              <a:gd fmla="val 6667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9"/>
          <p:cNvSpPr/>
          <p:nvPr/>
        </p:nvSpPr>
        <p:spPr>
          <a:xfrm>
            <a:off x="6205500" y="2095649"/>
            <a:ext cx="212601" cy="265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650"/>
              <a:buFont typeface="DM Sans Medium"/>
              <a:buNone/>
            </a:pPr>
            <a:r>
              <a:rPr b="0" i="0" lang="en-US" sz="16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2</a:t>
            </a:r>
            <a:endParaRPr b="0" i="0" sz="1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9"/>
          <p:cNvSpPr/>
          <p:nvPr/>
        </p:nvSpPr>
        <p:spPr>
          <a:xfrm>
            <a:off x="6613029" y="2117750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Mixed Types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9"/>
          <p:cNvSpPr/>
          <p:nvPr/>
        </p:nvSpPr>
        <p:spPr>
          <a:xfrm>
            <a:off x="6613029" y="2480965"/>
            <a:ext cx="2039541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Python lists can hold strings, numbers, and booleans all together in one list.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9"/>
          <p:cNvSpPr/>
          <p:nvPr/>
        </p:nvSpPr>
        <p:spPr>
          <a:xfrm>
            <a:off x="3474988" y="3449687"/>
            <a:ext cx="318939" cy="318939"/>
          </a:xfrm>
          <a:prstGeom prst="roundRect">
            <a:avLst>
              <a:gd fmla="val 6667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9"/>
          <p:cNvSpPr/>
          <p:nvPr/>
        </p:nvSpPr>
        <p:spPr>
          <a:xfrm>
            <a:off x="3528157" y="3476253"/>
            <a:ext cx="212601" cy="265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650"/>
              <a:buFont typeface="DM Sans Medium"/>
              <a:buNone/>
            </a:pPr>
            <a:r>
              <a:rPr b="0" i="0" lang="en-US" sz="16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3</a:t>
            </a:r>
            <a:endParaRPr b="0" i="0" sz="1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9"/>
          <p:cNvSpPr/>
          <p:nvPr/>
        </p:nvSpPr>
        <p:spPr>
          <a:xfrm>
            <a:off x="3935685" y="3498354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From a Range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9"/>
          <p:cNvSpPr/>
          <p:nvPr/>
        </p:nvSpPr>
        <p:spPr>
          <a:xfrm>
            <a:off x="3935685" y="3861569"/>
            <a:ext cx="4716884" cy="231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list(range(1, 6))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→ </a:t>
            </a: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[1, 2, 3, 4, 5]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85;p19" title="Logo 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775" y="71453"/>
            <a:ext cx="1502228" cy="2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/>
          <p:nvPr/>
        </p:nvSpPr>
        <p:spPr>
          <a:xfrm>
            <a:off x="496119" y="478780"/>
            <a:ext cx="4001319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750"/>
              <a:buFont typeface="DM Sans Medium"/>
              <a:buNone/>
            </a:pPr>
            <a:r>
              <a:rPr b="0" i="0" lang="en-US" sz="27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Indexing &amp; Slicing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2" name="Google Shape;9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8100" y="1205285"/>
            <a:ext cx="4787801" cy="284157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0"/>
          <p:cNvSpPr/>
          <p:nvPr/>
        </p:nvSpPr>
        <p:spPr>
          <a:xfrm>
            <a:off x="5281881" y="3387740"/>
            <a:ext cx="1418738" cy="229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400"/>
              <a:buFont typeface="DM Sans Medium"/>
              <a:buNone/>
            </a:pPr>
            <a:r>
              <a:rPr b="0" i="0" lang="en-US" sz="14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IndexError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0"/>
          <p:cNvSpPr/>
          <p:nvPr/>
        </p:nvSpPr>
        <p:spPr>
          <a:xfrm>
            <a:off x="3781981" y="3387740"/>
            <a:ext cx="1418738" cy="229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400"/>
              <a:buFont typeface="DM Sans Medium"/>
              <a:buNone/>
            </a:pPr>
            <a:r>
              <a:rPr b="0" i="0" lang="en-US" sz="14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Slicing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0"/>
          <p:cNvSpPr/>
          <p:nvPr/>
        </p:nvSpPr>
        <p:spPr>
          <a:xfrm>
            <a:off x="2257626" y="3387740"/>
            <a:ext cx="1418738" cy="229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400"/>
              <a:buFont typeface="DM Sans Medium"/>
              <a:buNone/>
            </a:pPr>
            <a:r>
              <a:rPr b="0" i="0" lang="en-US" sz="14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Indexing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0"/>
          <p:cNvSpPr/>
          <p:nvPr/>
        </p:nvSpPr>
        <p:spPr>
          <a:xfrm>
            <a:off x="496119" y="4206329"/>
            <a:ext cx="8151763" cy="458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Indexing lets you grab a single item by position; slicing lets you grab a range. Remember: Python counts from </a:t>
            </a:r>
            <a:r>
              <a:rPr b="1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, and negative indexes count from the end. Always stay within bounds to avoid an </a:t>
            </a: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IndexError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p20" title="Logo 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775" y="71453"/>
            <a:ext cx="1502228" cy="2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/>
          <p:nvPr/>
        </p:nvSpPr>
        <p:spPr>
          <a:xfrm>
            <a:off x="496119" y="1242417"/>
            <a:ext cx="473221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750"/>
              <a:buFont typeface="DM Sans Medium"/>
              <a:buNone/>
            </a:pPr>
            <a:r>
              <a:rPr b="0" i="0" lang="en-US" sz="27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Adding &amp; Removing Items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1"/>
          <p:cNvSpPr/>
          <p:nvPr/>
        </p:nvSpPr>
        <p:spPr>
          <a:xfrm>
            <a:off x="496119" y="1968922"/>
            <a:ext cx="2622724" cy="1932087"/>
          </a:xfrm>
          <a:prstGeom prst="roundRect">
            <a:avLst>
              <a:gd fmla="val 1101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1"/>
          <p:cNvSpPr/>
          <p:nvPr/>
        </p:nvSpPr>
        <p:spPr>
          <a:xfrm>
            <a:off x="637877" y="2110680"/>
            <a:ext cx="425276" cy="425276"/>
          </a:xfrm>
          <a:prstGeom prst="roundRect">
            <a:avLst>
              <a:gd fmla="val 13436988" name="adj"/>
            </a:avLst>
          </a:prstGeom>
          <a:solidFill>
            <a:srgbClr val="2828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6" name="Google Shape;10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856" y="2227585"/>
            <a:ext cx="191319" cy="19131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1"/>
          <p:cNvSpPr/>
          <p:nvPr/>
        </p:nvSpPr>
        <p:spPr>
          <a:xfrm>
            <a:off x="637877" y="2677716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append(x)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1"/>
          <p:cNvSpPr/>
          <p:nvPr/>
        </p:nvSpPr>
        <p:spPr>
          <a:xfrm>
            <a:off x="637877" y="2984227"/>
            <a:ext cx="2339206" cy="7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Adds </a:t>
            </a: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to the </a:t>
            </a:r>
            <a:r>
              <a:rPr b="1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end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of the list. The list grows by one item.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65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fruits.append("mango")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1"/>
          <p:cNvSpPr/>
          <p:nvPr/>
        </p:nvSpPr>
        <p:spPr>
          <a:xfrm>
            <a:off x="3260601" y="1968922"/>
            <a:ext cx="2622724" cy="1932087"/>
          </a:xfrm>
          <a:prstGeom prst="roundRect">
            <a:avLst>
              <a:gd fmla="val 1101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1"/>
          <p:cNvSpPr/>
          <p:nvPr/>
        </p:nvSpPr>
        <p:spPr>
          <a:xfrm>
            <a:off x="3402360" y="2110680"/>
            <a:ext cx="425276" cy="425276"/>
          </a:xfrm>
          <a:prstGeom prst="roundRect">
            <a:avLst>
              <a:gd fmla="val 13436988" name="adj"/>
            </a:avLst>
          </a:prstGeom>
          <a:solidFill>
            <a:srgbClr val="2828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1" name="Google Shape;11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19339" y="2227585"/>
            <a:ext cx="191319" cy="191319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1"/>
          <p:cNvSpPr/>
          <p:nvPr/>
        </p:nvSpPr>
        <p:spPr>
          <a:xfrm>
            <a:off x="3402360" y="2677716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remove(x)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1"/>
          <p:cNvSpPr/>
          <p:nvPr/>
        </p:nvSpPr>
        <p:spPr>
          <a:xfrm>
            <a:off x="3402360" y="2984227"/>
            <a:ext cx="2339206" cy="7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Removes the </a:t>
            </a:r>
            <a:r>
              <a:rPr b="1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first occurrence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of </a:t>
            </a: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. Raises </a:t>
            </a: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ValueError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if not found.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65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fruits.remove("banana")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1"/>
          <p:cNvSpPr/>
          <p:nvPr/>
        </p:nvSpPr>
        <p:spPr>
          <a:xfrm>
            <a:off x="6025083" y="1968922"/>
            <a:ext cx="2622724" cy="1932087"/>
          </a:xfrm>
          <a:prstGeom prst="roundRect">
            <a:avLst>
              <a:gd fmla="val 1101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1"/>
          <p:cNvSpPr/>
          <p:nvPr/>
        </p:nvSpPr>
        <p:spPr>
          <a:xfrm>
            <a:off x="6166842" y="2110680"/>
            <a:ext cx="425276" cy="425276"/>
          </a:xfrm>
          <a:prstGeom prst="roundRect">
            <a:avLst>
              <a:gd fmla="val 13436988" name="adj"/>
            </a:avLst>
          </a:prstGeom>
          <a:solidFill>
            <a:srgbClr val="2828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6" name="Google Shape;11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3821" y="2227585"/>
            <a:ext cx="191319" cy="19131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1"/>
          <p:cNvSpPr/>
          <p:nvPr/>
        </p:nvSpPr>
        <p:spPr>
          <a:xfrm>
            <a:off x="6166842" y="2677716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pop(i)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1"/>
          <p:cNvSpPr/>
          <p:nvPr/>
        </p:nvSpPr>
        <p:spPr>
          <a:xfrm>
            <a:off x="6166842" y="2984227"/>
            <a:ext cx="2339206" cy="7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Removes </a:t>
            </a:r>
            <a:r>
              <a:rPr b="1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and returns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the item at index </a:t>
            </a: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. Defaults to the last item.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65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fruits.pop(0)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21" title="Logo Black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4775" y="71453"/>
            <a:ext cx="1502228" cy="2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5" name="Google Shape;1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634603"/>
            <a:ext cx="2628230" cy="262823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3474988" y="926306"/>
            <a:ext cx="4001319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750"/>
              <a:buFont typeface="DM Sans Medium"/>
              <a:buNone/>
            </a:pPr>
            <a:r>
              <a:rPr b="0" i="0" lang="en-US" sz="27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Sorting &amp; Reversing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2"/>
          <p:cNvSpPr/>
          <p:nvPr/>
        </p:nvSpPr>
        <p:spPr>
          <a:xfrm>
            <a:off x="3474988" y="1511052"/>
            <a:ext cx="5177582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Python gives you two powerful in-place methods to reorder your list without creating a new one.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2"/>
          <p:cNvSpPr/>
          <p:nvPr/>
        </p:nvSpPr>
        <p:spPr>
          <a:xfrm>
            <a:off x="3474988" y="2124149"/>
            <a:ext cx="5177582" cy="829196"/>
          </a:xfrm>
          <a:prstGeom prst="roundRect">
            <a:avLst>
              <a:gd fmla="val 2565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29" name="Google Shape;12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16747" y="2339206"/>
            <a:ext cx="177180" cy="141759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2"/>
          <p:cNvSpPr/>
          <p:nvPr/>
        </p:nvSpPr>
        <p:spPr>
          <a:xfrm>
            <a:off x="3935685" y="2301329"/>
            <a:ext cx="4575125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Both methods modify the list directly — no need to reassign the variable.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2"/>
          <p:cNvSpPr/>
          <p:nvPr/>
        </p:nvSpPr>
        <p:spPr>
          <a:xfrm>
            <a:off x="496119" y="3581772"/>
            <a:ext cx="4004965" cy="1086520"/>
          </a:xfrm>
          <a:prstGeom prst="roundRect">
            <a:avLst>
              <a:gd fmla="val 1957" name="adj"/>
            </a:avLst>
          </a:prstGeom>
          <a:solidFill>
            <a:srgbClr val="F9F8F5"/>
          </a:solidFill>
          <a:ln cap="flat" cmpd="sng" w="19050">
            <a:solidFill>
              <a:srgbClr val="D3D1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2"/>
          <p:cNvSpPr/>
          <p:nvPr/>
        </p:nvSpPr>
        <p:spPr>
          <a:xfrm>
            <a:off x="656927" y="3742581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sort()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2"/>
          <p:cNvSpPr/>
          <p:nvPr/>
        </p:nvSpPr>
        <p:spPr>
          <a:xfrm>
            <a:off x="656927" y="4049092"/>
            <a:ext cx="3683347" cy="458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Sorts the list </a:t>
            </a:r>
            <a:r>
              <a:rPr b="1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ascending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by default. Use </a:t>
            </a: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sort(reverse=True)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for descending order.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2"/>
          <p:cNvSpPr/>
          <p:nvPr/>
        </p:nvSpPr>
        <p:spPr>
          <a:xfrm>
            <a:off x="4642842" y="3581772"/>
            <a:ext cx="4005039" cy="1086520"/>
          </a:xfrm>
          <a:prstGeom prst="roundRect">
            <a:avLst>
              <a:gd fmla="val 1957" name="adj"/>
            </a:avLst>
          </a:prstGeom>
          <a:solidFill>
            <a:srgbClr val="F9F8F5"/>
          </a:solidFill>
          <a:ln cap="flat" cmpd="sng" w="19050">
            <a:solidFill>
              <a:srgbClr val="D3D1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2"/>
          <p:cNvSpPr/>
          <p:nvPr/>
        </p:nvSpPr>
        <p:spPr>
          <a:xfrm>
            <a:off x="4803651" y="3742581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reverse()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2"/>
          <p:cNvSpPr/>
          <p:nvPr/>
        </p:nvSpPr>
        <p:spPr>
          <a:xfrm>
            <a:off x="4803651" y="4049092"/>
            <a:ext cx="3683422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Flips the current order of the list in place — it does </a:t>
            </a:r>
            <a:r>
              <a:rPr b="1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not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sort, only reverses.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22" title="Logo Black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4775" y="71453"/>
            <a:ext cx="1502228" cy="2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/>
          <p:nvPr/>
        </p:nvSpPr>
        <p:spPr>
          <a:xfrm>
            <a:off x="449610" y="353764"/>
            <a:ext cx="4077221" cy="4300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500"/>
              <a:buFont typeface="DM Sans Medium"/>
              <a:buNone/>
            </a:pPr>
            <a:r>
              <a:rPr b="0" i="0" lang="en-US" sz="25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Iterating with a </a:t>
            </a:r>
            <a:r>
              <a:rPr b="0" i="0" lang="en-US" sz="25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25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Loop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44" name="Google Shape;14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610" y="1016645"/>
            <a:ext cx="4122390" cy="513904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3"/>
          <p:cNvSpPr/>
          <p:nvPr/>
        </p:nvSpPr>
        <p:spPr>
          <a:xfrm>
            <a:off x="578048" y="1646932"/>
            <a:ext cx="1605930" cy="200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250"/>
              <a:buFont typeface="DM Sans Medium"/>
              <a:buNone/>
            </a:pPr>
            <a:r>
              <a:rPr b="0" i="0" lang="en-US" sz="12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Basic Loop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3"/>
          <p:cNvSpPr/>
          <p:nvPr/>
        </p:nvSpPr>
        <p:spPr>
          <a:xfrm>
            <a:off x="578048" y="1917427"/>
            <a:ext cx="3865513" cy="5925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Loop through every item without needing an index: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for fruit in fruits: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processes each item one by one.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47" name="Google Shape;14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1016645"/>
            <a:ext cx="4122390" cy="513904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3"/>
          <p:cNvSpPr/>
          <p:nvPr/>
        </p:nvSpPr>
        <p:spPr>
          <a:xfrm>
            <a:off x="4700439" y="1646932"/>
            <a:ext cx="1605930" cy="200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250"/>
              <a:buFont typeface="DM Sans Medium"/>
              <a:buNone/>
            </a:pPr>
            <a:r>
              <a:rPr b="0" i="0" lang="en-US" sz="12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With enumerate()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3"/>
          <p:cNvSpPr/>
          <p:nvPr/>
        </p:nvSpPr>
        <p:spPr>
          <a:xfrm>
            <a:off x="4700439" y="1917427"/>
            <a:ext cx="3865513" cy="5925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Need both the index </a:t>
            </a:r>
            <a:r>
              <a:rPr b="1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and</a:t>
            </a: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the value? Use: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for i, val in enumerate(my_list):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— gives you position and item together.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3"/>
          <p:cNvSpPr/>
          <p:nvPr/>
        </p:nvSpPr>
        <p:spPr>
          <a:xfrm>
            <a:off x="449610" y="2769394"/>
            <a:ext cx="8244780" cy="2020267"/>
          </a:xfrm>
          <a:prstGeom prst="roundRect">
            <a:avLst>
              <a:gd fmla="val 954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3"/>
          <p:cNvSpPr/>
          <p:nvPr/>
        </p:nvSpPr>
        <p:spPr>
          <a:xfrm>
            <a:off x="443210" y="2769394"/>
            <a:ext cx="8257580" cy="2020267"/>
          </a:xfrm>
          <a:prstGeom prst="roundRect">
            <a:avLst>
              <a:gd fmla="val 954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3"/>
          <p:cNvSpPr/>
          <p:nvPr/>
        </p:nvSpPr>
        <p:spPr>
          <a:xfrm>
            <a:off x="603796" y="2897832"/>
            <a:ext cx="7936409" cy="1763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fruits = ["apple", "banana", "cherry"]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# Basic loop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for fruit in fruits: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 print(fruit)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# With index using enumerate()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for i, fruit in enumerate(fruits):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 print(i, fruit)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p23" title="Logo Black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77100" y="82378"/>
            <a:ext cx="1502228" cy="2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9" name="Google Shape;15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4"/>
          <p:cNvSpPr/>
          <p:nvPr/>
        </p:nvSpPr>
        <p:spPr>
          <a:xfrm>
            <a:off x="496119" y="472380"/>
            <a:ext cx="4001319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750"/>
              <a:buFont typeface="DM Sans Medium"/>
              <a:buNone/>
            </a:pPr>
            <a:r>
              <a:rPr b="0" i="0" lang="en-US" sz="27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Common List Errors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61" name="Google Shape;16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1127968"/>
            <a:ext cx="4722763" cy="108652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4"/>
          <p:cNvSpPr/>
          <p:nvPr/>
        </p:nvSpPr>
        <p:spPr>
          <a:xfrm>
            <a:off x="1223963" y="1288777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IndexError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4"/>
          <p:cNvSpPr/>
          <p:nvPr/>
        </p:nvSpPr>
        <p:spPr>
          <a:xfrm>
            <a:off x="1223963" y="1595289"/>
            <a:ext cx="3834110" cy="458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Accessing an index beyond the list length. Always check </a:t>
            </a: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len()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before accessing by index.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64" name="Google Shape;16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6119" y="2356247"/>
            <a:ext cx="4722763" cy="1091282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4"/>
          <p:cNvSpPr/>
          <p:nvPr/>
        </p:nvSpPr>
        <p:spPr>
          <a:xfrm>
            <a:off x="1223963" y="2517056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ValueError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4"/>
          <p:cNvSpPr/>
          <p:nvPr/>
        </p:nvSpPr>
        <p:spPr>
          <a:xfrm>
            <a:off x="1223963" y="2823567"/>
            <a:ext cx="3834110" cy="463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Calling </a:t>
            </a: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remove(x)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when </a:t>
            </a: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isn't in the list. Check with </a:t>
            </a: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if x in my_list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first.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67" name="Google Shape;167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6119" y="3589288"/>
            <a:ext cx="4722763" cy="1081757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4"/>
          <p:cNvSpPr/>
          <p:nvPr/>
        </p:nvSpPr>
        <p:spPr>
          <a:xfrm>
            <a:off x="1223963" y="3750097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TypeError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4"/>
          <p:cNvSpPr/>
          <p:nvPr/>
        </p:nvSpPr>
        <p:spPr>
          <a:xfrm>
            <a:off x="1223963" y="4056608"/>
            <a:ext cx="3834110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Trying to sort a list with mixed incompatible types — e.g. strings and numbers together.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p24" title="Logo Black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4775" y="71453"/>
            <a:ext cx="1502228" cy="2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5"/>
          <p:cNvSpPr/>
          <p:nvPr/>
        </p:nvSpPr>
        <p:spPr>
          <a:xfrm>
            <a:off x="496119" y="770334"/>
            <a:ext cx="4001319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750"/>
              <a:buFont typeface="DM Sans Medium"/>
              <a:buNone/>
            </a:pPr>
            <a:r>
              <a:rPr b="0" i="0" lang="en-US" sz="27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What Is a Tuple?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5"/>
          <p:cNvSpPr/>
          <p:nvPr/>
        </p:nvSpPr>
        <p:spPr>
          <a:xfrm>
            <a:off x="496119" y="2009105"/>
            <a:ext cx="1631305" cy="1780803"/>
          </a:xfrm>
          <a:prstGeom prst="roundRect">
            <a:avLst>
              <a:gd fmla="val 1304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5"/>
          <p:cNvSpPr/>
          <p:nvPr/>
        </p:nvSpPr>
        <p:spPr>
          <a:xfrm>
            <a:off x="637877" y="2150864"/>
            <a:ext cx="1347788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Ordered Sequence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5"/>
          <p:cNvSpPr/>
          <p:nvPr/>
        </p:nvSpPr>
        <p:spPr>
          <a:xfrm>
            <a:off x="637877" y="2735535"/>
            <a:ext cx="1347788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 tuple stores an ordered sequence of values — just like a list.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5"/>
          <p:cNvSpPr/>
          <p:nvPr/>
        </p:nvSpPr>
        <p:spPr>
          <a:xfrm>
            <a:off x="2269182" y="2009105"/>
            <a:ext cx="1631379" cy="1780803"/>
          </a:xfrm>
          <a:prstGeom prst="roundRect">
            <a:avLst>
              <a:gd fmla="val 1304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5"/>
          <p:cNvSpPr/>
          <p:nvPr/>
        </p:nvSpPr>
        <p:spPr>
          <a:xfrm>
            <a:off x="2410941" y="2150864"/>
            <a:ext cx="134786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Immutable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5"/>
          <p:cNvSpPr/>
          <p:nvPr/>
        </p:nvSpPr>
        <p:spPr>
          <a:xfrm>
            <a:off x="2410941" y="2514079"/>
            <a:ext cx="1347862" cy="1134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Once created, a tuple </a:t>
            </a:r>
            <a:r>
              <a:rPr b="1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cannot be changed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. No adding, removing, or editing items.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5"/>
          <p:cNvSpPr/>
          <p:nvPr/>
        </p:nvSpPr>
        <p:spPr>
          <a:xfrm>
            <a:off x="4042321" y="2009105"/>
            <a:ext cx="1631379" cy="1780803"/>
          </a:xfrm>
          <a:prstGeom prst="roundRect">
            <a:avLst>
              <a:gd fmla="val 1304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5"/>
          <p:cNvSpPr/>
          <p:nvPr/>
        </p:nvSpPr>
        <p:spPr>
          <a:xfrm>
            <a:off x="4184079" y="2150864"/>
            <a:ext cx="1347862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Parenthesis Syntax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5"/>
          <p:cNvSpPr/>
          <p:nvPr/>
        </p:nvSpPr>
        <p:spPr>
          <a:xfrm>
            <a:off x="4184079" y="2735535"/>
            <a:ext cx="1347862" cy="685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Created with parentheses: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point = (3, 7)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86" name="Google Shape;18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24339" y="1585392"/>
            <a:ext cx="2628230" cy="2628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5" title="Logo 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77100" y="82378"/>
            <a:ext cx="1502228" cy="2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6"/>
          <p:cNvSpPr/>
          <p:nvPr/>
        </p:nvSpPr>
        <p:spPr>
          <a:xfrm>
            <a:off x="903759" y="303386"/>
            <a:ext cx="4904780" cy="3322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050"/>
              <a:buFont typeface="DM Sans Medium"/>
              <a:buNone/>
            </a:pPr>
            <a:r>
              <a:rPr b="0" i="0" lang="en-US" sz="20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Tuples vs. Lists: When to Use Which</a:t>
            </a:r>
            <a:endParaRPr b="0" i="0" sz="2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94" name="Google Shape;19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3759" y="795114"/>
            <a:ext cx="655320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5" name="Google Shape;19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3759" y="795114"/>
            <a:ext cx="65532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6"/>
          <p:cNvSpPr/>
          <p:nvPr/>
        </p:nvSpPr>
        <p:spPr>
          <a:xfrm>
            <a:off x="903759" y="4542383"/>
            <a:ext cx="7336408" cy="29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Choose a </a:t>
            </a:r>
            <a:r>
              <a:rPr b="1" i="0" lang="en-US" sz="8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list</a:t>
            </a:r>
            <a:r>
              <a:rPr b="0" i="0" lang="en-US" sz="8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when your data will change over time. Choose a </a:t>
            </a:r>
            <a:r>
              <a:rPr b="1" i="0" lang="en-US" sz="8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tuple</a:t>
            </a:r>
            <a:r>
              <a:rPr b="0" i="0" lang="en-US" sz="8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when your data should stay fixed — tuples are also slightly faster and can be used as dictionary keys, which lists cannot.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26" title="Logo Black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77100" y="82378"/>
            <a:ext cx="1502228" cy="2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7"/>
          <p:cNvSpPr/>
          <p:nvPr/>
        </p:nvSpPr>
        <p:spPr>
          <a:xfrm>
            <a:off x="480640" y="393576"/>
            <a:ext cx="3890590" cy="4291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700"/>
              <a:buFont typeface="DM Sans Medium"/>
              <a:buNone/>
            </a:pPr>
            <a:r>
              <a:rPr b="0" i="0" lang="en-US" sz="27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Nested Lists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7"/>
          <p:cNvSpPr/>
          <p:nvPr/>
        </p:nvSpPr>
        <p:spPr>
          <a:xfrm>
            <a:off x="480640" y="1155204"/>
            <a:ext cx="2173858" cy="214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Lists Inside Lists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7"/>
          <p:cNvSpPr/>
          <p:nvPr/>
        </p:nvSpPr>
        <p:spPr>
          <a:xfrm>
            <a:off x="480640" y="1502718"/>
            <a:ext cx="2646164" cy="648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 list can contain other lists as elements, creating a </a:t>
            </a:r>
            <a:r>
              <a:rPr b="1" i="0" lang="en-US" sz="10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2D structure</a:t>
            </a:r>
            <a:r>
              <a:rPr b="0" i="0" lang="en-US" sz="10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— like a grid or matrix.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7"/>
          <p:cNvSpPr/>
          <p:nvPr/>
        </p:nvSpPr>
        <p:spPr>
          <a:xfrm>
            <a:off x="480640" y="2301329"/>
            <a:ext cx="2646164" cy="1356196"/>
          </a:xfrm>
          <a:prstGeom prst="roundRect">
            <a:avLst>
              <a:gd fmla="val 1519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7"/>
          <p:cNvSpPr/>
          <p:nvPr/>
        </p:nvSpPr>
        <p:spPr>
          <a:xfrm>
            <a:off x="473794" y="2301329"/>
            <a:ext cx="2659856" cy="1356196"/>
          </a:xfrm>
          <a:prstGeom prst="roundRect">
            <a:avLst>
              <a:gd fmla="val 1519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7"/>
          <p:cNvSpPr/>
          <p:nvPr/>
        </p:nvSpPr>
        <p:spPr>
          <a:xfrm>
            <a:off x="645393" y="2438623"/>
            <a:ext cx="2316659" cy="1081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matrix = [[1, 2], [3, 4], [5, 6]]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# Access inner items with double indexing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print(matrix[1][0])  # → 3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7"/>
          <p:cNvSpPr/>
          <p:nvPr/>
        </p:nvSpPr>
        <p:spPr>
          <a:xfrm>
            <a:off x="480640" y="3807172"/>
            <a:ext cx="2646164" cy="793031"/>
          </a:xfrm>
          <a:prstGeom prst="roundRect">
            <a:avLst>
              <a:gd fmla="val 2598" name="adj"/>
            </a:avLst>
          </a:prstGeom>
          <a:solidFill>
            <a:srgbClr val="D6D6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10" name="Google Shape;21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934" y="4015755"/>
            <a:ext cx="171599" cy="137294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7"/>
          <p:cNvSpPr/>
          <p:nvPr/>
        </p:nvSpPr>
        <p:spPr>
          <a:xfrm>
            <a:off x="926827" y="3974455"/>
            <a:ext cx="2062683" cy="4374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Read </a:t>
            </a:r>
            <a:r>
              <a:rPr b="0" i="0" lang="en-US" sz="1050" u="none" cap="none" strike="noStrike">
                <a:solidFill>
                  <a:srgbClr val="000000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matrix[1][0]</a:t>
            </a:r>
            <a:r>
              <a:rPr b="0" i="0" lang="en-US" sz="10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as: "row 1, then column 0."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12" name="Google Shape;21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66579" y="1745159"/>
            <a:ext cx="5201469" cy="2281684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7"/>
          <p:cNvSpPr/>
          <p:nvPr/>
        </p:nvSpPr>
        <p:spPr>
          <a:xfrm>
            <a:off x="4510684" y="3480009"/>
            <a:ext cx="1354649" cy="1407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850"/>
              <a:buFont typeface="DM Sans Medium"/>
              <a:buNone/>
            </a:pPr>
            <a:r>
              <a:rPr b="0" i="0" lang="en-US" sz="8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Select row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7"/>
          <p:cNvSpPr/>
          <p:nvPr/>
        </p:nvSpPr>
        <p:spPr>
          <a:xfrm>
            <a:off x="4488398" y="3660802"/>
            <a:ext cx="1399222" cy="1108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matrix[1] → [3, 4]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7"/>
          <p:cNvSpPr/>
          <p:nvPr/>
        </p:nvSpPr>
        <p:spPr>
          <a:xfrm>
            <a:off x="6040859" y="1979940"/>
            <a:ext cx="1354649" cy="1407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850"/>
              <a:buFont typeface="DM Sans Medium"/>
              <a:buNone/>
            </a:pPr>
            <a:r>
              <a:rPr b="0" i="0" lang="en-US" sz="8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Select item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7"/>
          <p:cNvSpPr/>
          <p:nvPr/>
        </p:nvSpPr>
        <p:spPr>
          <a:xfrm>
            <a:off x="6018573" y="2160733"/>
            <a:ext cx="1399221" cy="1108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matrix[1][0] → 3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7" name="Google Shape;217;p27" title="Logo Black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77100" y="82378"/>
            <a:ext cx="1502228" cy="2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"/>
          <p:cNvSpPr/>
          <p:nvPr/>
        </p:nvSpPr>
        <p:spPr>
          <a:xfrm>
            <a:off x="496119" y="515689"/>
            <a:ext cx="5089401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750"/>
              <a:buFont typeface="DM Sans Medium"/>
              <a:buNone/>
            </a:pPr>
            <a:r>
              <a:rPr b="0" i="0" lang="en-US" sz="27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Storing Tabular Data in Lists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8"/>
          <p:cNvSpPr/>
          <p:nvPr/>
        </p:nvSpPr>
        <p:spPr>
          <a:xfrm>
            <a:off x="496119" y="1298823"/>
            <a:ext cx="3902943" cy="912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Nested lists can represent </a:t>
            </a:r>
            <a:r>
              <a:rPr b="1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rows and columns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— like a simple spreadsheet. Each inner list is one row of data (e.g. name, age, score). Use a nested </a:t>
            </a: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loop to process every cell.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8"/>
          <p:cNvSpPr/>
          <p:nvPr/>
        </p:nvSpPr>
        <p:spPr>
          <a:xfrm>
            <a:off x="496119" y="2370311"/>
            <a:ext cx="3902943" cy="2098030"/>
          </a:xfrm>
          <a:prstGeom prst="roundRect">
            <a:avLst>
              <a:gd fmla="val 1014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8"/>
          <p:cNvSpPr/>
          <p:nvPr/>
        </p:nvSpPr>
        <p:spPr>
          <a:xfrm>
            <a:off x="489049" y="2370311"/>
            <a:ext cx="3917082" cy="2098030"/>
          </a:xfrm>
          <a:prstGeom prst="roundRect">
            <a:avLst>
              <a:gd fmla="val 1014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8"/>
          <p:cNvSpPr/>
          <p:nvPr/>
        </p:nvSpPr>
        <p:spPr>
          <a:xfrm>
            <a:off x="666229" y="2512070"/>
            <a:ext cx="3562722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students = [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  ["Alice", 14, 92],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  ["Bob",   15, 85],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  ["Carol", 14, 78]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for student in students: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    print(student[0], student[2])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8"/>
          <p:cNvSpPr/>
          <p:nvPr/>
        </p:nvSpPr>
        <p:spPr>
          <a:xfrm>
            <a:off x="4749701" y="1330747"/>
            <a:ext cx="3902943" cy="1649611"/>
          </a:xfrm>
          <a:prstGeom prst="roundRect">
            <a:avLst>
              <a:gd fmla="val 1289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8"/>
          <p:cNvSpPr/>
          <p:nvPr/>
        </p:nvSpPr>
        <p:spPr>
          <a:xfrm>
            <a:off x="4896743" y="1425327"/>
            <a:ext cx="1468785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Name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8"/>
          <p:cNvSpPr/>
          <p:nvPr/>
        </p:nvSpPr>
        <p:spPr>
          <a:xfrm>
            <a:off x="6196608" y="1425327"/>
            <a:ext cx="1466404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Age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8"/>
          <p:cNvSpPr/>
          <p:nvPr/>
        </p:nvSpPr>
        <p:spPr>
          <a:xfrm>
            <a:off x="7494091" y="1425327"/>
            <a:ext cx="1468785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Score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8"/>
          <p:cNvSpPr/>
          <p:nvPr/>
        </p:nvSpPr>
        <p:spPr>
          <a:xfrm>
            <a:off x="4896743" y="1836539"/>
            <a:ext cx="1468785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Alice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8"/>
          <p:cNvSpPr/>
          <p:nvPr/>
        </p:nvSpPr>
        <p:spPr>
          <a:xfrm>
            <a:off x="6196608" y="1836539"/>
            <a:ext cx="1466404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8"/>
          <p:cNvSpPr/>
          <p:nvPr/>
        </p:nvSpPr>
        <p:spPr>
          <a:xfrm>
            <a:off x="7494091" y="1836539"/>
            <a:ext cx="1468785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92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8"/>
          <p:cNvSpPr/>
          <p:nvPr/>
        </p:nvSpPr>
        <p:spPr>
          <a:xfrm>
            <a:off x="4896743" y="2247751"/>
            <a:ext cx="1468785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Bob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8"/>
          <p:cNvSpPr/>
          <p:nvPr/>
        </p:nvSpPr>
        <p:spPr>
          <a:xfrm>
            <a:off x="6196608" y="2247751"/>
            <a:ext cx="1466404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15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8"/>
          <p:cNvSpPr/>
          <p:nvPr/>
        </p:nvSpPr>
        <p:spPr>
          <a:xfrm>
            <a:off x="7494091" y="2247751"/>
            <a:ext cx="1468785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85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8"/>
          <p:cNvSpPr/>
          <p:nvPr/>
        </p:nvSpPr>
        <p:spPr>
          <a:xfrm>
            <a:off x="4896743" y="2658963"/>
            <a:ext cx="1468785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Carol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8"/>
          <p:cNvSpPr/>
          <p:nvPr/>
        </p:nvSpPr>
        <p:spPr>
          <a:xfrm>
            <a:off x="6196608" y="2658963"/>
            <a:ext cx="1466404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8"/>
          <p:cNvSpPr/>
          <p:nvPr/>
        </p:nvSpPr>
        <p:spPr>
          <a:xfrm>
            <a:off x="7494091" y="2658963"/>
            <a:ext cx="1468785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78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8"/>
          <p:cNvSpPr/>
          <p:nvPr/>
        </p:nvSpPr>
        <p:spPr>
          <a:xfrm>
            <a:off x="4749701" y="3139827"/>
            <a:ext cx="3902943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Each row maps directly to an inner list — tidy, readable, and easy to iterate.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2" name="Google Shape;242;p28" title="Logo Blac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77100" y="82378"/>
            <a:ext cx="1502228" cy="2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48" name="Google Shape;24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9"/>
          <p:cNvSpPr/>
          <p:nvPr/>
        </p:nvSpPr>
        <p:spPr>
          <a:xfrm>
            <a:off x="3925119" y="741834"/>
            <a:ext cx="4033391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750"/>
              <a:buFont typeface="DM Sans Medium"/>
              <a:buNone/>
            </a:pPr>
            <a:r>
              <a:rPr b="0" i="0" lang="en-US" sz="27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Putting It All Together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9"/>
          <p:cNvSpPr/>
          <p:nvPr/>
        </p:nvSpPr>
        <p:spPr>
          <a:xfrm>
            <a:off x="3925119" y="1397422"/>
            <a:ext cx="283518" cy="177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DM Sans Light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DM Sans Light"/>
                <a:ea typeface="DM Sans Light"/>
                <a:cs typeface="DM Sans Light"/>
                <a:sym typeface="DM Sans Light"/>
              </a:rPr>
              <a:t>01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9"/>
          <p:cNvSpPr/>
          <p:nvPr/>
        </p:nvSpPr>
        <p:spPr>
          <a:xfrm>
            <a:off x="3925119" y="1619324"/>
            <a:ext cx="2290465" cy="19050"/>
          </a:xfrm>
          <a:prstGeom prst="rect">
            <a:avLst/>
          </a:prstGeom>
          <a:solidFill>
            <a:srgbClr val="2828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9"/>
          <p:cNvSpPr/>
          <p:nvPr/>
        </p:nvSpPr>
        <p:spPr>
          <a:xfrm>
            <a:off x="3925119" y="1728267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Sort &amp; Print Names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9"/>
          <p:cNvSpPr/>
          <p:nvPr/>
        </p:nvSpPr>
        <p:spPr>
          <a:xfrm>
            <a:off x="3925119" y="2034778"/>
            <a:ext cx="2290465" cy="9167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Build a list of student names → sort alphabetically with </a:t>
            </a: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sort()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→ print each with its index using </a:t>
            </a: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enumerate()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9"/>
          <p:cNvSpPr/>
          <p:nvPr/>
        </p:nvSpPr>
        <p:spPr>
          <a:xfrm>
            <a:off x="6357342" y="1397422"/>
            <a:ext cx="283518" cy="177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DM Sans Light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DM Sans Light"/>
                <a:ea typeface="DM Sans Light"/>
                <a:cs typeface="DM Sans Light"/>
                <a:sym typeface="DM Sans Light"/>
              </a:rPr>
              <a:t>02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9"/>
          <p:cNvSpPr/>
          <p:nvPr/>
        </p:nvSpPr>
        <p:spPr>
          <a:xfrm>
            <a:off x="6357342" y="1619324"/>
            <a:ext cx="2290539" cy="19050"/>
          </a:xfrm>
          <a:prstGeom prst="rect">
            <a:avLst/>
          </a:prstGeom>
          <a:solidFill>
            <a:srgbClr val="2828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9"/>
          <p:cNvSpPr/>
          <p:nvPr/>
        </p:nvSpPr>
        <p:spPr>
          <a:xfrm>
            <a:off x="6357342" y="1728267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Calculate Averages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9"/>
          <p:cNvSpPr/>
          <p:nvPr/>
        </p:nvSpPr>
        <p:spPr>
          <a:xfrm>
            <a:off x="6357342" y="2034778"/>
            <a:ext cx="2290539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Store quiz scores in a nested list → loop through each inner list → calculate the average score per student.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9"/>
          <p:cNvSpPr/>
          <p:nvPr/>
        </p:nvSpPr>
        <p:spPr>
          <a:xfrm>
            <a:off x="3925119" y="3199581"/>
            <a:ext cx="283518" cy="177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DM Sans Light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DM Sans Light"/>
                <a:ea typeface="DM Sans Light"/>
                <a:cs typeface="DM Sans Light"/>
                <a:sym typeface="DM Sans Light"/>
              </a:rPr>
              <a:t>03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9"/>
          <p:cNvSpPr/>
          <p:nvPr/>
        </p:nvSpPr>
        <p:spPr>
          <a:xfrm>
            <a:off x="3925119" y="3421484"/>
            <a:ext cx="4722763" cy="19050"/>
          </a:xfrm>
          <a:prstGeom prst="rect">
            <a:avLst/>
          </a:prstGeom>
          <a:solidFill>
            <a:srgbClr val="2828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9"/>
          <p:cNvSpPr/>
          <p:nvPr/>
        </p:nvSpPr>
        <p:spPr>
          <a:xfrm>
            <a:off x="3925119" y="3530426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Mix Tuples &amp; Lists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9"/>
          <p:cNvSpPr/>
          <p:nvPr/>
        </p:nvSpPr>
        <p:spPr>
          <a:xfrm>
            <a:off x="3925119" y="3836938"/>
            <a:ext cx="4722763" cy="458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Use a tuple for fixed config values like screen size </a:t>
            </a: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(800, 600)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alongside mutable lists for dynamic data.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2" name="Google Shape;262;p29" title="Logo 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77100" y="82378"/>
            <a:ext cx="1502228" cy="2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0"/>
          <p:cNvSpPr/>
          <p:nvPr/>
        </p:nvSpPr>
        <p:spPr>
          <a:xfrm>
            <a:off x="496119" y="524545"/>
            <a:ext cx="4001319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750"/>
              <a:buFont typeface="DM Sans Medium"/>
              <a:buNone/>
            </a:pPr>
            <a:r>
              <a:rPr b="0" i="0" lang="en-US" sz="27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Key Takeaways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30"/>
          <p:cNvSpPr/>
          <p:nvPr/>
        </p:nvSpPr>
        <p:spPr>
          <a:xfrm>
            <a:off x="496119" y="1251049"/>
            <a:ext cx="4004965" cy="1610692"/>
          </a:xfrm>
          <a:prstGeom prst="roundRect">
            <a:avLst>
              <a:gd fmla="val 1320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30"/>
          <p:cNvSpPr/>
          <p:nvPr/>
        </p:nvSpPr>
        <p:spPr>
          <a:xfrm>
            <a:off x="637877" y="1392808"/>
            <a:ext cx="425276" cy="425276"/>
          </a:xfrm>
          <a:prstGeom prst="roundRect">
            <a:avLst>
              <a:gd fmla="val 13436988" name="adj"/>
            </a:avLst>
          </a:prstGeom>
          <a:solidFill>
            <a:srgbClr val="2828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71" name="Google Shape;27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856" y="1509713"/>
            <a:ext cx="191319" cy="191319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0"/>
          <p:cNvSpPr/>
          <p:nvPr/>
        </p:nvSpPr>
        <p:spPr>
          <a:xfrm>
            <a:off x="637877" y="1959843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Lists Are Your Go-To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30"/>
          <p:cNvSpPr/>
          <p:nvPr/>
        </p:nvSpPr>
        <p:spPr>
          <a:xfrm>
            <a:off x="637877" y="2266355"/>
            <a:ext cx="3721447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Ordered, mutable, and flexible — use lists for any collection of data that needs to change.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30"/>
          <p:cNvSpPr/>
          <p:nvPr/>
        </p:nvSpPr>
        <p:spPr>
          <a:xfrm>
            <a:off x="4642842" y="1251049"/>
            <a:ext cx="4005039" cy="1610692"/>
          </a:xfrm>
          <a:prstGeom prst="roundRect">
            <a:avLst>
              <a:gd fmla="val 1320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30"/>
          <p:cNvSpPr/>
          <p:nvPr/>
        </p:nvSpPr>
        <p:spPr>
          <a:xfrm>
            <a:off x="4784601" y="1392808"/>
            <a:ext cx="425276" cy="425276"/>
          </a:xfrm>
          <a:prstGeom prst="roundRect">
            <a:avLst>
              <a:gd fmla="val 13436988" name="adj"/>
            </a:avLst>
          </a:prstGeom>
          <a:solidFill>
            <a:srgbClr val="2828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76" name="Google Shape;27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01580" y="1509713"/>
            <a:ext cx="191319" cy="191319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0"/>
          <p:cNvSpPr/>
          <p:nvPr/>
        </p:nvSpPr>
        <p:spPr>
          <a:xfrm>
            <a:off x="4784601" y="1959843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Tuples Stay Fixed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30"/>
          <p:cNvSpPr/>
          <p:nvPr/>
        </p:nvSpPr>
        <p:spPr>
          <a:xfrm>
            <a:off x="4784601" y="2266355"/>
            <a:ext cx="3721522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Immutable by design — use tuples for data that should never change, like coordinates or config values.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30"/>
          <p:cNvSpPr/>
          <p:nvPr/>
        </p:nvSpPr>
        <p:spPr>
          <a:xfrm>
            <a:off x="496119" y="3003500"/>
            <a:ext cx="4004965" cy="1615455"/>
          </a:xfrm>
          <a:prstGeom prst="roundRect">
            <a:avLst>
              <a:gd fmla="val 1316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30"/>
          <p:cNvSpPr/>
          <p:nvPr/>
        </p:nvSpPr>
        <p:spPr>
          <a:xfrm>
            <a:off x="637877" y="3145259"/>
            <a:ext cx="425276" cy="425276"/>
          </a:xfrm>
          <a:prstGeom prst="roundRect">
            <a:avLst>
              <a:gd fmla="val 13436988" name="adj"/>
            </a:avLst>
          </a:prstGeom>
          <a:solidFill>
            <a:srgbClr val="2828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81" name="Google Shape;281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4856" y="3262164"/>
            <a:ext cx="191319" cy="191319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0"/>
          <p:cNvSpPr/>
          <p:nvPr/>
        </p:nvSpPr>
        <p:spPr>
          <a:xfrm>
            <a:off x="637877" y="3712294"/>
            <a:ext cx="1882527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Nested Lists = 2D Data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30"/>
          <p:cNvSpPr/>
          <p:nvPr/>
        </p:nvSpPr>
        <p:spPr>
          <a:xfrm>
            <a:off x="637877" y="4018806"/>
            <a:ext cx="3721447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Lists inside lists unlock 2D structures. Always double-check your indexes when diving in.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30"/>
          <p:cNvSpPr/>
          <p:nvPr/>
        </p:nvSpPr>
        <p:spPr>
          <a:xfrm>
            <a:off x="4642842" y="3003500"/>
            <a:ext cx="4005039" cy="1615455"/>
          </a:xfrm>
          <a:prstGeom prst="roundRect">
            <a:avLst>
              <a:gd fmla="val 1316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30"/>
          <p:cNvSpPr/>
          <p:nvPr/>
        </p:nvSpPr>
        <p:spPr>
          <a:xfrm>
            <a:off x="4784601" y="3145259"/>
            <a:ext cx="425276" cy="425276"/>
          </a:xfrm>
          <a:prstGeom prst="roundRect">
            <a:avLst>
              <a:gd fmla="val 13436988" name="adj"/>
            </a:avLst>
          </a:prstGeom>
          <a:solidFill>
            <a:srgbClr val="2828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86" name="Google Shape;286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01580" y="3262164"/>
            <a:ext cx="191319" cy="191319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0"/>
          <p:cNvSpPr/>
          <p:nvPr/>
        </p:nvSpPr>
        <p:spPr>
          <a:xfrm>
            <a:off x="4784601" y="3712294"/>
            <a:ext cx="2129210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Master the Core Methods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30"/>
          <p:cNvSpPr/>
          <p:nvPr/>
        </p:nvSpPr>
        <p:spPr>
          <a:xfrm>
            <a:off x="4784601" y="4018806"/>
            <a:ext cx="3721522" cy="458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append()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remove()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pop()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sort()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, and </a:t>
            </a: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loops cover </a:t>
            </a:r>
            <a:r>
              <a:rPr b="1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90%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of real use cases.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9" name="Google Shape;289;p30" title="Logo Black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77100" y="82378"/>
            <a:ext cx="1502228" cy="2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