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DM Sans Medium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DM Sans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Light-bold.fntdata"/><Relationship Id="rId25" Type="http://schemas.openxmlformats.org/officeDocument/2006/relationships/font" Target="fonts/DMSansLight-regular.fntdata"/><Relationship Id="rId28" Type="http://schemas.openxmlformats.org/officeDocument/2006/relationships/font" Target="fonts/DMSansLight-boldItalic.fntdata"/><Relationship Id="rId27" Type="http://schemas.openxmlformats.org/officeDocument/2006/relationships/font" Target="fonts/DMSans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DMSansMedium-regular.fntdata"/><Relationship Id="rId16" Type="http://schemas.openxmlformats.org/officeDocument/2006/relationships/slide" Target="slides/slide12.xml"/><Relationship Id="rId19" Type="http://schemas.openxmlformats.org/officeDocument/2006/relationships/font" Target="fonts/DMSansMedium-italic.fntdata"/><Relationship Id="rId18" Type="http://schemas.openxmlformats.org/officeDocument/2006/relationships/font" Target="fonts/DM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5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Python Functions: Building Reusable Code</a:t>
            </a:r>
            <a:endParaRPr b="0" i="0" sz="2750" u="none" cap="none" strike="noStrike"/>
          </a:p>
        </p:txBody>
      </p:sp>
      <p:sp>
        <p:nvSpPr>
          <p:cNvPr id="42" name="Google Shape;42;p15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beginner's guide to writing clean, efficient, and reusable Python code.</a:t>
            </a:r>
            <a:endParaRPr b="0" i="0" sz="1100" u="none" cap="none" strike="noStrike"/>
          </a:p>
        </p:txBody>
      </p:sp>
      <p:pic>
        <p:nvPicPr>
          <p:cNvPr id="43" name="Google Shape;43;p15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817" y="86475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6"/>
          <p:cNvSpPr/>
          <p:nvPr/>
        </p:nvSpPr>
        <p:spPr>
          <a:xfrm>
            <a:off x="496119" y="1018654"/>
            <a:ext cx="415565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Why Functions Matter</a:t>
            </a:r>
            <a:endParaRPr b="0" i="0" sz="2750" u="none" cap="none" strike="noStrike"/>
          </a:p>
        </p:txBody>
      </p:sp>
      <p:sp>
        <p:nvSpPr>
          <p:cNvPr id="51" name="Google Shape;51;p16"/>
          <p:cNvSpPr/>
          <p:nvPr/>
        </p:nvSpPr>
        <p:spPr>
          <a:xfrm>
            <a:off x="496119" y="1674242"/>
            <a:ext cx="2290465" cy="1491928"/>
          </a:xfrm>
          <a:prstGeom prst="roundRect">
            <a:avLst>
              <a:gd fmla="val 1425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6"/>
          <p:cNvSpPr/>
          <p:nvPr/>
        </p:nvSpPr>
        <p:spPr>
          <a:xfrm>
            <a:off x="637877" y="1816001"/>
            <a:ext cx="200694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Write Once, Use Anywhere</a:t>
            </a:r>
            <a:endParaRPr b="0" i="0" sz="1350" u="none" cap="none" strike="noStrike"/>
          </a:p>
        </p:txBody>
      </p:sp>
      <p:sp>
        <p:nvSpPr>
          <p:cNvPr id="53" name="Google Shape;53;p16"/>
          <p:cNvSpPr/>
          <p:nvPr/>
        </p:nvSpPr>
        <p:spPr>
          <a:xfrm>
            <a:off x="637877" y="2343969"/>
            <a:ext cx="200694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Package logic once and call it as many times as needed — no repetition required.</a:t>
            </a:r>
            <a:endParaRPr b="0" i="0" sz="1100" u="none" cap="none" strike="noStrike"/>
          </a:p>
        </p:txBody>
      </p:sp>
      <p:sp>
        <p:nvSpPr>
          <p:cNvPr id="54" name="Google Shape;54;p16"/>
          <p:cNvSpPr/>
          <p:nvPr/>
        </p:nvSpPr>
        <p:spPr>
          <a:xfrm>
            <a:off x="2928342" y="1674242"/>
            <a:ext cx="2290539" cy="1491928"/>
          </a:xfrm>
          <a:prstGeom prst="roundRect">
            <a:avLst>
              <a:gd fmla="val 1425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6"/>
          <p:cNvSpPr/>
          <p:nvPr/>
        </p:nvSpPr>
        <p:spPr>
          <a:xfrm>
            <a:off x="3070101" y="181600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Cleaner Code</a:t>
            </a:r>
            <a:endParaRPr b="0" i="0" sz="1350" u="none" cap="none" strike="noStrike"/>
          </a:p>
        </p:txBody>
      </p:sp>
      <p:sp>
        <p:nvSpPr>
          <p:cNvPr id="56" name="Google Shape;56;p16"/>
          <p:cNvSpPr/>
          <p:nvPr/>
        </p:nvSpPr>
        <p:spPr>
          <a:xfrm>
            <a:off x="3070101" y="2122512"/>
            <a:ext cx="20070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Break big problems into small, named, testable pieces that are easier to understand.</a:t>
            </a:r>
            <a:endParaRPr b="0" i="0" sz="1100" u="none" cap="none" strike="noStrike"/>
          </a:p>
        </p:txBody>
      </p:sp>
      <p:sp>
        <p:nvSpPr>
          <p:cNvPr id="57" name="Google Shape;57;p16"/>
          <p:cNvSpPr/>
          <p:nvPr/>
        </p:nvSpPr>
        <p:spPr>
          <a:xfrm>
            <a:off x="496119" y="3307928"/>
            <a:ext cx="4722763" cy="816843"/>
          </a:xfrm>
          <a:prstGeom prst="roundRect">
            <a:avLst>
              <a:gd fmla="val 2603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6"/>
          <p:cNvSpPr/>
          <p:nvPr/>
        </p:nvSpPr>
        <p:spPr>
          <a:xfrm>
            <a:off x="637877" y="344968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Golden Rule</a:t>
            </a:r>
            <a:endParaRPr b="0" i="0" sz="1350" u="none" cap="none" strike="noStrike"/>
          </a:p>
        </p:txBody>
      </p:sp>
      <p:sp>
        <p:nvSpPr>
          <p:cNvPr id="59" name="Google Shape;59;p16"/>
          <p:cNvSpPr/>
          <p:nvPr/>
        </p:nvSpPr>
        <p:spPr>
          <a:xfrm>
            <a:off x="637877" y="3756199"/>
            <a:ext cx="443924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If you're copy-pasting code, it belongs in a function.</a:t>
            </a:r>
            <a:endParaRPr b="0" i="0" sz="1100" u="none" cap="none" strike="noStrike"/>
          </a:p>
        </p:txBody>
      </p:sp>
      <p:pic>
        <p:nvPicPr>
          <p:cNvPr id="60" name="Google Shape;60;p16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817" y="86475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57598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7"/>
          <p:cNvSpPr/>
          <p:nvPr/>
        </p:nvSpPr>
        <p:spPr>
          <a:xfrm>
            <a:off x="3474988" y="1121643"/>
            <a:ext cx="5107856" cy="4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Defining a Function with </a:t>
            </a:r>
            <a:r>
              <a:rPr b="0" i="0" lang="en-US" sz="2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endParaRPr b="0" i="0" sz="2750" u="none" cap="none" strike="noStrike"/>
          </a:p>
        </p:txBody>
      </p:sp>
      <p:sp>
        <p:nvSpPr>
          <p:cNvPr id="68" name="Google Shape;68;p17"/>
          <p:cNvSpPr/>
          <p:nvPr/>
        </p:nvSpPr>
        <p:spPr>
          <a:xfrm>
            <a:off x="3474988" y="1752674"/>
            <a:ext cx="5177582" cy="1417588"/>
          </a:xfrm>
          <a:prstGeom prst="roundRect">
            <a:avLst>
              <a:gd fmla="val 1500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3467919" y="1752674"/>
            <a:ext cx="5191720" cy="1417588"/>
          </a:xfrm>
          <a:prstGeom prst="roundRect">
            <a:avLst>
              <a:gd fmla="val 1500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/>
          <p:nvPr/>
        </p:nvSpPr>
        <p:spPr>
          <a:xfrm>
            <a:off x="3645098" y="1894433"/>
            <a:ext cx="4837361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greet(name):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print("Hello,", name)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greet("Alice")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Hello, Alice</a:t>
            </a:r>
            <a:endParaRPr b="0" i="0" sz="1100" u="none" cap="none" strike="noStrike"/>
          </a:p>
        </p:txBody>
      </p:sp>
      <p:sp>
        <p:nvSpPr>
          <p:cNvPr id="71" name="Google Shape;71;p17"/>
          <p:cNvSpPr/>
          <p:nvPr/>
        </p:nvSpPr>
        <p:spPr>
          <a:xfrm>
            <a:off x="3474988" y="3329732"/>
            <a:ext cx="5177582" cy="78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function_name(parameters):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the keyword, name, and signature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Body is indented; Python uses indentation (not braces) to define scope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function does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nothing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until it is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called</a:t>
            </a:r>
            <a:endParaRPr b="0" i="0" sz="1100" u="none" cap="none" strike="noStrike"/>
          </a:p>
        </p:txBody>
      </p:sp>
      <p:pic>
        <p:nvPicPr>
          <p:cNvPr id="72" name="Google Shape;72;p17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5842" y="134100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496119" y="515466"/>
            <a:ext cx="579990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Parameters: Positional &amp; Default</a:t>
            </a:r>
            <a:endParaRPr b="0" i="0" sz="2750" u="none" cap="none" strike="noStrike"/>
          </a:p>
        </p:txBody>
      </p:sp>
      <p:sp>
        <p:nvSpPr>
          <p:cNvPr id="79" name="Google Shape;79;p18"/>
          <p:cNvSpPr/>
          <p:nvPr/>
        </p:nvSpPr>
        <p:spPr>
          <a:xfrm>
            <a:off x="496119" y="1312813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Positional</a:t>
            </a:r>
            <a:endParaRPr b="0" i="0" sz="1350" u="none" cap="none" strike="noStrike"/>
          </a:p>
        </p:txBody>
      </p:sp>
      <p:sp>
        <p:nvSpPr>
          <p:cNvPr id="80" name="Google Shape;80;p18"/>
          <p:cNvSpPr/>
          <p:nvPr/>
        </p:nvSpPr>
        <p:spPr>
          <a:xfrm>
            <a:off x="496119" y="1676028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Arguments matched by order — position determines which value goes where.</a:t>
            </a:r>
            <a:endParaRPr b="0" i="0" sz="1100" u="none" cap="none" strike="noStrike"/>
          </a:p>
        </p:txBody>
      </p:sp>
      <p:sp>
        <p:nvSpPr>
          <p:cNvPr id="81" name="Google Shape;81;p18"/>
          <p:cNvSpPr/>
          <p:nvPr/>
        </p:nvSpPr>
        <p:spPr>
          <a:xfrm>
            <a:off x="496119" y="2289125"/>
            <a:ext cx="3902943" cy="1190774"/>
          </a:xfrm>
          <a:prstGeom prst="roundRect">
            <a:avLst>
              <a:gd fmla="val 178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8"/>
          <p:cNvSpPr/>
          <p:nvPr/>
        </p:nvSpPr>
        <p:spPr>
          <a:xfrm>
            <a:off x="489049" y="2289125"/>
            <a:ext cx="3917082" cy="1190774"/>
          </a:xfrm>
          <a:prstGeom prst="roundRect">
            <a:avLst>
              <a:gd fmla="val 178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/>
          <p:nvPr/>
        </p:nvSpPr>
        <p:spPr>
          <a:xfrm>
            <a:off x="666229" y="2430884"/>
            <a:ext cx="3562722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def greet(name, greeting):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print(greeting, name)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greet("Alice", "Hello")</a:t>
            </a:r>
            <a:endParaRPr b="0" i="0" sz="1100" u="none" cap="none" strike="noStrike"/>
          </a:p>
        </p:txBody>
      </p:sp>
      <p:sp>
        <p:nvSpPr>
          <p:cNvPr id="84" name="Google Shape;84;p18"/>
          <p:cNvSpPr/>
          <p:nvPr/>
        </p:nvSpPr>
        <p:spPr>
          <a:xfrm>
            <a:off x="4647605" y="1171054"/>
            <a:ext cx="4107135" cy="2695129"/>
          </a:xfrm>
          <a:prstGeom prst="roundRect">
            <a:avLst>
              <a:gd fmla="val 789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4789363" y="1312813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Default</a:t>
            </a:r>
            <a:endParaRPr b="0" i="0" sz="1350" u="none" cap="none" strike="noStrike"/>
          </a:p>
        </p:txBody>
      </p:sp>
      <p:sp>
        <p:nvSpPr>
          <p:cNvPr id="86" name="Google Shape;86;p18"/>
          <p:cNvSpPr/>
          <p:nvPr/>
        </p:nvSpPr>
        <p:spPr>
          <a:xfrm>
            <a:off x="4789363" y="1676028"/>
            <a:ext cx="3823618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Provide a fallback value when an argument is omitted at call time.</a:t>
            </a:r>
            <a:endParaRPr b="0" i="0" sz="1100" u="none" cap="none" strike="noStrike"/>
          </a:p>
        </p:txBody>
      </p:sp>
      <p:sp>
        <p:nvSpPr>
          <p:cNvPr id="87" name="Google Shape;87;p18"/>
          <p:cNvSpPr/>
          <p:nvPr/>
        </p:nvSpPr>
        <p:spPr>
          <a:xfrm>
            <a:off x="4789363" y="2289125"/>
            <a:ext cx="3823618" cy="1417588"/>
          </a:xfrm>
          <a:prstGeom prst="roundRect">
            <a:avLst>
              <a:gd fmla="val 1500" name="adj"/>
            </a:avLst>
          </a:prstGeom>
          <a:solidFill>
            <a:srgbClr val="353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4782294" y="2289125"/>
            <a:ext cx="3837756" cy="1417588"/>
          </a:xfrm>
          <a:prstGeom prst="roundRect">
            <a:avLst>
              <a:gd fmla="val 1500" name="adj"/>
            </a:avLst>
          </a:prstGeom>
          <a:solidFill>
            <a:srgbClr val="353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4959474" y="2430884"/>
            <a:ext cx="3483397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35353C"/>
                </a:highlight>
                <a:latin typeface="Consolas"/>
                <a:ea typeface="Consolas"/>
                <a:cs typeface="Consolas"/>
                <a:sym typeface="Consolas"/>
              </a:rPr>
              <a:t>def greet(name="World"):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35353C"/>
                </a:highlight>
                <a:latin typeface="Consolas"/>
                <a:ea typeface="Consolas"/>
                <a:cs typeface="Consolas"/>
                <a:sym typeface="Consolas"/>
              </a:rPr>
              <a:t>    print("Hello,", name)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35353C"/>
                </a:highlight>
                <a:latin typeface="Consolas"/>
                <a:ea typeface="Consolas"/>
                <a:cs typeface="Consolas"/>
                <a:sym typeface="Consolas"/>
              </a:rPr>
              <a:t>greet()       # Hello, World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35353C"/>
                </a:highlight>
                <a:latin typeface="Consolas"/>
                <a:ea typeface="Consolas"/>
                <a:cs typeface="Consolas"/>
                <a:sym typeface="Consolas"/>
              </a:rPr>
              <a:t>greet("Bob")  # Hello, Bob</a:t>
            </a:r>
            <a:endParaRPr b="0" i="0" sz="1100" u="none" cap="none" strike="noStrike"/>
          </a:p>
        </p:txBody>
      </p:sp>
      <p:sp>
        <p:nvSpPr>
          <p:cNvPr id="90" name="Google Shape;90;p18"/>
          <p:cNvSpPr/>
          <p:nvPr/>
        </p:nvSpPr>
        <p:spPr>
          <a:xfrm>
            <a:off x="496119" y="4025652"/>
            <a:ext cx="8151763" cy="602382"/>
          </a:xfrm>
          <a:prstGeom prst="roundRect">
            <a:avLst>
              <a:gd fmla="val 3530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4240709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>
            <a:off x="956816" y="4202832"/>
            <a:ext cx="800650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Default parameters must always come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after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positional ones in the function signature.</a:t>
            </a:r>
            <a:endParaRPr b="0" i="0" sz="1100" u="none" cap="none" strike="noStrike"/>
          </a:p>
        </p:txBody>
      </p:sp>
      <p:pic>
        <p:nvPicPr>
          <p:cNvPr id="93" name="Google Shape;93;p18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5842" y="134100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465162" y="779338"/>
            <a:ext cx="3779862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00"/>
              <a:buFont typeface="DM Sans Medium"/>
              <a:buNone/>
            </a:pPr>
            <a:r>
              <a:rPr b="0" i="0" lang="en-US" sz="26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Keyword Arguments</a:t>
            </a:r>
            <a:endParaRPr b="0" i="0" sz="2600" u="none" cap="none" strike="noStrike"/>
          </a:p>
        </p:txBody>
      </p:sp>
      <p:sp>
        <p:nvSpPr>
          <p:cNvPr id="100" name="Google Shape;100;p19"/>
          <p:cNvSpPr/>
          <p:nvPr/>
        </p:nvSpPr>
        <p:spPr>
          <a:xfrm>
            <a:off x="465162" y="1319213"/>
            <a:ext cx="5225430" cy="70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Pass arguments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by name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in any order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Makes function calls self-documenting and less error-prone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Mix positional and keyword — positional args must come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first</a:t>
            </a:r>
            <a:endParaRPr b="0" i="0" sz="1000" u="none" cap="none" strike="noStrike"/>
          </a:p>
        </p:txBody>
      </p:sp>
      <p:sp>
        <p:nvSpPr>
          <p:cNvPr id="101" name="Google Shape;101;p19"/>
          <p:cNvSpPr/>
          <p:nvPr/>
        </p:nvSpPr>
        <p:spPr>
          <a:xfrm>
            <a:off x="465162" y="2164482"/>
            <a:ext cx="5225430" cy="748233"/>
          </a:xfrm>
          <a:prstGeom prst="roundRect">
            <a:avLst>
              <a:gd fmla="val 2664" name="adj"/>
            </a:avLst>
          </a:prstGeom>
          <a:solidFill>
            <a:srgbClr val="D6D6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66" y="2361902"/>
            <a:ext cx="166092" cy="132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897062" y="2322240"/>
            <a:ext cx="4660627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Keyword args make code readable at a glance — no more guessing what each argument means.</a:t>
            </a:r>
            <a:endParaRPr b="0" i="0" sz="1000" u="none" cap="none" strike="noStrike"/>
          </a:p>
        </p:txBody>
      </p:sp>
      <p:pic>
        <p:nvPicPr>
          <p:cNvPr descr="preencoded.png" id="104" name="Google Shape;1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502" y="521791"/>
            <a:ext cx="2664023" cy="266402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465162" y="3466058"/>
            <a:ext cx="8213675" cy="1295698"/>
          </a:xfrm>
          <a:prstGeom prst="roundRect">
            <a:avLst>
              <a:gd fmla="val 153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458539" y="3466058"/>
            <a:ext cx="8226921" cy="1295698"/>
          </a:xfrm>
          <a:prstGeom prst="roundRect">
            <a:avLst>
              <a:gd fmla="val 153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624632" y="3598962"/>
            <a:ext cx="7894737" cy="102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connect(host, port, timeout=30):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print(f"Connecting to {host}:{port}")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connect(host="localhost", port=8080)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connect("localhost", port=8080, timeout=60)</a:t>
            </a:r>
            <a:endParaRPr b="0" i="0" sz="1000" u="none" cap="none" strike="noStrike"/>
          </a:p>
        </p:txBody>
      </p:sp>
      <p:pic>
        <p:nvPicPr>
          <p:cNvPr id="108" name="Google Shape;108;p19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817" y="86475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496119" y="411435"/>
            <a:ext cx="4001319" cy="4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Consolas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*args</a:t>
            </a: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and </a:t>
            </a:r>
            <a:r>
              <a:rPr b="0" i="0" lang="en-US" sz="2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**kwargs</a:t>
            </a:r>
            <a:endParaRPr b="0" i="0" sz="2750" u="none" cap="none" strike="noStrike"/>
          </a:p>
        </p:txBody>
      </p:sp>
      <p:pic>
        <p:nvPicPr>
          <p:cNvPr descr="preencoded.png"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69" y="1166515"/>
            <a:ext cx="2641774" cy="356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/>
          <p:nvPr/>
        </p:nvSpPr>
        <p:spPr>
          <a:xfrm>
            <a:off x="714077" y="1327324"/>
            <a:ext cx="2243956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*args — Extra Positional Arguments</a:t>
            </a:r>
            <a:endParaRPr b="0" i="0" sz="1350" u="none" cap="none" strike="noStrike"/>
          </a:p>
        </p:txBody>
      </p:sp>
      <p:sp>
        <p:nvSpPr>
          <p:cNvPr id="117" name="Google Shape;117;p20"/>
          <p:cNvSpPr/>
          <p:nvPr/>
        </p:nvSpPr>
        <p:spPr>
          <a:xfrm>
            <a:off x="714077" y="1855291"/>
            <a:ext cx="2243956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Collects any number of positional arguments into a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tuple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Useful when the count is unknown at definition time.</a:t>
            </a:r>
            <a:endParaRPr b="0" i="0" sz="1100" u="none" cap="none" strike="noStrike"/>
          </a:p>
        </p:txBody>
      </p:sp>
      <p:sp>
        <p:nvSpPr>
          <p:cNvPr id="118" name="Google Shape;118;p20"/>
          <p:cNvSpPr/>
          <p:nvPr/>
        </p:nvSpPr>
        <p:spPr>
          <a:xfrm>
            <a:off x="714077" y="2926779"/>
            <a:ext cx="2243956" cy="1190774"/>
          </a:xfrm>
          <a:prstGeom prst="roundRect">
            <a:avLst>
              <a:gd fmla="val 178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707008" y="2926779"/>
            <a:ext cx="2258095" cy="1190774"/>
          </a:xfrm>
          <a:prstGeom prst="roundRect">
            <a:avLst>
              <a:gd fmla="val 178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884188" y="3068538"/>
            <a:ext cx="190373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total(*args):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return sum(args)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total(1, 2, 3, 4)  # 10</a:t>
            </a:r>
            <a:endParaRPr b="0" i="0" sz="1100" u="none" cap="none" strike="noStrike"/>
          </a:p>
        </p:txBody>
      </p:sp>
      <p:pic>
        <p:nvPicPr>
          <p:cNvPr descr="preencoded.png" id="121" name="Google Shape;1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1551" y="1166515"/>
            <a:ext cx="2641774" cy="356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3478560" y="1327324"/>
            <a:ext cx="2243956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**kwargs — Extra Keyword Arguments</a:t>
            </a:r>
            <a:endParaRPr b="0" i="0" sz="1350" u="none" cap="none" strike="noStrike"/>
          </a:p>
        </p:txBody>
      </p:sp>
      <p:sp>
        <p:nvSpPr>
          <p:cNvPr id="123" name="Google Shape;123;p20"/>
          <p:cNvSpPr/>
          <p:nvPr/>
        </p:nvSpPr>
        <p:spPr>
          <a:xfrm>
            <a:off x="3478560" y="1855291"/>
            <a:ext cx="2243956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Collects any number of keyword arguments into a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dict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Great for flexible configuration or API wrappers.</a:t>
            </a:r>
            <a:endParaRPr b="0" i="0" sz="1100" u="none" cap="none" strike="noStrike"/>
          </a:p>
        </p:txBody>
      </p:sp>
      <p:sp>
        <p:nvSpPr>
          <p:cNvPr id="124" name="Google Shape;124;p20"/>
          <p:cNvSpPr/>
          <p:nvPr/>
        </p:nvSpPr>
        <p:spPr>
          <a:xfrm>
            <a:off x="3478560" y="2926779"/>
            <a:ext cx="2243956" cy="1644402"/>
          </a:xfrm>
          <a:prstGeom prst="roundRect">
            <a:avLst>
              <a:gd fmla="val 129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3471490" y="2926779"/>
            <a:ext cx="2258095" cy="1644402"/>
          </a:xfrm>
          <a:prstGeom prst="roundRect">
            <a:avLst>
              <a:gd fmla="val 129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3648670" y="3068538"/>
            <a:ext cx="1903735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log(**kwargs):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for k, v in kwargs.items():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print(f"{k}: {v}")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log(user="Alice", level="INFO")</a:t>
            </a:r>
            <a:endParaRPr b="0" i="0" sz="1100" u="none" cap="none" strike="noStrike"/>
          </a:p>
        </p:txBody>
      </p:sp>
      <p:pic>
        <p:nvPicPr>
          <p:cNvPr descr="preencoded.png" id="127" name="Google Shape;1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6033" y="1166515"/>
            <a:ext cx="2641774" cy="356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6243042" y="132732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Combined Pattern</a:t>
            </a:r>
            <a:endParaRPr b="0" i="0" sz="1350" u="none" cap="none" strike="noStrike"/>
          </a:p>
        </p:txBody>
      </p:sp>
      <p:sp>
        <p:nvSpPr>
          <p:cNvPr id="129" name="Google Shape;129;p20"/>
          <p:cNvSpPr/>
          <p:nvPr/>
        </p:nvSpPr>
        <p:spPr>
          <a:xfrm>
            <a:off x="6243042" y="1633835"/>
            <a:ext cx="2243956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both together for maximum flexibility — a common pattern in logging utilities and decorators.</a:t>
            </a:r>
            <a:endParaRPr b="0" i="0" sz="1100" u="none" cap="none" strike="noStrike"/>
          </a:p>
        </p:txBody>
      </p:sp>
      <p:sp>
        <p:nvSpPr>
          <p:cNvPr id="130" name="Google Shape;130;p20"/>
          <p:cNvSpPr/>
          <p:nvPr/>
        </p:nvSpPr>
        <p:spPr>
          <a:xfrm>
            <a:off x="6243042" y="2473747"/>
            <a:ext cx="2243956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6235973" y="2473747"/>
            <a:ext cx="2258095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6413153" y="2615505"/>
            <a:ext cx="190373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flexible(*args, **kwargs):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print(args, kwargs)</a:t>
            </a:r>
            <a:endParaRPr b="0" i="0" sz="1100" u="none" cap="none" strike="noStrike"/>
          </a:p>
        </p:txBody>
      </p:sp>
      <p:pic>
        <p:nvPicPr>
          <p:cNvPr id="133" name="Google Shape;133;p20" title="Logo Bl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5842" y="134100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9" name="Google Shape;1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57598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/>
          <p:nvPr/>
        </p:nvSpPr>
        <p:spPr>
          <a:xfrm>
            <a:off x="3474988" y="974006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Return Values</a:t>
            </a:r>
            <a:endParaRPr b="0" i="0" sz="2750" u="none" cap="none" strike="noStrike"/>
          </a:p>
        </p:txBody>
      </p:sp>
      <p:sp>
        <p:nvSpPr>
          <p:cNvPr id="141" name="Google Shape;141;p21"/>
          <p:cNvSpPr/>
          <p:nvPr/>
        </p:nvSpPr>
        <p:spPr>
          <a:xfrm>
            <a:off x="3474988" y="1558751"/>
            <a:ext cx="5177582" cy="7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sends a value back to the caller; without it, Python returns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function can return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multiple values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as a tuple —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return x, y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Early returns are valid — use them to handle edge cases cleanly</a:t>
            </a:r>
            <a:endParaRPr b="0" i="0" sz="1100" u="none" cap="none" strike="noStrike"/>
          </a:p>
        </p:txBody>
      </p:sp>
      <p:sp>
        <p:nvSpPr>
          <p:cNvPr id="142" name="Google Shape;142;p21"/>
          <p:cNvSpPr/>
          <p:nvPr/>
        </p:nvSpPr>
        <p:spPr>
          <a:xfrm>
            <a:off x="3474988" y="2507307"/>
            <a:ext cx="5177582" cy="1644402"/>
          </a:xfrm>
          <a:prstGeom prst="roundRect">
            <a:avLst>
              <a:gd fmla="val 129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3467919" y="2507307"/>
            <a:ext cx="5191720" cy="1644402"/>
          </a:xfrm>
          <a:prstGeom prst="roundRect">
            <a:avLst>
              <a:gd fmla="val 129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3645098" y="2649066"/>
            <a:ext cx="4837361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def divide(a, b):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if b == 0: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return None # early return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return a / b, a % b # tuple return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result, remainder = divide(10, 3)</a:t>
            </a:r>
            <a:endParaRPr b="0" i="0" sz="1100" u="none" cap="none" strike="noStrike"/>
          </a:p>
        </p:txBody>
      </p:sp>
      <p:pic>
        <p:nvPicPr>
          <p:cNvPr id="145" name="Google Shape;145;p21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5842" y="134100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/>
          <p:nvPr/>
        </p:nvSpPr>
        <p:spPr>
          <a:xfrm>
            <a:off x="449610" y="367978"/>
            <a:ext cx="3834631" cy="4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00"/>
              <a:buFont typeface="DM Sans Medium"/>
              <a:buNone/>
            </a:pPr>
            <a:r>
              <a:rPr b="0" i="0" lang="en-US" sz="25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Scope: Local vs Global</a:t>
            </a:r>
            <a:endParaRPr b="0" i="0" sz="2500" u="none" cap="none" strike="noStrike"/>
          </a:p>
        </p:txBody>
      </p:sp>
      <p:pic>
        <p:nvPicPr>
          <p:cNvPr descr="preencoded.png"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610" y="1297781"/>
            <a:ext cx="5249391" cy="2627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473263" y="2427216"/>
            <a:ext cx="985879" cy="2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Writable with global</a:t>
            </a:r>
            <a:endParaRPr b="0" i="0" sz="900" u="none" cap="none" strike="noStrike"/>
          </a:p>
        </p:txBody>
      </p:sp>
      <p:sp>
        <p:nvSpPr>
          <p:cNvPr id="154" name="Google Shape;154;p22"/>
          <p:cNvSpPr/>
          <p:nvPr/>
        </p:nvSpPr>
        <p:spPr>
          <a:xfrm>
            <a:off x="2256898" y="3701353"/>
            <a:ext cx="1408509" cy="147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Low Encapsulation</a:t>
            </a:r>
            <a:endParaRPr b="0" i="0" sz="900" u="none" cap="none" strike="noStrike"/>
          </a:p>
        </p:txBody>
      </p:sp>
      <p:sp>
        <p:nvSpPr>
          <p:cNvPr id="155" name="Google Shape;155;p22"/>
          <p:cNvSpPr/>
          <p:nvPr/>
        </p:nvSpPr>
        <p:spPr>
          <a:xfrm>
            <a:off x="4684225" y="2427216"/>
            <a:ext cx="985879" cy="2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Not Writable Locally</a:t>
            </a:r>
            <a:endParaRPr b="0" i="0" sz="900" u="none" cap="none" strike="noStrike"/>
          </a:p>
        </p:txBody>
      </p:sp>
      <p:sp>
        <p:nvSpPr>
          <p:cNvPr id="156" name="Google Shape;156;p22"/>
          <p:cNvSpPr/>
          <p:nvPr/>
        </p:nvSpPr>
        <p:spPr>
          <a:xfrm>
            <a:off x="2253948" y="1405612"/>
            <a:ext cx="1408509" cy="147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Medium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High Encapsulation</a:t>
            </a:r>
            <a:endParaRPr b="0" i="0" sz="900" u="none" cap="none" strike="noStrike"/>
          </a:p>
        </p:txBody>
      </p:sp>
      <p:sp>
        <p:nvSpPr>
          <p:cNvPr id="157" name="Google Shape;157;p22"/>
          <p:cNvSpPr/>
          <p:nvPr/>
        </p:nvSpPr>
        <p:spPr>
          <a:xfrm>
            <a:off x="1920617" y="3123034"/>
            <a:ext cx="1012099" cy="22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Global: Module-wide variables</a:t>
            </a:r>
            <a:endParaRPr b="0" i="0" sz="700" u="none" cap="none" strike="noStrike"/>
          </a:p>
        </p:txBody>
      </p:sp>
      <p:sp>
        <p:nvSpPr>
          <p:cNvPr id="158" name="Google Shape;158;p22"/>
          <p:cNvSpPr/>
          <p:nvPr/>
        </p:nvSpPr>
        <p:spPr>
          <a:xfrm>
            <a:off x="3310287" y="3128278"/>
            <a:ext cx="1012099" cy="22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Global Readable Inside Functions</a:t>
            </a:r>
            <a:endParaRPr b="0" i="0" sz="700" u="none" cap="none" strike="noStrike"/>
          </a:p>
        </p:txBody>
      </p:sp>
      <p:sp>
        <p:nvSpPr>
          <p:cNvPr id="159" name="Google Shape;159;p22"/>
          <p:cNvSpPr/>
          <p:nvPr/>
        </p:nvSpPr>
        <p:spPr>
          <a:xfrm>
            <a:off x="3310287" y="2158131"/>
            <a:ext cx="1012099" cy="22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Local Readable Internally</a:t>
            </a:r>
            <a:endParaRPr b="0" i="0" sz="700" u="none" cap="none" strike="noStrike"/>
          </a:p>
        </p:txBody>
      </p:sp>
      <p:sp>
        <p:nvSpPr>
          <p:cNvPr id="160" name="Google Shape;160;p22"/>
          <p:cNvSpPr/>
          <p:nvPr/>
        </p:nvSpPr>
        <p:spPr>
          <a:xfrm>
            <a:off x="1889153" y="2158131"/>
            <a:ext cx="1012099" cy="22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Local: Function-only variables</a:t>
            </a:r>
            <a:endParaRPr b="0" i="0" sz="700" u="none" cap="none" strike="noStrike"/>
          </a:p>
        </p:txBody>
      </p:sp>
      <p:sp>
        <p:nvSpPr>
          <p:cNvPr id="161" name="Google Shape;161;p22"/>
          <p:cNvSpPr/>
          <p:nvPr/>
        </p:nvSpPr>
        <p:spPr>
          <a:xfrm>
            <a:off x="449610" y="4056013"/>
            <a:ext cx="5249391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Think of scope as a one-way mirror — functions can see the outside world, but changes inside stay inside.</a:t>
            </a:r>
            <a:endParaRPr b="0" i="0" sz="1000" u="none" cap="none" strike="noStrike"/>
          </a:p>
        </p:txBody>
      </p:sp>
      <p:sp>
        <p:nvSpPr>
          <p:cNvPr id="162" name="Google Shape;162;p22"/>
          <p:cNvSpPr/>
          <p:nvPr/>
        </p:nvSpPr>
        <p:spPr>
          <a:xfrm>
            <a:off x="6017196" y="1060400"/>
            <a:ext cx="2063130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 Practice</a:t>
            </a:r>
            <a:endParaRPr b="0" i="0" sz="1250" u="none" cap="none" strike="noStrike"/>
          </a:p>
        </p:txBody>
      </p:sp>
      <p:sp>
        <p:nvSpPr>
          <p:cNvPr id="163" name="Google Shape;163;p22"/>
          <p:cNvSpPr/>
          <p:nvPr/>
        </p:nvSpPr>
        <p:spPr>
          <a:xfrm>
            <a:off x="6017196" y="1392064"/>
            <a:ext cx="2681883" cy="2020267"/>
          </a:xfrm>
          <a:prstGeom prst="roundRect">
            <a:avLst>
              <a:gd fmla="val 95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6010796" y="1392064"/>
            <a:ext cx="2694682" cy="2020267"/>
          </a:xfrm>
          <a:prstGeom prst="roundRect">
            <a:avLst>
              <a:gd fmla="val 95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6171381" y="1520503"/>
            <a:ext cx="2373511" cy="1763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total = 100  # global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def add(x):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result = x + 10  # local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return result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def bad_update():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global total</a:t>
            </a:r>
            <a:endParaRPr b="0" i="0" sz="1000" u="none" cap="none" strike="noStrike"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total += 1  # works but avoid this!</a:t>
            </a:r>
            <a:endParaRPr b="0" i="0" sz="1000" u="none" cap="none" strike="noStrike"/>
          </a:p>
        </p:txBody>
      </p:sp>
      <p:sp>
        <p:nvSpPr>
          <p:cNvPr id="166" name="Google Shape;166;p22"/>
          <p:cNvSpPr/>
          <p:nvPr/>
        </p:nvSpPr>
        <p:spPr>
          <a:xfrm>
            <a:off x="6017196" y="3543300"/>
            <a:ext cx="2681883" cy="1101179"/>
          </a:xfrm>
          <a:prstGeom prst="roundRect">
            <a:avLst>
              <a:gd fmla="val 175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5634" y="3734246"/>
            <a:ext cx="160586" cy="12843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6434658" y="3691756"/>
            <a:ext cx="2135981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Best practice: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Avoid relying on globals — pass values as parameters and return results instead.</a:t>
            </a:r>
            <a:endParaRPr b="0" i="0" sz="1000" u="none" cap="none" strike="noStrike"/>
          </a:p>
        </p:txBody>
      </p:sp>
      <p:pic>
        <p:nvPicPr>
          <p:cNvPr id="169" name="Google Shape;169;p22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5842" y="134100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/>
          <p:nvPr/>
        </p:nvSpPr>
        <p:spPr>
          <a:xfrm>
            <a:off x="3832101" y="447824"/>
            <a:ext cx="4908798" cy="7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50"/>
              <a:buFont typeface="DM Sans Medium"/>
              <a:buNone/>
            </a:pPr>
            <a:r>
              <a:rPr b="0" i="0" lang="en-US" sz="2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Docstrings: Document Your Functions</a:t>
            </a:r>
            <a:endParaRPr b="0" i="0" sz="2250" u="none" cap="none" strike="noStrike"/>
          </a:p>
        </p:txBody>
      </p:sp>
      <p:sp>
        <p:nvSpPr>
          <p:cNvPr id="177" name="Google Shape;177;p23"/>
          <p:cNvSpPr/>
          <p:nvPr/>
        </p:nvSpPr>
        <p:spPr>
          <a:xfrm>
            <a:off x="3832101" y="1401589"/>
            <a:ext cx="1896963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What is a Docstring?</a:t>
            </a:r>
            <a:endParaRPr b="0" i="0" sz="1100" u="none" cap="none" strike="noStrike"/>
          </a:p>
        </p:txBody>
      </p:sp>
      <p:sp>
        <p:nvSpPr>
          <p:cNvPr id="178" name="Google Shape;178;p23"/>
          <p:cNvSpPr/>
          <p:nvPr/>
        </p:nvSpPr>
        <p:spPr>
          <a:xfrm>
            <a:off x="3832101" y="1675061"/>
            <a:ext cx="2313905" cy="51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string literal on the </a:t>
            </a:r>
            <a:r>
              <a:rPr b="1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first line</a:t>
            </a: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of a function body. Accessible via </a:t>
            </a:r>
            <a:r>
              <a:rPr b="0" i="0" lang="en-US" sz="9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help()</a:t>
            </a: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9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function.__doc__</a:t>
            </a: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00" u="none" cap="none" strike="noStrike"/>
          </a:p>
        </p:txBody>
      </p:sp>
      <p:sp>
        <p:nvSpPr>
          <p:cNvPr id="179" name="Google Shape;179;p23"/>
          <p:cNvSpPr/>
          <p:nvPr/>
        </p:nvSpPr>
        <p:spPr>
          <a:xfrm>
            <a:off x="3832101" y="2290763"/>
            <a:ext cx="2313905" cy="2234059"/>
          </a:xfrm>
          <a:prstGeom prst="roundRect">
            <a:avLst>
              <a:gd fmla="val 77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3826371" y="2290763"/>
            <a:ext cx="2325365" cy="2234059"/>
          </a:xfrm>
          <a:prstGeom prst="roundRect">
            <a:avLst>
              <a:gd fmla="val 77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3970288" y="2405881"/>
            <a:ext cx="2037531" cy="2003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calculate_tax(amount, rate=0.2):</a:t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Calculates tax for a given amount.</a:t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</a:pPr>
            <a:r>
              <a:t/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amount (float): The base amount.</a:t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rate (float): Tax rate (default 0.2).</a:t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</a:pPr>
            <a:r>
              <a:t/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Returns:</a:t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float: The tax owed.</a:t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b="0" i="0" sz="90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return amount * rate</a:t>
            </a:r>
            <a:endParaRPr b="0" i="0" sz="900" u="none" cap="none" strike="noStrike"/>
          </a:p>
        </p:txBody>
      </p:sp>
      <p:sp>
        <p:nvSpPr>
          <p:cNvPr id="182" name="Google Shape;182;p23"/>
          <p:cNvSpPr/>
          <p:nvPr/>
        </p:nvSpPr>
        <p:spPr>
          <a:xfrm>
            <a:off x="6431756" y="1401589"/>
            <a:ext cx="2406848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 Good Docstring Describes:</a:t>
            </a:r>
            <a:endParaRPr b="0" i="0" sz="1100" u="none" cap="none" strike="noStrike"/>
          </a:p>
        </p:txBody>
      </p:sp>
      <p:sp>
        <p:nvSpPr>
          <p:cNvPr id="183" name="Google Shape;183;p23"/>
          <p:cNvSpPr/>
          <p:nvPr/>
        </p:nvSpPr>
        <p:spPr>
          <a:xfrm>
            <a:off x="6431756" y="1686744"/>
            <a:ext cx="230312" cy="143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Light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01</a:t>
            </a:r>
            <a:endParaRPr b="0" i="0" sz="900" u="none" cap="none" strike="noStrike"/>
          </a:p>
        </p:txBody>
      </p:sp>
      <p:sp>
        <p:nvSpPr>
          <p:cNvPr id="184" name="Google Shape;184;p23"/>
          <p:cNvSpPr/>
          <p:nvPr/>
        </p:nvSpPr>
        <p:spPr>
          <a:xfrm>
            <a:off x="6431756" y="1868091"/>
            <a:ext cx="2313905" cy="14288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>
            <a:off x="6431756" y="1954188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What it does</a:t>
            </a:r>
            <a:endParaRPr b="0" i="0" sz="1100" u="none" cap="none" strike="noStrike"/>
          </a:p>
        </p:txBody>
      </p:sp>
      <p:sp>
        <p:nvSpPr>
          <p:cNvPr id="186" name="Google Shape;186;p23"/>
          <p:cNvSpPr/>
          <p:nvPr/>
        </p:nvSpPr>
        <p:spPr>
          <a:xfrm>
            <a:off x="6431756" y="2227659"/>
            <a:ext cx="2313905" cy="333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one-line summary of the function's purpose.</a:t>
            </a:r>
            <a:endParaRPr b="0" i="0" sz="900" u="none" cap="none" strike="noStrike"/>
          </a:p>
        </p:txBody>
      </p:sp>
      <p:sp>
        <p:nvSpPr>
          <p:cNvPr id="187" name="Google Shape;187;p23"/>
          <p:cNvSpPr/>
          <p:nvPr/>
        </p:nvSpPr>
        <p:spPr>
          <a:xfrm>
            <a:off x="6431756" y="2741488"/>
            <a:ext cx="230312" cy="143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Light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02</a:t>
            </a:r>
            <a:endParaRPr b="0" i="0" sz="900" u="none" cap="none" strike="noStrike"/>
          </a:p>
        </p:txBody>
      </p:sp>
      <p:sp>
        <p:nvSpPr>
          <p:cNvPr id="188" name="Google Shape;188;p23"/>
          <p:cNvSpPr/>
          <p:nvPr/>
        </p:nvSpPr>
        <p:spPr>
          <a:xfrm>
            <a:off x="6431756" y="2922836"/>
            <a:ext cx="2313905" cy="14288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6431756" y="3008933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Parameters</a:t>
            </a:r>
            <a:endParaRPr b="0" i="0" sz="1100" u="none" cap="none" strike="noStrike"/>
          </a:p>
        </p:txBody>
      </p:sp>
      <p:sp>
        <p:nvSpPr>
          <p:cNvPr id="190" name="Google Shape;190;p23"/>
          <p:cNvSpPr/>
          <p:nvPr/>
        </p:nvSpPr>
        <p:spPr>
          <a:xfrm>
            <a:off x="6431756" y="3282404"/>
            <a:ext cx="2313905" cy="333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Name, type, and meaning of each argument.</a:t>
            </a:r>
            <a:endParaRPr b="0" i="0" sz="900" u="none" cap="none" strike="noStrike"/>
          </a:p>
        </p:txBody>
      </p:sp>
      <p:sp>
        <p:nvSpPr>
          <p:cNvPr id="191" name="Google Shape;191;p23"/>
          <p:cNvSpPr/>
          <p:nvPr/>
        </p:nvSpPr>
        <p:spPr>
          <a:xfrm>
            <a:off x="6431756" y="3796233"/>
            <a:ext cx="230312" cy="143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DM Sans Light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03</a:t>
            </a:r>
            <a:endParaRPr b="0" i="0" sz="900" u="none" cap="none" strike="noStrike"/>
          </a:p>
        </p:txBody>
      </p:sp>
      <p:sp>
        <p:nvSpPr>
          <p:cNvPr id="192" name="Google Shape;192;p23"/>
          <p:cNvSpPr/>
          <p:nvPr/>
        </p:nvSpPr>
        <p:spPr>
          <a:xfrm>
            <a:off x="6431756" y="3977580"/>
            <a:ext cx="2313905" cy="14288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6431756" y="4063678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Return value</a:t>
            </a:r>
            <a:endParaRPr b="0" i="0" sz="1100" u="none" cap="none" strike="noStrike"/>
          </a:p>
        </p:txBody>
      </p:sp>
      <p:sp>
        <p:nvSpPr>
          <p:cNvPr id="194" name="Google Shape;194;p23"/>
          <p:cNvSpPr/>
          <p:nvPr/>
        </p:nvSpPr>
        <p:spPr>
          <a:xfrm>
            <a:off x="6431756" y="4337149"/>
            <a:ext cx="2313905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What the function returns and its type.</a:t>
            </a:r>
            <a:endParaRPr b="0" i="0" sz="900" u="none" cap="none" strike="noStrike"/>
          </a:p>
        </p:txBody>
      </p:sp>
      <p:pic>
        <p:nvPicPr>
          <p:cNvPr id="195" name="Google Shape;195;p23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5842" y="134100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/>
          <p:nvPr/>
        </p:nvSpPr>
        <p:spPr>
          <a:xfrm>
            <a:off x="472901" y="521196"/>
            <a:ext cx="3835226" cy="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50"/>
              <a:buFont typeface="DM Sans Medium"/>
              <a:buNone/>
            </a:pPr>
            <a:r>
              <a:rPr b="0" i="0" lang="en-US" sz="2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Nested Functions</a:t>
            </a:r>
            <a:endParaRPr b="0" i="0" sz="2650" u="none" cap="none" strike="noStrike"/>
          </a:p>
        </p:txBody>
      </p:sp>
      <p:sp>
        <p:nvSpPr>
          <p:cNvPr id="202" name="Google Shape;202;p24"/>
          <p:cNvSpPr/>
          <p:nvPr/>
        </p:nvSpPr>
        <p:spPr>
          <a:xfrm>
            <a:off x="472901" y="1072232"/>
            <a:ext cx="5213449" cy="934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function defined </a:t>
            </a:r>
            <a:r>
              <a:rPr b="0" i="1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inside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another function — only visible within the outer scope</a:t>
            </a:r>
            <a:endParaRPr b="0" i="0" sz="1050" u="none" cap="none" strike="noStrike"/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Inner functions can access the outer function's variables (</a:t>
            </a:r>
            <a:r>
              <a:rPr b="1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closure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050" u="none" cap="none" strike="noStrike"/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Useful for helper logic you don't want to expose globally</a:t>
            </a:r>
            <a:endParaRPr b="0" i="0" sz="1050" u="none" cap="none" strike="noStrike"/>
          </a:p>
        </p:txBody>
      </p:sp>
      <p:sp>
        <p:nvSpPr>
          <p:cNvPr id="203" name="Google Shape;203;p24"/>
          <p:cNvSpPr/>
          <p:nvPr/>
        </p:nvSpPr>
        <p:spPr>
          <a:xfrm>
            <a:off x="472901" y="2151608"/>
            <a:ext cx="5213449" cy="1747912"/>
          </a:xfrm>
          <a:prstGeom prst="roundRect">
            <a:avLst>
              <a:gd fmla="val 1160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466204" y="2151608"/>
            <a:ext cx="5226844" cy="1747912"/>
          </a:xfrm>
          <a:prstGeom prst="roundRect">
            <a:avLst>
              <a:gd fmla="val 1160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4"/>
          <p:cNvSpPr/>
          <p:nvPr/>
        </p:nvSpPr>
        <p:spPr>
          <a:xfrm>
            <a:off x="635050" y="2286670"/>
            <a:ext cx="4889153" cy="1477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make_multiplier(factor):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def multiply(x):      # nested!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return x * factor # accesses outer var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return multiply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double = make_multiplier(2)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double(5)  # 10</a:t>
            </a:r>
            <a:endParaRPr b="0" i="0" sz="1050" u="none" cap="none" strike="noStrike"/>
          </a:p>
        </p:txBody>
      </p:sp>
      <p:sp>
        <p:nvSpPr>
          <p:cNvPr id="206" name="Google Shape;206;p24"/>
          <p:cNvSpPr/>
          <p:nvPr/>
        </p:nvSpPr>
        <p:spPr>
          <a:xfrm>
            <a:off x="472901" y="4044404"/>
            <a:ext cx="5213449" cy="561677"/>
          </a:xfrm>
          <a:prstGeom prst="roundRect">
            <a:avLst>
              <a:gd fmla="val 360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963" y="4247331"/>
            <a:ext cx="168846" cy="13506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911870" y="4206850"/>
            <a:ext cx="5096619" cy="21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inner </a:t>
            </a:r>
            <a:r>
              <a:rPr b="0" i="0" lang="en-US" sz="10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multiply</a:t>
            </a: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function "closes over" </a:t>
            </a:r>
            <a:r>
              <a:rPr b="0" i="0" lang="en-US" sz="10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factor</a:t>
            </a: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this is a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closure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/>
          </a:p>
        </p:txBody>
      </p:sp>
      <p:pic>
        <p:nvPicPr>
          <p:cNvPr descr="preencoded.png" id="209" name="Google Shape;2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0767" y="1244129"/>
            <a:ext cx="2655094" cy="2655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5842" y="134100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/>
          <p:nvPr/>
        </p:nvSpPr>
        <p:spPr>
          <a:xfrm>
            <a:off x="1133029" y="298177"/>
            <a:ext cx="4269284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50"/>
              <a:buFont typeface="DM Sans Medium"/>
              <a:buNone/>
            </a:pPr>
            <a:r>
              <a:rPr b="0" i="0" lang="en-US" sz="19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Practical: Build a Reusable Utility</a:t>
            </a:r>
            <a:endParaRPr b="0" i="0" sz="1950" u="none" cap="none" strike="noStrike"/>
          </a:p>
        </p:txBody>
      </p:sp>
      <p:sp>
        <p:nvSpPr>
          <p:cNvPr id="217" name="Google Shape;217;p25"/>
          <p:cNvSpPr/>
          <p:nvPr/>
        </p:nvSpPr>
        <p:spPr>
          <a:xfrm>
            <a:off x="1133029" y="749796"/>
            <a:ext cx="7335069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Combine everything you've learned into one well-crafted function:</a:t>
            </a:r>
            <a:endParaRPr b="0" i="0" sz="750" u="none" cap="none" strike="noStrike"/>
          </a:p>
        </p:txBody>
      </p:sp>
      <p:sp>
        <p:nvSpPr>
          <p:cNvPr id="218" name="Google Shape;218;p25"/>
          <p:cNvSpPr/>
          <p:nvPr/>
        </p:nvSpPr>
        <p:spPr>
          <a:xfrm>
            <a:off x="1133029" y="964406"/>
            <a:ext cx="6877869" cy="3458617"/>
          </a:xfrm>
          <a:prstGeom prst="roundRect">
            <a:avLst>
              <a:gd fmla="val 432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1128117" y="964406"/>
            <a:ext cx="6887691" cy="3458617"/>
          </a:xfrm>
          <a:prstGeom prst="roundRect">
            <a:avLst>
              <a:gd fmla="val 432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>
            <a:off x="1252686" y="1064047"/>
            <a:ext cx="6638553" cy="3259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format_report(title, *entries, separator="—", **metadata):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Formats a text report with a title, entries, and optional metadata.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50"/>
              <a:buFont typeface="Arial"/>
              <a:buNone/>
            </a:pPr>
            <a:r>
              <a:t/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title (str): Report heading.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*entries: Variable number of report lines.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separator (str): Line divider character (default '—').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**metadata: Extra key-value pairs (e.g. author, date).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50"/>
              <a:buFont typeface="Arial"/>
              <a:buNone/>
            </a:pPr>
            <a:r>
              <a:t/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Returns: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str: Formatted report as a string.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lines = [title, separator * 30]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lines.extend(entries)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for key, value in metadata.items():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lines.append(f"{key}: {value}")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50"/>
              <a:buFont typeface="Arial"/>
              <a:buNone/>
            </a:pPr>
            <a:r>
              <a:t/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print(format_report(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"Sales Summary",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"Q1: $12,000", "Q2: $15,500",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author="Alice", date="2024-06"</a:t>
            </a:r>
            <a:endParaRPr b="0" i="0" sz="750" u="none" cap="none" strike="noStrike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750" u="none" cap="none" strike="noStrike"/>
          </a:p>
        </p:txBody>
      </p:sp>
      <p:sp>
        <p:nvSpPr>
          <p:cNvPr id="221" name="Google Shape;221;p25"/>
          <p:cNvSpPr/>
          <p:nvPr/>
        </p:nvSpPr>
        <p:spPr>
          <a:xfrm>
            <a:off x="1133029" y="4501828"/>
            <a:ext cx="6877869" cy="343495"/>
          </a:xfrm>
          <a:prstGeom prst="roundRect">
            <a:avLst>
              <a:gd fmla="val 4353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669" y="4639121"/>
            <a:ext cx="124569" cy="99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/>
          <p:nvPr/>
        </p:nvSpPr>
        <p:spPr>
          <a:xfrm>
            <a:off x="1456879" y="4596705"/>
            <a:ext cx="6911578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Try calling it with different combinations of positional, keyword, and extra arguments to see the flexibility in action.</a:t>
            </a:r>
            <a:endParaRPr b="0" i="0" sz="750" u="none" cap="none" strike="noStrike"/>
          </a:p>
        </p:txBody>
      </p:sp>
      <p:pic>
        <p:nvPicPr>
          <p:cNvPr id="224" name="Google Shape;224;p25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5842" y="134100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/>
          <p:nvPr/>
        </p:nvSpPr>
        <p:spPr>
          <a:xfrm>
            <a:off x="496119" y="996553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 Takeaways</a:t>
            </a:r>
            <a:endParaRPr b="0" i="0" sz="2750" u="none" cap="none" strike="noStrike"/>
          </a:p>
        </p:txBody>
      </p:sp>
      <p:pic>
        <p:nvPicPr>
          <p:cNvPr descr="preencoded.png" id="231" name="Google Shape;2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2305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6"/>
          <p:cNvSpPr/>
          <p:nvPr/>
        </p:nvSpPr>
        <p:spPr>
          <a:xfrm>
            <a:off x="1027658" y="1723058"/>
            <a:ext cx="206759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Control How Functions Are Called</a:t>
            </a:r>
            <a:endParaRPr b="0" i="0" sz="1350" u="none" cap="none" strike="noStrike"/>
          </a:p>
        </p:txBody>
      </p:sp>
      <p:sp>
        <p:nvSpPr>
          <p:cNvPr id="233" name="Google Shape;233;p26"/>
          <p:cNvSpPr/>
          <p:nvPr/>
        </p:nvSpPr>
        <p:spPr>
          <a:xfrm>
            <a:off x="1027658" y="2251025"/>
            <a:ext cx="206759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positional, default, and keyword args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make your functions flexible and readable at the call site.</a:t>
            </a:r>
            <a:endParaRPr b="0" i="0" sz="1100" u="none" cap="none" strike="noStrike"/>
          </a:p>
        </p:txBody>
      </p:sp>
      <p:pic>
        <p:nvPicPr>
          <p:cNvPr descr="preencoded.png" id="234" name="Google Shape;23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172305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/>
          <p:nvPr/>
        </p:nvSpPr>
        <p:spPr>
          <a:xfrm>
            <a:off x="3803972" y="1723058"/>
            <a:ext cx="206759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Embrace Flexibility with *args / **kwargs</a:t>
            </a:r>
            <a:endParaRPr b="0" i="0" sz="1350" u="none" cap="none" strike="noStrike"/>
          </a:p>
        </p:txBody>
      </p:sp>
      <p:sp>
        <p:nvSpPr>
          <p:cNvPr id="236" name="Google Shape;236;p26"/>
          <p:cNvSpPr/>
          <p:nvPr/>
        </p:nvSpPr>
        <p:spPr>
          <a:xfrm>
            <a:off x="3803972" y="2251025"/>
            <a:ext cx="206759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*args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**kwargs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when the number of inputs isn't fixed — ideal for utilities, wrappers, and APIs.</a:t>
            </a:r>
            <a:endParaRPr b="0" i="0" sz="1100" u="none" cap="none" strike="noStrike"/>
          </a:p>
        </p:txBody>
      </p:sp>
      <p:pic>
        <p:nvPicPr>
          <p:cNvPr descr="preencoded.png" id="237" name="Google Shape;23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172305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/>
          <p:nvPr/>
        </p:nvSpPr>
        <p:spPr>
          <a:xfrm>
            <a:off x="6580287" y="1723058"/>
            <a:ext cx="206759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Document and Keep Scope Clean</a:t>
            </a:r>
            <a:endParaRPr b="0" i="0" sz="1350" u="none" cap="none" strike="noStrike"/>
          </a:p>
        </p:txBody>
      </p:sp>
      <p:sp>
        <p:nvSpPr>
          <p:cNvPr id="239" name="Google Shape;239;p26"/>
          <p:cNvSpPr/>
          <p:nvPr/>
        </p:nvSpPr>
        <p:spPr>
          <a:xfrm>
            <a:off x="6580287" y="2251025"/>
            <a:ext cx="206759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Always write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docstrings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Pass data in via parameters, return data out — avoid relying on global variables.</a:t>
            </a:r>
            <a:endParaRPr b="0" i="0" sz="1100" u="none" cap="none" strike="noStrike"/>
          </a:p>
        </p:txBody>
      </p:sp>
      <p:sp>
        <p:nvSpPr>
          <p:cNvPr id="240" name="Google Shape;240;p26"/>
          <p:cNvSpPr/>
          <p:nvPr/>
        </p:nvSpPr>
        <p:spPr>
          <a:xfrm>
            <a:off x="496119" y="3317751"/>
            <a:ext cx="8151763" cy="829196"/>
          </a:xfrm>
          <a:prstGeom prst="roundRect">
            <a:avLst>
              <a:gd fmla="val 2565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877" y="3532808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/>
          <p:nvPr/>
        </p:nvSpPr>
        <p:spPr>
          <a:xfrm>
            <a:off x="956816" y="3494931"/>
            <a:ext cx="754930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Next step: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Refactor a repeated block from your own exercises into a clean, documented function using the patterns from this deck.</a:t>
            </a:r>
            <a:endParaRPr b="0" i="0" sz="1100" u="none" cap="none" strike="noStrike"/>
          </a:p>
        </p:txBody>
      </p:sp>
      <p:pic>
        <p:nvPicPr>
          <p:cNvPr id="243" name="Google Shape;243;p26" title="Logo Black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5842" y="134100"/>
            <a:ext cx="1848607" cy="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