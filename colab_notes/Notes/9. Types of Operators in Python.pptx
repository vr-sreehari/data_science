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7.xml"/><Relationship Id="rId22" Type="http://schemas.openxmlformats.org/officeDocument/2006/relationships/font" Target="fonts/Inter-italic.fntdata"/><Relationship Id="rId10" Type="http://schemas.openxmlformats.org/officeDocument/2006/relationships/slide" Target="slides/slide6.xml"/><Relationship Id="rId21" Type="http://schemas.openxmlformats.org/officeDocument/2006/relationships/font" Target="fonts/Inte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5" Type="http://schemas.openxmlformats.org/officeDocument/2006/relationships/slide" Target="slides/slide1.xml"/><Relationship Id="rId19" Type="http://schemas.openxmlformats.org/officeDocument/2006/relationships/font" Target="fonts/DMSansMedium-boldItalic.fntdata"/><Relationship Id="rId6" Type="http://schemas.openxmlformats.org/officeDocument/2006/relationships/slide" Target="slides/slide2.xml"/><Relationship Id="rId18" Type="http://schemas.openxmlformats.org/officeDocument/2006/relationships/font" Target="fonts/DMSans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Types of Operators in Python</a:t>
            </a:r>
            <a:endParaRPr b="0" i="0" sz="2750" u="none" cap="none" strike="noStrike"/>
          </a:p>
        </p:txBody>
      </p:sp>
      <p:sp>
        <p:nvSpPr>
          <p:cNvPr id="55" name="Google Shape;55;p15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beginner-friendly guide to all </a:t>
            </a:r>
            <a:r>
              <a:rPr lang="en-US" sz="11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main operator types — with clear examples and code snippets.</a:t>
            </a:r>
            <a:endParaRPr b="0" i="0" sz="1100" u="none" cap="none" strike="noStrike"/>
          </a:p>
        </p:txBody>
      </p:sp>
      <p:pic>
        <p:nvPicPr>
          <p:cNvPr id="56" name="Google Shape;56;p15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/>
          <p:nvPr/>
        </p:nvSpPr>
        <p:spPr>
          <a:xfrm>
            <a:off x="3925119" y="816620"/>
            <a:ext cx="400474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Is an Operator?</a:t>
            </a:r>
            <a:endParaRPr b="0" i="0" sz="2750" u="none" cap="none" strike="noStrike"/>
          </a:p>
        </p:txBody>
      </p:sp>
      <p:sp>
        <p:nvSpPr>
          <p:cNvPr id="65" name="Google Shape;65;p16"/>
          <p:cNvSpPr/>
          <p:nvPr/>
        </p:nvSpPr>
        <p:spPr>
          <a:xfrm>
            <a:off x="3925119" y="1472208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Operators are special symbols that perform operations on values and variables. Python groups them into </a:t>
            </a:r>
            <a:r>
              <a:rPr b="1" lang="en-US" sz="11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main types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/>
          </a:p>
        </p:txBody>
      </p:sp>
      <p:sp>
        <p:nvSpPr>
          <p:cNvPr id="66" name="Google Shape;66;p16"/>
          <p:cNvSpPr/>
          <p:nvPr/>
        </p:nvSpPr>
        <p:spPr>
          <a:xfrm>
            <a:off x="3823022" y="2085305"/>
            <a:ext cx="2392635" cy="2241500"/>
          </a:xfrm>
          <a:prstGeom prst="roundRect">
            <a:avLst>
              <a:gd fmla="val 949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3964781" y="2227064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Operands</a:t>
            </a:r>
            <a:endParaRPr b="0" i="0" sz="1350" u="none" cap="none" strike="noStrike"/>
          </a:p>
        </p:txBody>
      </p:sp>
      <p:sp>
        <p:nvSpPr>
          <p:cNvPr id="68" name="Google Shape;68;p16"/>
          <p:cNvSpPr/>
          <p:nvPr/>
        </p:nvSpPr>
        <p:spPr>
          <a:xfrm>
            <a:off x="3964781" y="2590279"/>
            <a:ext cx="2109118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values an operator acts on.</a:t>
            </a:r>
            <a:endParaRPr b="0" i="0" sz="1100" u="none" cap="none" strike="noStrike"/>
          </a:p>
        </p:txBody>
      </p:sp>
      <p:sp>
        <p:nvSpPr>
          <p:cNvPr id="69" name="Google Shape;69;p16"/>
          <p:cNvSpPr/>
          <p:nvPr/>
        </p:nvSpPr>
        <p:spPr>
          <a:xfrm>
            <a:off x="3964781" y="3203377"/>
            <a:ext cx="2109118" cy="963960"/>
          </a:xfrm>
          <a:prstGeom prst="roundRect">
            <a:avLst>
              <a:gd fmla="val 2206" name="adj"/>
            </a:avLst>
          </a:prstGeom>
          <a:solidFill>
            <a:srgbClr val="353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3957712" y="3203377"/>
            <a:ext cx="2123256" cy="963960"/>
          </a:xfrm>
          <a:prstGeom prst="roundRect">
            <a:avLst>
              <a:gd fmla="val 2206" name="adj"/>
            </a:avLst>
          </a:prstGeom>
          <a:solidFill>
            <a:srgbClr val="353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4134892" y="3345135"/>
            <a:ext cx="176889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+ 3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5 and 3 are operands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+ is the operator</a:t>
            </a:r>
            <a:endParaRPr b="0" i="0" sz="1100" u="none" cap="none" strike="noStrike"/>
          </a:p>
        </p:txBody>
      </p:sp>
      <p:sp>
        <p:nvSpPr>
          <p:cNvPr id="72" name="Google Shape;72;p16"/>
          <p:cNvSpPr/>
          <p:nvPr/>
        </p:nvSpPr>
        <p:spPr>
          <a:xfrm>
            <a:off x="6464201" y="2227064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Expression</a:t>
            </a:r>
            <a:endParaRPr b="0" i="0" sz="1350" u="none" cap="none" strike="noStrike"/>
          </a:p>
        </p:txBody>
      </p:sp>
      <p:sp>
        <p:nvSpPr>
          <p:cNvPr id="73" name="Google Shape;73;p16"/>
          <p:cNvSpPr/>
          <p:nvPr/>
        </p:nvSpPr>
        <p:spPr>
          <a:xfrm>
            <a:off x="6464201" y="2590279"/>
            <a:ext cx="21884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combination of operands and operators that produces a result.</a:t>
            </a:r>
            <a:endParaRPr b="0" i="0" sz="1100" u="none" cap="none" strike="noStrike"/>
          </a:p>
        </p:txBody>
      </p:sp>
      <p:sp>
        <p:nvSpPr>
          <p:cNvPr id="74" name="Google Shape;74;p16"/>
          <p:cNvSpPr/>
          <p:nvPr/>
        </p:nvSpPr>
        <p:spPr>
          <a:xfrm>
            <a:off x="6464201" y="3203377"/>
            <a:ext cx="2188443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6457131" y="3203377"/>
            <a:ext cx="2202582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6634311" y="3345135"/>
            <a:ext cx="18482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result = 5 + 3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This is an expression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result = 8</a:t>
            </a:r>
            <a:endParaRPr b="0" i="0" sz="1100" u="none" cap="none" strike="noStrike"/>
          </a:p>
        </p:txBody>
      </p:sp>
      <p:pic>
        <p:nvPicPr>
          <p:cNvPr id="77" name="Google Shape;77;p16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21643" y="378396"/>
            <a:ext cx="3412182" cy="36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300"/>
              <a:buFont typeface="DM Sans Medium"/>
              <a:buNone/>
            </a:pPr>
            <a:r>
              <a:rPr b="0" i="0" lang="en-US" sz="2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Arithmetic Operators</a:t>
            </a:r>
            <a:endParaRPr b="0" i="0" sz="2300" u="none" cap="none" strike="noStrike"/>
          </a:p>
        </p:txBody>
      </p:sp>
      <p:sp>
        <p:nvSpPr>
          <p:cNvPr id="84" name="Google Shape;84;p17"/>
          <p:cNvSpPr/>
          <p:nvPr/>
        </p:nvSpPr>
        <p:spPr>
          <a:xfrm>
            <a:off x="521643" y="939701"/>
            <a:ext cx="8557840" cy="171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building blocks of mathematical computation in Python.</a:t>
            </a:r>
            <a:endParaRPr b="0" i="0" sz="900" u="none" cap="none" strike="noStrike"/>
          </a:p>
        </p:txBody>
      </p:sp>
      <p:pic>
        <p:nvPicPr>
          <p:cNvPr descr="preencoded.png"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43" y="1220688"/>
            <a:ext cx="4001691" cy="18094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653281" y="1684362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Basic: +, -, *, /</a:t>
            </a:r>
            <a:endParaRPr b="0" i="0" sz="1150" u="none" cap="none" strike="noStrike"/>
          </a:p>
        </p:txBody>
      </p:sp>
      <p:sp>
        <p:nvSpPr>
          <p:cNvPr id="87" name="Google Shape;87;p17"/>
          <p:cNvSpPr/>
          <p:nvPr/>
        </p:nvSpPr>
        <p:spPr>
          <a:xfrm>
            <a:off x="653281" y="1977107"/>
            <a:ext cx="3738414" cy="921395"/>
          </a:xfrm>
          <a:prstGeom prst="roundRect">
            <a:avLst>
              <a:gd fmla="val 191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647477" y="1977107"/>
            <a:ext cx="3750022" cy="921395"/>
          </a:xfrm>
          <a:prstGeom prst="roundRect">
            <a:avLst>
              <a:gd fmla="val 191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94221" y="2094458"/>
            <a:ext cx="3456533" cy="68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10 + 3  # 13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10 - 3  # 7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10 * 3  # 30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10 / 3  # 3.333...</a:t>
            </a:r>
            <a:endParaRPr b="0" i="0" sz="900" u="none" cap="none" strike="noStrike"/>
          </a:p>
        </p:txBody>
      </p:sp>
      <p:pic>
        <p:nvPicPr>
          <p:cNvPr descr="preencoded.png" id="90" name="Google Shape;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0518" y="1220688"/>
            <a:ext cx="4001765" cy="18094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4752156" y="1684362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Floor Division: //</a:t>
            </a:r>
            <a:endParaRPr b="0" i="0" sz="1150" u="none" cap="none" strike="noStrike"/>
          </a:p>
        </p:txBody>
      </p:sp>
      <p:sp>
        <p:nvSpPr>
          <p:cNvPr id="92" name="Google Shape;92;p17"/>
          <p:cNvSpPr/>
          <p:nvPr/>
        </p:nvSpPr>
        <p:spPr>
          <a:xfrm>
            <a:off x="4752156" y="1977107"/>
            <a:ext cx="3738488" cy="749722"/>
          </a:xfrm>
          <a:prstGeom prst="roundRect">
            <a:avLst>
              <a:gd fmla="val 23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4746352" y="1977107"/>
            <a:ext cx="3750097" cy="749722"/>
          </a:xfrm>
          <a:prstGeom prst="roundRect">
            <a:avLst>
              <a:gd fmla="val 23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893097" y="2094458"/>
            <a:ext cx="3456608" cy="51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7 // 2  # 3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Drops the decimal,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returns whole number</a:t>
            </a:r>
            <a:endParaRPr b="0" i="0" sz="900" u="none" cap="none" strike="noStrike"/>
          </a:p>
        </p:txBody>
      </p:sp>
      <p:pic>
        <p:nvPicPr>
          <p:cNvPr descr="preencoded.png" id="95" name="Google Shape;9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643" y="3127325"/>
            <a:ext cx="4001691" cy="163777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653281" y="3590999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Modulus: %</a:t>
            </a:r>
            <a:endParaRPr b="0" i="0" sz="1150" u="none" cap="none" strike="noStrike"/>
          </a:p>
        </p:txBody>
      </p:sp>
      <p:sp>
        <p:nvSpPr>
          <p:cNvPr id="97" name="Google Shape;97;p17"/>
          <p:cNvSpPr/>
          <p:nvPr/>
        </p:nvSpPr>
        <p:spPr>
          <a:xfrm>
            <a:off x="653281" y="3883744"/>
            <a:ext cx="3738414" cy="749722"/>
          </a:xfrm>
          <a:prstGeom prst="roundRect">
            <a:avLst>
              <a:gd fmla="val 23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647477" y="3883744"/>
            <a:ext cx="3750022" cy="749722"/>
          </a:xfrm>
          <a:prstGeom prst="roundRect">
            <a:avLst>
              <a:gd fmla="val 23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794221" y="4001095"/>
            <a:ext cx="3456533" cy="51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7 % 2   # 1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Returns the remainder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after division</a:t>
            </a:r>
            <a:endParaRPr b="0" i="0" sz="900" u="none" cap="none" strike="noStrike"/>
          </a:p>
        </p:txBody>
      </p:sp>
      <p:pic>
        <p:nvPicPr>
          <p:cNvPr descr="preencoded.png" id="100" name="Google Shape;1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0518" y="3127325"/>
            <a:ext cx="4001765" cy="1637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4752156" y="3590999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Exponentiation: **</a:t>
            </a:r>
            <a:endParaRPr b="0" i="0" sz="1150" u="none" cap="none" strike="noStrike"/>
          </a:p>
        </p:txBody>
      </p:sp>
      <p:sp>
        <p:nvSpPr>
          <p:cNvPr id="102" name="Google Shape;102;p17"/>
          <p:cNvSpPr/>
          <p:nvPr/>
        </p:nvSpPr>
        <p:spPr>
          <a:xfrm>
            <a:off x="4752156" y="3883744"/>
            <a:ext cx="3738488" cy="749722"/>
          </a:xfrm>
          <a:prstGeom prst="roundRect">
            <a:avLst>
              <a:gd fmla="val 23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746352" y="3883744"/>
            <a:ext cx="3750097" cy="749722"/>
          </a:xfrm>
          <a:prstGeom prst="roundRect">
            <a:avLst>
              <a:gd fmla="val 23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893097" y="4001095"/>
            <a:ext cx="3456608" cy="51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2 ** 3 # 8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2 raised to the</a:t>
            </a:r>
            <a:endParaRPr b="0" i="0" sz="900" u="none" cap="none" strike="noStrike"/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power of 3</a:t>
            </a:r>
            <a:endParaRPr b="0" i="0" sz="900" u="none" cap="none" strike="noStrike"/>
          </a:p>
        </p:txBody>
      </p:sp>
      <p:pic>
        <p:nvPicPr>
          <p:cNvPr id="105" name="Google Shape;105;p17" title="Logo Bl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57598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3474988" y="794445"/>
            <a:ext cx="4228654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Assignment Operators</a:t>
            </a:r>
            <a:endParaRPr b="0" i="0" sz="2750" u="none" cap="none" strike="noStrike"/>
          </a:p>
        </p:txBody>
      </p:sp>
      <p:sp>
        <p:nvSpPr>
          <p:cNvPr id="113" name="Google Shape;113;p18"/>
          <p:cNvSpPr/>
          <p:nvPr/>
        </p:nvSpPr>
        <p:spPr>
          <a:xfrm>
            <a:off x="3474988" y="1379190"/>
            <a:ext cx="563478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Assignment operators store and update values in variables efficiently.</a:t>
            </a:r>
            <a:endParaRPr b="0" i="0" sz="1100" u="none" cap="none" strike="noStrike"/>
          </a:p>
        </p:txBody>
      </p:sp>
      <p:sp>
        <p:nvSpPr>
          <p:cNvPr id="114" name="Google Shape;114;p18"/>
          <p:cNvSpPr/>
          <p:nvPr/>
        </p:nvSpPr>
        <p:spPr>
          <a:xfrm>
            <a:off x="3474988" y="1733550"/>
            <a:ext cx="5177582" cy="10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Assigns a value: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= 10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+=, -=, *=, /=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Shorthand for updating a variable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//=, %=, **=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Compound assignment for floor division, modulus, and exponentiation</a:t>
            </a:r>
            <a:endParaRPr b="0" i="0" sz="1100" u="none" cap="none" strike="noStrike"/>
          </a:p>
        </p:txBody>
      </p:sp>
      <p:sp>
        <p:nvSpPr>
          <p:cNvPr id="115" name="Google Shape;115;p18"/>
          <p:cNvSpPr/>
          <p:nvPr/>
        </p:nvSpPr>
        <p:spPr>
          <a:xfrm>
            <a:off x="3474988" y="2913683"/>
            <a:ext cx="5177582" cy="1417588"/>
          </a:xfrm>
          <a:prstGeom prst="roundRect">
            <a:avLst>
              <a:gd fmla="val 1500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3467919" y="2913683"/>
            <a:ext cx="5191720" cy="1417588"/>
          </a:xfrm>
          <a:prstGeom prst="roundRect">
            <a:avLst>
              <a:gd fmla="val 1500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645098" y="3055441"/>
            <a:ext cx="4837361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= 10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+= 5 # same as x = x + 5 → 15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-= 3 # same as x = x - 3 → 12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*= 2 # same as x = x * 2 → 24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//= 5 # same as x = x // 5 → 4</a:t>
            </a:r>
            <a:endParaRPr b="0" i="0" sz="1100" u="none" cap="none" strike="noStrike"/>
          </a:p>
        </p:txBody>
      </p:sp>
      <p:pic>
        <p:nvPicPr>
          <p:cNvPr id="118" name="Google Shape;118;p18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450" y="1979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457349" y="406450"/>
            <a:ext cx="3988296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50"/>
              <a:buFont typeface="DM Sans Medium"/>
              <a:buNone/>
            </a:pPr>
            <a:r>
              <a:rPr b="0" i="0" lang="en-US" sz="25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Comparison Operators</a:t>
            </a:r>
            <a:endParaRPr b="0" i="0" sz="2550" u="none" cap="none" strike="noStrike"/>
          </a:p>
        </p:txBody>
      </p:sp>
      <p:sp>
        <p:nvSpPr>
          <p:cNvPr id="125" name="Google Shape;125;p19"/>
          <p:cNvSpPr/>
          <p:nvPr/>
        </p:nvSpPr>
        <p:spPr>
          <a:xfrm>
            <a:off x="457349" y="1055787"/>
            <a:ext cx="8686502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Used to compare two values — always return True or False.</a:t>
            </a:r>
            <a:endParaRPr b="0" i="0" sz="1000" u="none" cap="none" strike="noStrike"/>
          </a:p>
        </p:txBody>
      </p:sp>
      <p:sp>
        <p:nvSpPr>
          <p:cNvPr id="126" name="Google Shape;126;p19"/>
          <p:cNvSpPr/>
          <p:nvPr/>
        </p:nvSpPr>
        <p:spPr>
          <a:xfrm>
            <a:off x="457349" y="1392138"/>
            <a:ext cx="1966913" cy="776660"/>
          </a:xfrm>
          <a:prstGeom prst="roundRect">
            <a:avLst>
              <a:gd fmla="val 2524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602307" y="1537097"/>
            <a:ext cx="1633612" cy="21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Equal to</a:t>
            </a:r>
            <a:endParaRPr b="0" i="0" sz="1250" u="none" cap="none" strike="noStrike"/>
          </a:p>
        </p:txBody>
      </p:sp>
      <p:sp>
        <p:nvSpPr>
          <p:cNvPr id="128" name="Google Shape;128;p19"/>
          <p:cNvSpPr/>
          <p:nvPr/>
        </p:nvSpPr>
        <p:spPr>
          <a:xfrm>
            <a:off x="602307" y="1822996"/>
            <a:ext cx="1676995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5 == 5 → True</a:t>
            </a:r>
            <a:endParaRPr b="0" i="0" sz="1000" u="none" cap="none" strike="noStrike"/>
          </a:p>
        </p:txBody>
      </p:sp>
      <p:sp>
        <p:nvSpPr>
          <p:cNvPr id="129" name="Google Shape;129;p19"/>
          <p:cNvSpPr/>
          <p:nvPr/>
        </p:nvSpPr>
        <p:spPr>
          <a:xfrm>
            <a:off x="2544738" y="1392138"/>
            <a:ext cx="1966987" cy="776660"/>
          </a:xfrm>
          <a:prstGeom prst="roundRect">
            <a:avLst>
              <a:gd fmla="val 2524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2689696" y="1537097"/>
            <a:ext cx="1633612" cy="21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Not equal to</a:t>
            </a:r>
            <a:endParaRPr b="0" i="0" sz="1250" u="none" cap="none" strike="noStrike"/>
          </a:p>
        </p:txBody>
      </p:sp>
      <p:sp>
        <p:nvSpPr>
          <p:cNvPr id="131" name="Google Shape;131;p19"/>
          <p:cNvSpPr/>
          <p:nvPr/>
        </p:nvSpPr>
        <p:spPr>
          <a:xfrm>
            <a:off x="2689696" y="1822996"/>
            <a:ext cx="1677070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5 != 3 → True</a:t>
            </a:r>
            <a:endParaRPr b="0" i="0" sz="1000" u="none" cap="none" strike="noStrike"/>
          </a:p>
        </p:txBody>
      </p:sp>
      <p:sp>
        <p:nvSpPr>
          <p:cNvPr id="132" name="Google Shape;132;p19"/>
          <p:cNvSpPr/>
          <p:nvPr/>
        </p:nvSpPr>
        <p:spPr>
          <a:xfrm>
            <a:off x="4632201" y="1392138"/>
            <a:ext cx="1966987" cy="776660"/>
          </a:xfrm>
          <a:prstGeom prst="roundRect">
            <a:avLst>
              <a:gd fmla="val 2524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4777160" y="1537097"/>
            <a:ext cx="1633612" cy="21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Greater than</a:t>
            </a:r>
            <a:endParaRPr b="0" i="0" sz="1250" u="none" cap="none" strike="noStrike"/>
          </a:p>
        </p:txBody>
      </p:sp>
      <p:sp>
        <p:nvSpPr>
          <p:cNvPr id="134" name="Google Shape;134;p19"/>
          <p:cNvSpPr/>
          <p:nvPr/>
        </p:nvSpPr>
        <p:spPr>
          <a:xfrm>
            <a:off x="4777160" y="1822996"/>
            <a:ext cx="1677070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7 &gt; 3 → True</a:t>
            </a:r>
            <a:endParaRPr b="0" i="0" sz="1000" u="none" cap="none" strike="noStrike"/>
          </a:p>
        </p:txBody>
      </p:sp>
      <p:sp>
        <p:nvSpPr>
          <p:cNvPr id="135" name="Google Shape;135;p19"/>
          <p:cNvSpPr/>
          <p:nvPr/>
        </p:nvSpPr>
        <p:spPr>
          <a:xfrm>
            <a:off x="6719664" y="1392138"/>
            <a:ext cx="1966987" cy="776660"/>
          </a:xfrm>
          <a:prstGeom prst="roundRect">
            <a:avLst>
              <a:gd fmla="val 2524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864623" y="1537097"/>
            <a:ext cx="1633612" cy="21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Less than</a:t>
            </a:r>
            <a:endParaRPr b="0" i="0" sz="1250" u="none" cap="none" strike="noStrike"/>
          </a:p>
        </p:txBody>
      </p:sp>
      <p:sp>
        <p:nvSpPr>
          <p:cNvPr id="137" name="Google Shape;137;p19"/>
          <p:cNvSpPr/>
          <p:nvPr/>
        </p:nvSpPr>
        <p:spPr>
          <a:xfrm>
            <a:off x="6864623" y="1822996"/>
            <a:ext cx="1677070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3 &lt; 7 → True</a:t>
            </a:r>
            <a:endParaRPr b="0" i="0" sz="1000" u="none" cap="none" strike="noStrike"/>
          </a:p>
        </p:txBody>
      </p:sp>
      <p:sp>
        <p:nvSpPr>
          <p:cNvPr id="138" name="Google Shape;138;p19"/>
          <p:cNvSpPr/>
          <p:nvPr/>
        </p:nvSpPr>
        <p:spPr>
          <a:xfrm>
            <a:off x="457349" y="2289274"/>
            <a:ext cx="4054376" cy="776660"/>
          </a:xfrm>
          <a:prstGeom prst="roundRect">
            <a:avLst>
              <a:gd fmla="val 2524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602307" y="2434233"/>
            <a:ext cx="2080245" cy="21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Greater than or equal to</a:t>
            </a:r>
            <a:endParaRPr b="0" i="0" sz="1250" u="none" cap="none" strike="noStrike"/>
          </a:p>
        </p:txBody>
      </p:sp>
      <p:sp>
        <p:nvSpPr>
          <p:cNvPr id="140" name="Google Shape;140;p19"/>
          <p:cNvSpPr/>
          <p:nvPr/>
        </p:nvSpPr>
        <p:spPr>
          <a:xfrm>
            <a:off x="602307" y="2720132"/>
            <a:ext cx="3764459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5 &gt;= 5 → True</a:t>
            </a:r>
            <a:endParaRPr b="0" i="0" sz="1000" u="none" cap="none" strike="noStrike"/>
          </a:p>
        </p:txBody>
      </p:sp>
      <p:sp>
        <p:nvSpPr>
          <p:cNvPr id="141" name="Google Shape;141;p19"/>
          <p:cNvSpPr/>
          <p:nvPr/>
        </p:nvSpPr>
        <p:spPr>
          <a:xfrm>
            <a:off x="4632201" y="2289274"/>
            <a:ext cx="4054450" cy="776660"/>
          </a:xfrm>
          <a:prstGeom prst="roundRect">
            <a:avLst>
              <a:gd fmla="val 2524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4777160" y="2434233"/>
            <a:ext cx="1836688" cy="21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Less than or equal to</a:t>
            </a:r>
            <a:endParaRPr b="0" i="0" sz="1250" u="none" cap="none" strike="noStrike"/>
          </a:p>
        </p:txBody>
      </p:sp>
      <p:sp>
        <p:nvSpPr>
          <p:cNvPr id="143" name="Google Shape;143;p19"/>
          <p:cNvSpPr/>
          <p:nvPr/>
        </p:nvSpPr>
        <p:spPr>
          <a:xfrm>
            <a:off x="4777160" y="2720132"/>
            <a:ext cx="3764533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4 &lt;= 5 → True</a:t>
            </a:r>
            <a:endParaRPr b="0" i="0" sz="1000" u="none" cap="none" strike="noStrike"/>
          </a:p>
        </p:txBody>
      </p:sp>
      <p:sp>
        <p:nvSpPr>
          <p:cNvPr id="144" name="Google Shape;144;p19"/>
          <p:cNvSpPr/>
          <p:nvPr/>
        </p:nvSpPr>
        <p:spPr>
          <a:xfrm>
            <a:off x="457349" y="3246611"/>
            <a:ext cx="2906316" cy="244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00"/>
              <a:buFont typeface="DM Sans Medium"/>
              <a:buNone/>
            </a:pPr>
            <a:r>
              <a:rPr b="0" i="0" lang="en-US" sz="1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Example in an if statement</a:t>
            </a:r>
            <a:endParaRPr b="0" i="0" sz="150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457349" y="3672260"/>
            <a:ext cx="8229302" cy="1064716"/>
          </a:xfrm>
          <a:prstGeom prst="roundRect">
            <a:avLst>
              <a:gd fmla="val 18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450875" y="3672260"/>
            <a:ext cx="8242250" cy="1064716"/>
          </a:xfrm>
          <a:prstGeom prst="roundRect">
            <a:avLst>
              <a:gd fmla="val 18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14214" y="3802931"/>
            <a:ext cx="7915573" cy="80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age = 18</a:t>
            </a:r>
            <a:endParaRPr b="0" i="0" sz="1000" u="none" cap="none" strike="noStrike"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if age &gt;= 18:</a:t>
            </a:r>
            <a:endParaRPr b="0" i="0" sz="1000" u="none" cap="none" strike="noStrike"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print("You are an adult")</a:t>
            </a:r>
            <a:endParaRPr b="0" i="0" sz="1000" u="none" cap="none" strike="noStrike"/>
          </a:p>
        </p:txBody>
      </p:sp>
      <p:pic>
        <p:nvPicPr>
          <p:cNvPr id="148" name="Google Shape;148;p19" title="Log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1285875" y="317376"/>
            <a:ext cx="2838450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850"/>
              <a:buFont typeface="DM Sans Medium"/>
              <a:buNone/>
            </a:pPr>
            <a:r>
              <a:rPr b="0" i="0" lang="en-US" sz="1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Logical Operators</a:t>
            </a:r>
            <a:endParaRPr b="0" i="0" sz="1850" u="none" cap="none" strike="noStrike"/>
          </a:p>
        </p:txBody>
      </p:sp>
      <p:sp>
        <p:nvSpPr>
          <p:cNvPr id="155" name="Google Shape;155;p20"/>
          <p:cNvSpPr/>
          <p:nvPr/>
        </p:nvSpPr>
        <p:spPr>
          <a:xfrm>
            <a:off x="1285875" y="743024"/>
            <a:ext cx="7029450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Combine multiple conditions — return </a:t>
            </a: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750" u="none" cap="none" strike="noStrike"/>
          </a:p>
        </p:txBody>
      </p:sp>
      <p:pic>
        <p:nvPicPr>
          <p:cNvPr descr="preencoded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588" y="1014338"/>
            <a:ext cx="3184252" cy="120394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1438275" y="1123876"/>
            <a:ext cx="11906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and</a:t>
            </a:r>
            <a:endParaRPr b="0" i="0" sz="900" u="none" cap="none" strike="noStrike"/>
          </a:p>
        </p:txBody>
      </p:sp>
      <p:sp>
        <p:nvSpPr>
          <p:cNvPr id="158" name="Google Shape;158;p20"/>
          <p:cNvSpPr/>
          <p:nvPr/>
        </p:nvSpPr>
        <p:spPr>
          <a:xfrm>
            <a:off x="1438275" y="1336700"/>
            <a:ext cx="290802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 only if </a:t>
            </a: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both</a:t>
            </a: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conditions are true</a:t>
            </a:r>
            <a:endParaRPr b="0" i="0" sz="750" u="none" cap="none" strike="noStrike"/>
          </a:p>
        </p:txBody>
      </p:sp>
      <p:sp>
        <p:nvSpPr>
          <p:cNvPr id="159" name="Google Shape;159;p20"/>
          <p:cNvSpPr/>
          <p:nvPr/>
        </p:nvSpPr>
        <p:spPr>
          <a:xfrm>
            <a:off x="1438275" y="1536055"/>
            <a:ext cx="2908027" cy="572691"/>
          </a:xfrm>
          <a:prstGeom prst="roundRect">
            <a:avLst>
              <a:gd fmla="val 249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1433513" y="1536055"/>
            <a:ext cx="2917552" cy="572691"/>
          </a:xfrm>
          <a:prstGeom prst="roundRect">
            <a:avLst>
              <a:gd fmla="val 249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1552575" y="1631305"/>
            <a:ext cx="2679427" cy="382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= 5</a:t>
            </a:r>
            <a:endParaRPr b="0" i="0" sz="750" u="none" cap="none" strike="noStrike"/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&gt; 0 and x &lt; 10  # True</a:t>
            </a:r>
            <a:endParaRPr b="0" i="0" sz="750" u="none" cap="none" strike="noStrike"/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&gt; 0 and x &gt; 10  # False</a:t>
            </a:r>
            <a:endParaRPr b="0" i="0" sz="750" u="none" cap="none" strike="noStrike"/>
          </a:p>
        </p:txBody>
      </p:sp>
      <p:pic>
        <p:nvPicPr>
          <p:cNvPr descr="preencoded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588" y="2282279"/>
            <a:ext cx="3184252" cy="120394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1438275" y="2391817"/>
            <a:ext cx="11906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</a:t>
            </a:r>
            <a:endParaRPr b="0" i="0" sz="900" u="none" cap="none" strike="noStrike"/>
          </a:p>
        </p:txBody>
      </p:sp>
      <p:sp>
        <p:nvSpPr>
          <p:cNvPr id="164" name="Google Shape;164;p20"/>
          <p:cNvSpPr/>
          <p:nvPr/>
        </p:nvSpPr>
        <p:spPr>
          <a:xfrm>
            <a:off x="1438275" y="2604641"/>
            <a:ext cx="290802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 if </a:t>
            </a: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at least one</a:t>
            </a: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condition is true</a:t>
            </a:r>
            <a:endParaRPr b="0" i="0" sz="750" u="none" cap="none" strike="noStrike"/>
          </a:p>
        </p:txBody>
      </p:sp>
      <p:sp>
        <p:nvSpPr>
          <p:cNvPr id="165" name="Google Shape;165;p20"/>
          <p:cNvSpPr/>
          <p:nvPr/>
        </p:nvSpPr>
        <p:spPr>
          <a:xfrm>
            <a:off x="1438275" y="2803996"/>
            <a:ext cx="2908027" cy="572691"/>
          </a:xfrm>
          <a:prstGeom prst="roundRect">
            <a:avLst>
              <a:gd fmla="val 249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1433513" y="2803996"/>
            <a:ext cx="2917552" cy="572691"/>
          </a:xfrm>
          <a:prstGeom prst="roundRect">
            <a:avLst>
              <a:gd fmla="val 249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1552575" y="2899246"/>
            <a:ext cx="2679427" cy="382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= 15</a:t>
            </a:r>
            <a:endParaRPr b="0" i="0" sz="750" u="none" cap="none" strike="noStrike"/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&lt; 0 or x &gt; 10   # True</a:t>
            </a:r>
            <a:endParaRPr b="0" i="0" sz="750" u="none" cap="none" strike="noStrike"/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 &lt; 0 or x &gt; 20   # False</a:t>
            </a:r>
            <a:endParaRPr b="0" i="0" sz="750" u="none" cap="none" strike="noStrike"/>
          </a:p>
        </p:txBody>
      </p:sp>
      <p:pic>
        <p:nvPicPr>
          <p:cNvPr descr="preencoded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588" y="3550221"/>
            <a:ext cx="3184252" cy="120394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1438275" y="3659758"/>
            <a:ext cx="11906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not</a:t>
            </a:r>
            <a:endParaRPr b="0" i="0" sz="900" u="none" cap="none" strike="noStrike"/>
          </a:p>
        </p:txBody>
      </p:sp>
      <p:sp>
        <p:nvSpPr>
          <p:cNvPr id="170" name="Google Shape;170;p20"/>
          <p:cNvSpPr/>
          <p:nvPr/>
        </p:nvSpPr>
        <p:spPr>
          <a:xfrm>
            <a:off x="1438275" y="3872582"/>
            <a:ext cx="290802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Reverses the boolean result</a:t>
            </a:r>
            <a:endParaRPr b="0" i="0" sz="750" u="none" cap="none" strike="noStrike"/>
          </a:p>
        </p:txBody>
      </p:sp>
      <p:sp>
        <p:nvSpPr>
          <p:cNvPr id="171" name="Google Shape;171;p20"/>
          <p:cNvSpPr/>
          <p:nvPr/>
        </p:nvSpPr>
        <p:spPr>
          <a:xfrm>
            <a:off x="1438275" y="4071938"/>
            <a:ext cx="2908027" cy="572691"/>
          </a:xfrm>
          <a:prstGeom prst="roundRect">
            <a:avLst>
              <a:gd fmla="val 249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1433513" y="4071938"/>
            <a:ext cx="2917552" cy="572691"/>
          </a:xfrm>
          <a:prstGeom prst="roundRect">
            <a:avLst>
              <a:gd fmla="val 249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1552575" y="4167188"/>
            <a:ext cx="2679427" cy="382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not True    # False</a:t>
            </a:r>
            <a:endParaRPr b="0" i="0" sz="750" u="none" cap="none" strike="noStrike"/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not False   # True</a:t>
            </a:r>
            <a:endParaRPr b="0" i="0" sz="750" u="none" cap="none" strike="noStrike"/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not (5 &gt; 3) # False</a:t>
            </a:r>
            <a:endParaRPr b="0" i="0" sz="750" u="none" cap="none" strike="noStrike"/>
          </a:p>
        </p:txBody>
      </p:sp>
      <p:sp>
        <p:nvSpPr>
          <p:cNvPr id="174" name="Google Shape;174;p20"/>
          <p:cNvSpPr/>
          <p:nvPr/>
        </p:nvSpPr>
        <p:spPr>
          <a:xfrm>
            <a:off x="4692923" y="1006376"/>
            <a:ext cx="16478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Truth Table</a:t>
            </a:r>
            <a:endParaRPr b="0" i="0" sz="900" u="none" cap="none" strike="noStrike"/>
          </a:p>
        </p:txBody>
      </p:sp>
      <p:sp>
        <p:nvSpPr>
          <p:cNvPr id="175" name="Google Shape;175;p20"/>
          <p:cNvSpPr/>
          <p:nvPr/>
        </p:nvSpPr>
        <p:spPr>
          <a:xfrm>
            <a:off x="4692923" y="1227162"/>
            <a:ext cx="3169965" cy="1097161"/>
          </a:xfrm>
          <a:prstGeom prst="roundRect">
            <a:avLst>
              <a:gd fmla="val 130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4793159" y="1275085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75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5585594" y="1275085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75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6375648" y="1275085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and B</a:t>
            </a:r>
            <a:endParaRPr b="0" i="0" sz="75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7165702" y="1275085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or B</a:t>
            </a:r>
            <a:endParaRPr b="0" i="0" sz="7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4793159" y="1493565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5585594" y="1493565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82" name="Google Shape;182;p20"/>
          <p:cNvSpPr/>
          <p:nvPr/>
        </p:nvSpPr>
        <p:spPr>
          <a:xfrm>
            <a:off x="6375648" y="1493565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83" name="Google Shape;183;p20"/>
          <p:cNvSpPr/>
          <p:nvPr/>
        </p:nvSpPr>
        <p:spPr>
          <a:xfrm>
            <a:off x="7165702" y="1493565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84" name="Google Shape;184;p20"/>
          <p:cNvSpPr/>
          <p:nvPr/>
        </p:nvSpPr>
        <p:spPr>
          <a:xfrm>
            <a:off x="4793159" y="1712044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5585594" y="1712044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6375648" y="1712044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7165702" y="1712044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88" name="Google Shape;188;p20"/>
          <p:cNvSpPr/>
          <p:nvPr/>
        </p:nvSpPr>
        <p:spPr>
          <a:xfrm>
            <a:off x="4793159" y="1930524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5585594" y="1930524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6375648" y="1930524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91" name="Google Shape;191;p20"/>
          <p:cNvSpPr/>
          <p:nvPr/>
        </p:nvSpPr>
        <p:spPr>
          <a:xfrm>
            <a:off x="7165702" y="1930524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endParaRPr b="0" i="0" sz="750" u="none" cap="none" strike="noStrike"/>
          </a:p>
        </p:txBody>
      </p:sp>
      <p:sp>
        <p:nvSpPr>
          <p:cNvPr id="192" name="Google Shape;192;p20"/>
          <p:cNvSpPr/>
          <p:nvPr/>
        </p:nvSpPr>
        <p:spPr>
          <a:xfrm>
            <a:off x="4793159" y="2149004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5585594" y="2149004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6375648" y="2149004"/>
            <a:ext cx="1051992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sp>
        <p:nvSpPr>
          <p:cNvPr id="195" name="Google Shape;195;p20"/>
          <p:cNvSpPr/>
          <p:nvPr/>
        </p:nvSpPr>
        <p:spPr>
          <a:xfrm>
            <a:off x="7165702" y="2149004"/>
            <a:ext cx="105437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endParaRPr b="0" i="0" sz="750" u="none" cap="none" strike="noStrike"/>
          </a:p>
        </p:txBody>
      </p:sp>
      <p:pic>
        <p:nvPicPr>
          <p:cNvPr id="196" name="Google Shape;196;p20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441871" y="364778"/>
            <a:ext cx="3613696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50"/>
              <a:buFont typeface="DM Sans Medium"/>
              <a:buNone/>
            </a:pPr>
            <a:r>
              <a:rPr b="0" i="0" lang="en-US" sz="2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Identity Operators</a:t>
            </a:r>
            <a:endParaRPr b="0" i="0" sz="2450" u="none" cap="none" strike="noStrike"/>
          </a:p>
        </p:txBody>
      </p:sp>
      <p:sp>
        <p:nvSpPr>
          <p:cNvPr id="203" name="Google Shape;203;p21"/>
          <p:cNvSpPr/>
          <p:nvPr/>
        </p:nvSpPr>
        <p:spPr>
          <a:xfrm>
            <a:off x="441871" y="984200"/>
            <a:ext cx="8702129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Check whether two variables point to the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same object in memory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not just equal values.</a:t>
            </a:r>
            <a:endParaRPr b="0" i="0" sz="950" u="none" cap="none" strike="noStrike"/>
          </a:p>
        </p:txBody>
      </p:sp>
      <p:sp>
        <p:nvSpPr>
          <p:cNvPr id="204" name="Google Shape;204;p21"/>
          <p:cNvSpPr/>
          <p:nvPr/>
        </p:nvSpPr>
        <p:spPr>
          <a:xfrm>
            <a:off x="441871" y="1414090"/>
            <a:ext cx="2035448" cy="21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Operator</a:t>
            </a:r>
            <a:endParaRPr b="0" i="0" sz="1200" u="none" cap="none" strike="noStrike"/>
          </a:p>
        </p:txBody>
      </p:sp>
      <p:sp>
        <p:nvSpPr>
          <p:cNvPr id="205" name="Google Shape;205;p21"/>
          <p:cNvSpPr/>
          <p:nvPr/>
        </p:nvSpPr>
        <p:spPr>
          <a:xfrm>
            <a:off x="441871" y="1738089"/>
            <a:ext cx="4433292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if both variables reference the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same object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/>
          </a:p>
        </p:txBody>
      </p:sp>
      <p:sp>
        <p:nvSpPr>
          <p:cNvPr id="206" name="Google Shape;206;p21"/>
          <p:cNvSpPr/>
          <p:nvPr/>
        </p:nvSpPr>
        <p:spPr>
          <a:xfrm>
            <a:off x="441871" y="2055540"/>
            <a:ext cx="3976092" cy="1589038"/>
          </a:xfrm>
          <a:prstGeom prst="roundRect">
            <a:avLst>
              <a:gd fmla="val 1192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35620" y="2055540"/>
            <a:ext cx="3988594" cy="1589038"/>
          </a:xfrm>
          <a:prstGeom prst="roundRect">
            <a:avLst>
              <a:gd fmla="val 1192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93378" y="2181746"/>
            <a:ext cx="3673078" cy="13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= [1, 2, 3]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b = a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b is a       # True (same object)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 = [1, 2, 3]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 is a       # False (different object,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     # even with same values)</a:t>
            </a:r>
            <a:endParaRPr b="0" i="0" sz="950" u="none" cap="none" strike="noStrike"/>
          </a:p>
        </p:txBody>
      </p:sp>
      <p:sp>
        <p:nvSpPr>
          <p:cNvPr id="209" name="Google Shape;209;p21"/>
          <p:cNvSpPr/>
          <p:nvPr/>
        </p:nvSpPr>
        <p:spPr>
          <a:xfrm>
            <a:off x="4730800" y="1414090"/>
            <a:ext cx="2035448" cy="21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is not</a:t>
            </a: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Operator</a:t>
            </a:r>
            <a:endParaRPr b="0" i="0" sz="1200" u="none" cap="none" strike="noStrike"/>
          </a:p>
        </p:txBody>
      </p:sp>
      <p:sp>
        <p:nvSpPr>
          <p:cNvPr id="210" name="Google Shape;210;p21"/>
          <p:cNvSpPr/>
          <p:nvPr/>
        </p:nvSpPr>
        <p:spPr>
          <a:xfrm>
            <a:off x="4730800" y="1738089"/>
            <a:ext cx="4413200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if they reference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different objects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/>
          </a:p>
        </p:txBody>
      </p:sp>
      <p:sp>
        <p:nvSpPr>
          <p:cNvPr id="211" name="Google Shape;211;p21"/>
          <p:cNvSpPr/>
          <p:nvPr/>
        </p:nvSpPr>
        <p:spPr>
          <a:xfrm>
            <a:off x="4730800" y="2055540"/>
            <a:ext cx="3976092" cy="1779984"/>
          </a:xfrm>
          <a:prstGeom prst="roundRect">
            <a:avLst>
              <a:gd fmla="val 106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724549" y="2055540"/>
            <a:ext cx="3988594" cy="1779984"/>
          </a:xfrm>
          <a:prstGeom prst="roundRect">
            <a:avLst>
              <a:gd fmla="val 106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4882307" y="2181746"/>
            <a:ext cx="3673078" cy="152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x = "hello"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y = "hello"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x is not y   # May be True or False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         # (depends on Python's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         # string interning)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x == y       # Always True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         # (same value)</a:t>
            </a:r>
            <a:endParaRPr b="0" i="0" sz="950" u="none" cap="none" strike="noStrike"/>
          </a:p>
        </p:txBody>
      </p:sp>
      <p:sp>
        <p:nvSpPr>
          <p:cNvPr id="214" name="Google Shape;214;p21"/>
          <p:cNvSpPr/>
          <p:nvPr/>
        </p:nvSpPr>
        <p:spPr>
          <a:xfrm>
            <a:off x="441871" y="4088532"/>
            <a:ext cx="8260259" cy="690190"/>
          </a:xfrm>
          <a:prstGeom prst="roundRect">
            <a:avLst>
              <a:gd fmla="val 2744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77" y="4278734"/>
            <a:ext cx="157758" cy="12620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852041" y="4232523"/>
            <a:ext cx="7723882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Tip: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Use </a:t>
            </a:r>
            <a:r>
              <a:rPr b="0" i="0" lang="en-US" sz="9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compare values and </a:t>
            </a:r>
            <a:r>
              <a:rPr b="0" i="0" lang="en-US" sz="9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check if two variables are literally the same object. Never use </a:t>
            </a:r>
            <a:r>
              <a:rPr b="0" i="0" lang="en-US" sz="9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compare integers or strings in general.</a:t>
            </a:r>
            <a:endParaRPr b="0" i="0" sz="950" u="none" cap="none" strike="noStrike"/>
          </a:p>
        </p:txBody>
      </p:sp>
      <p:pic>
        <p:nvPicPr>
          <p:cNvPr id="217" name="Google Shape;217;p21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496119" y="549101"/>
            <a:ext cx="434771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Membership Operators</a:t>
            </a:r>
            <a:endParaRPr b="0" i="0" sz="2750" u="none" cap="none" strike="noStrike"/>
          </a:p>
        </p:txBody>
      </p:sp>
      <p:sp>
        <p:nvSpPr>
          <p:cNvPr id="224" name="Google Shape;224;p22"/>
          <p:cNvSpPr/>
          <p:nvPr/>
        </p:nvSpPr>
        <p:spPr>
          <a:xfrm>
            <a:off x="496119" y="1275606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Check whether a value exists inside a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sequence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(list, string, tuple, etc.).</a:t>
            </a:r>
            <a:endParaRPr b="0" i="0" sz="1100" u="none" cap="none" strike="noStrike"/>
          </a:p>
        </p:txBody>
      </p:sp>
      <p:pic>
        <p:nvPicPr>
          <p:cNvPr descr="preencoded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61889"/>
            <a:ext cx="1754386" cy="108428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496119" y="2923356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Operator</a:t>
            </a:r>
            <a:endParaRPr b="0" i="0" sz="135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496119" y="3239393"/>
            <a:ext cx="398725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if the value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is found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the sequence.</a:t>
            </a:r>
            <a:endParaRPr b="0" i="0" sz="1100" u="none" cap="none" strike="noStrike"/>
          </a:p>
        </p:txBody>
      </p:sp>
      <p:sp>
        <p:nvSpPr>
          <p:cNvPr id="228" name="Google Shape;228;p22"/>
          <p:cNvSpPr/>
          <p:nvPr/>
        </p:nvSpPr>
        <p:spPr>
          <a:xfrm>
            <a:off x="496119" y="3630439"/>
            <a:ext cx="3987254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89049" y="3630439"/>
            <a:ext cx="4001393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666229" y="3772198"/>
            <a:ext cx="364703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"a" in "apple"    # True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3 in [1, 2, 3]    # True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32F6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32F62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"z" in "hello"    # False</a:t>
            </a:r>
            <a:endParaRPr b="0" i="0" sz="1100" u="none" cap="none" strike="noStrike"/>
          </a:p>
        </p:txBody>
      </p:sp>
      <p:pic>
        <p:nvPicPr>
          <p:cNvPr descr="preencoded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3" y="1661889"/>
            <a:ext cx="1754386" cy="1084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4660553" y="2923356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not in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Operator</a:t>
            </a:r>
            <a:endParaRPr b="0" i="0" sz="1350" u="none" cap="none" strike="noStrike"/>
          </a:p>
        </p:txBody>
      </p:sp>
      <p:sp>
        <p:nvSpPr>
          <p:cNvPr id="233" name="Google Shape;233;p22"/>
          <p:cNvSpPr/>
          <p:nvPr/>
        </p:nvSpPr>
        <p:spPr>
          <a:xfrm>
            <a:off x="4660553" y="3239393"/>
            <a:ext cx="3987329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if the value is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NOT found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the sequence.</a:t>
            </a:r>
            <a:endParaRPr b="0" i="0" sz="1100" u="none" cap="none" strike="noStrike"/>
          </a:p>
        </p:txBody>
      </p:sp>
      <p:sp>
        <p:nvSpPr>
          <p:cNvPr id="234" name="Google Shape;234;p22"/>
          <p:cNvSpPr/>
          <p:nvPr/>
        </p:nvSpPr>
        <p:spPr>
          <a:xfrm>
            <a:off x="4660553" y="3630439"/>
            <a:ext cx="3987329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4653483" y="3630439"/>
            <a:ext cx="4001467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4830663" y="3772198"/>
            <a:ext cx="3647108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5 not in [1,2,3] # True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"b" not in "abc" # False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7 not in range(5) # True</a:t>
            </a:r>
            <a:endParaRPr b="0" i="0" sz="1100" u="none" cap="none" strike="noStrike"/>
          </a:p>
        </p:txBody>
      </p:sp>
      <p:pic>
        <p:nvPicPr>
          <p:cNvPr id="237" name="Google Shape;237;p22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674489" y="346323"/>
            <a:ext cx="3340298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Operator Precedence</a:t>
            </a:r>
            <a:endParaRPr b="0" i="0" sz="2200" u="none" cap="none" strike="noStrike"/>
          </a:p>
        </p:txBody>
      </p:sp>
      <p:sp>
        <p:nvSpPr>
          <p:cNvPr id="244" name="Google Shape;244;p23"/>
          <p:cNvSpPr/>
          <p:nvPr/>
        </p:nvSpPr>
        <p:spPr>
          <a:xfrm>
            <a:off x="674489" y="879277"/>
            <a:ext cx="82521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When multiple operators appear in one expression, Python follows a </a:t>
            </a:r>
            <a:r>
              <a:rPr b="1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strict order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like PEMDAS in math. Use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override the default order.</a:t>
            </a:r>
            <a:endParaRPr b="0" i="0" sz="850" u="none" cap="none" strike="noStrike"/>
          </a:p>
        </p:txBody>
      </p:sp>
      <p:pic>
        <p:nvPicPr>
          <p:cNvPr descr="preencoded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89" y="1918171"/>
            <a:ext cx="4970190" cy="1865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4690352" y="3330455"/>
            <a:ext cx="749652" cy="14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Logical</a:t>
            </a:r>
            <a:endParaRPr b="0" i="0" sz="900" u="none" cap="none" strike="noStrike"/>
          </a:p>
        </p:txBody>
      </p:sp>
      <p:sp>
        <p:nvSpPr>
          <p:cNvPr id="247" name="Google Shape;247;p23"/>
          <p:cNvSpPr/>
          <p:nvPr/>
        </p:nvSpPr>
        <p:spPr>
          <a:xfrm>
            <a:off x="3745586" y="3330455"/>
            <a:ext cx="749652" cy="14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Comparisons</a:t>
            </a:r>
            <a:endParaRPr b="0" i="0" sz="900" u="none" cap="none" strike="noStrike"/>
          </a:p>
        </p:txBody>
      </p:sp>
      <p:sp>
        <p:nvSpPr>
          <p:cNvPr id="248" name="Google Shape;248;p23"/>
          <p:cNvSpPr/>
          <p:nvPr/>
        </p:nvSpPr>
        <p:spPr>
          <a:xfrm>
            <a:off x="2805954" y="3330455"/>
            <a:ext cx="749652" cy="14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Add/Subtract</a:t>
            </a:r>
            <a:endParaRPr b="0" i="0" sz="900" u="none" cap="none" strike="noStrike"/>
          </a:p>
        </p:txBody>
      </p:sp>
      <p:sp>
        <p:nvSpPr>
          <p:cNvPr id="249" name="Google Shape;249;p23"/>
          <p:cNvSpPr/>
          <p:nvPr/>
        </p:nvSpPr>
        <p:spPr>
          <a:xfrm>
            <a:off x="1866322" y="3330455"/>
            <a:ext cx="749652" cy="14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Multiplication</a:t>
            </a:r>
            <a:endParaRPr b="0" i="0" sz="900" u="none" cap="none" strike="noStrike"/>
          </a:p>
        </p:txBody>
      </p:sp>
      <p:sp>
        <p:nvSpPr>
          <p:cNvPr id="250" name="Google Shape;250;p23"/>
          <p:cNvSpPr/>
          <p:nvPr/>
        </p:nvSpPr>
        <p:spPr>
          <a:xfrm>
            <a:off x="906152" y="3258250"/>
            <a:ext cx="749652" cy="28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Exponentiation</a:t>
            </a:r>
            <a:endParaRPr b="0" i="0" sz="900" u="none" cap="none" strike="noStrike"/>
          </a:p>
        </p:txBody>
      </p:sp>
      <p:sp>
        <p:nvSpPr>
          <p:cNvPr id="251" name="Google Shape;251;p23"/>
          <p:cNvSpPr/>
          <p:nvPr/>
        </p:nvSpPr>
        <p:spPr>
          <a:xfrm>
            <a:off x="674489" y="3884414"/>
            <a:ext cx="5427390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Higher steps are evaluated first. Parentheses always take top priority.</a:t>
            </a:r>
            <a:endParaRPr b="0" i="0" sz="850" u="none" cap="none" strike="noStrike"/>
          </a:p>
        </p:txBody>
      </p:sp>
      <p:sp>
        <p:nvSpPr>
          <p:cNvPr id="252" name="Google Shape;252;p23"/>
          <p:cNvSpPr/>
          <p:nvPr/>
        </p:nvSpPr>
        <p:spPr>
          <a:xfrm>
            <a:off x="5925071" y="1237580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Examples</a:t>
            </a:r>
            <a:endParaRPr b="0" i="0" sz="1100" u="none" cap="none" strike="noStrike"/>
          </a:p>
        </p:txBody>
      </p:sp>
      <p:sp>
        <p:nvSpPr>
          <p:cNvPr id="253" name="Google Shape;253;p23"/>
          <p:cNvSpPr/>
          <p:nvPr/>
        </p:nvSpPr>
        <p:spPr>
          <a:xfrm>
            <a:off x="5925071" y="1515294"/>
            <a:ext cx="2549054" cy="2336750"/>
          </a:xfrm>
          <a:prstGeom prst="roundRect">
            <a:avLst>
              <a:gd fmla="val 72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919490" y="1515294"/>
            <a:ext cx="2560216" cy="2336750"/>
          </a:xfrm>
          <a:prstGeom prst="roundRect">
            <a:avLst>
              <a:gd fmla="val 72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6060653" y="1628254"/>
            <a:ext cx="2277889" cy="2110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Without parentheses: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2 + 3 * 4     # 14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(* before +)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r>
              <a:t/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With parentheses: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(2 + 3) * 4   # 20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(+ forced first)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r>
              <a:t/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Complex expression: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10 - 2 ** 3 / 4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= 10 - 8 / 4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= 10 - 2.0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= 8.0</a:t>
            </a:r>
            <a:endParaRPr b="0" i="0" sz="850" u="none" cap="none" strike="noStrike"/>
          </a:p>
        </p:txBody>
      </p:sp>
      <p:sp>
        <p:nvSpPr>
          <p:cNvPr id="256" name="Google Shape;256;p23"/>
          <p:cNvSpPr/>
          <p:nvPr/>
        </p:nvSpPr>
        <p:spPr>
          <a:xfrm>
            <a:off x="5925071" y="3953247"/>
            <a:ext cx="2549054" cy="742727"/>
          </a:xfrm>
          <a:prstGeom prst="roundRect">
            <a:avLst>
              <a:gd fmla="val 228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031" y="4114577"/>
            <a:ext cx="141163" cy="11296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6292155" y="4071417"/>
            <a:ext cx="2069009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in doubt, </a:t>
            </a: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parentheses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they make your intent clear and prevent subtle bugs.</a:t>
            </a:r>
            <a:endParaRPr b="0" i="0" sz="850" u="none" cap="none" strike="noStrike"/>
          </a:p>
        </p:txBody>
      </p:sp>
      <p:pic>
        <p:nvPicPr>
          <p:cNvPr id="259" name="Google Shape;259;p23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9248" y="358080"/>
            <a:ext cx="3320504" cy="442733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/>
          <p:nvPr/>
        </p:nvSpPr>
        <p:spPr>
          <a:xfrm>
            <a:off x="379884" y="299740"/>
            <a:ext cx="4015234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00"/>
              <a:buFont typeface="DM Sans Medium"/>
              <a:buNone/>
            </a:pPr>
            <a:r>
              <a:rPr b="0" i="0" lang="en-US" sz="2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Common Beginner Mistakes</a:t>
            </a:r>
            <a:endParaRPr b="0" i="0" sz="2100" u="none" cap="none" strike="noStrike"/>
          </a:p>
        </p:txBody>
      </p:sp>
      <p:sp>
        <p:nvSpPr>
          <p:cNvPr id="268" name="Google Shape;268;p24"/>
          <p:cNvSpPr/>
          <p:nvPr/>
        </p:nvSpPr>
        <p:spPr>
          <a:xfrm>
            <a:off x="379884" y="763563"/>
            <a:ext cx="2436093" cy="2075185"/>
          </a:xfrm>
          <a:prstGeom prst="roundRect">
            <a:avLst>
              <a:gd fmla="val 78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488379" y="872058"/>
            <a:ext cx="325562" cy="325562"/>
          </a:xfrm>
          <a:prstGeom prst="roundRect">
            <a:avLst>
              <a:gd fmla="val 17552505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900" y="961579"/>
            <a:ext cx="146521" cy="14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/>
          <p:nvPr/>
        </p:nvSpPr>
        <p:spPr>
          <a:xfrm>
            <a:off x="488379" y="1280666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= vs ==</a:t>
            </a:r>
            <a:endParaRPr b="0" i="0" sz="1050" u="none" cap="none" strike="noStrike"/>
          </a:p>
        </p:txBody>
      </p:sp>
      <p:sp>
        <p:nvSpPr>
          <p:cNvPr id="272" name="Google Shape;272;p24"/>
          <p:cNvSpPr/>
          <p:nvPr/>
        </p:nvSpPr>
        <p:spPr>
          <a:xfrm>
            <a:off x="488379" y="1500039"/>
            <a:ext cx="2219102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assigns a value;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compares. Mixing them causes errors.</a:t>
            </a:r>
            <a:endParaRPr b="0" i="0" sz="850" u="none" cap="none" strike="noStrike"/>
          </a:p>
        </p:txBody>
      </p:sp>
      <p:sp>
        <p:nvSpPr>
          <p:cNvPr id="273" name="Google Shape;273;p24"/>
          <p:cNvSpPr/>
          <p:nvPr/>
        </p:nvSpPr>
        <p:spPr>
          <a:xfrm>
            <a:off x="488379" y="1900089"/>
            <a:ext cx="2219102" cy="830163"/>
          </a:xfrm>
          <a:prstGeom prst="roundRect">
            <a:avLst>
              <a:gd fmla="val 196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483022" y="1900089"/>
            <a:ext cx="2229817" cy="830163"/>
          </a:xfrm>
          <a:prstGeom prst="roundRect">
            <a:avLst>
              <a:gd fmla="val 196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618679" y="2008584"/>
            <a:ext cx="1958504" cy="6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WRONG: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if x = 5:   # SyntaxError!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CORRECT: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if x == 5:  # Works!</a:t>
            </a:r>
            <a:endParaRPr b="0" i="0" sz="850" u="none" cap="none" strike="noStrike"/>
          </a:p>
        </p:txBody>
      </p:sp>
      <p:sp>
        <p:nvSpPr>
          <p:cNvPr id="276" name="Google Shape;276;p24"/>
          <p:cNvSpPr/>
          <p:nvPr/>
        </p:nvSpPr>
        <p:spPr>
          <a:xfrm>
            <a:off x="2899023" y="763563"/>
            <a:ext cx="2436093" cy="2075185"/>
          </a:xfrm>
          <a:prstGeom prst="roundRect">
            <a:avLst>
              <a:gd fmla="val 78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3007519" y="872058"/>
            <a:ext cx="325562" cy="325562"/>
          </a:xfrm>
          <a:prstGeom prst="roundRect">
            <a:avLst>
              <a:gd fmla="val 17552505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7039" y="961579"/>
            <a:ext cx="146521" cy="14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/>
          <p:nvPr/>
        </p:nvSpPr>
        <p:spPr>
          <a:xfrm>
            <a:off x="3007519" y="1280666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is vs ==</a:t>
            </a:r>
            <a:endParaRPr b="0" i="0" sz="1050" u="none" cap="none" strike="noStrike"/>
          </a:p>
        </p:txBody>
      </p:sp>
      <p:sp>
        <p:nvSpPr>
          <p:cNvPr id="280" name="Google Shape;280;p24"/>
          <p:cNvSpPr/>
          <p:nvPr/>
        </p:nvSpPr>
        <p:spPr>
          <a:xfrm>
            <a:off x="3007519" y="1500039"/>
            <a:ext cx="2219102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checks identity, not equality — objects can be equal but not identical.</a:t>
            </a:r>
            <a:endParaRPr b="0" i="0" sz="850" u="none" cap="none" strike="noStrike"/>
          </a:p>
        </p:txBody>
      </p:sp>
      <p:sp>
        <p:nvSpPr>
          <p:cNvPr id="281" name="Google Shape;281;p24"/>
          <p:cNvSpPr/>
          <p:nvPr/>
        </p:nvSpPr>
        <p:spPr>
          <a:xfrm>
            <a:off x="3007519" y="1900089"/>
            <a:ext cx="2219102" cy="830163"/>
          </a:xfrm>
          <a:prstGeom prst="roundRect">
            <a:avLst>
              <a:gd fmla="val 196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3002161" y="1900089"/>
            <a:ext cx="2229817" cy="830163"/>
          </a:xfrm>
          <a:prstGeom prst="roundRect">
            <a:avLst>
              <a:gd fmla="val 196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3137818" y="2008584"/>
            <a:ext cx="1958504" cy="6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= [1, 2]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b = [1, 2]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== b   # True  ✓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is b   # False ✗</a:t>
            </a:r>
            <a:endParaRPr b="0" i="0" sz="850" u="none" cap="none" strike="noStrike"/>
          </a:p>
        </p:txBody>
      </p:sp>
      <p:sp>
        <p:nvSpPr>
          <p:cNvPr id="284" name="Google Shape;284;p24"/>
          <p:cNvSpPr/>
          <p:nvPr/>
        </p:nvSpPr>
        <p:spPr>
          <a:xfrm>
            <a:off x="379884" y="2921794"/>
            <a:ext cx="4955232" cy="1921892"/>
          </a:xfrm>
          <a:prstGeom prst="roundRect">
            <a:avLst>
              <a:gd fmla="val 84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488379" y="3030289"/>
            <a:ext cx="325562" cy="325562"/>
          </a:xfrm>
          <a:prstGeom prst="roundRect">
            <a:avLst>
              <a:gd fmla="val 17552505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900" y="3119810"/>
            <a:ext cx="146521" cy="14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488379" y="3438897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Medium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 vs //</a:t>
            </a:r>
            <a:endParaRPr b="0" i="0" sz="1050" u="none" cap="none" strike="noStrike"/>
          </a:p>
        </p:txBody>
      </p:sp>
      <p:sp>
        <p:nvSpPr>
          <p:cNvPr id="288" name="Google Shape;288;p24"/>
          <p:cNvSpPr/>
          <p:nvPr/>
        </p:nvSpPr>
        <p:spPr>
          <a:xfrm>
            <a:off x="488379" y="3658270"/>
            <a:ext cx="4738241" cy="153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Choose the right division operator for your use case.</a:t>
            </a:r>
            <a:endParaRPr b="0" i="0" sz="850" u="none" cap="none" strike="noStrike"/>
          </a:p>
        </p:txBody>
      </p:sp>
      <p:sp>
        <p:nvSpPr>
          <p:cNvPr id="289" name="Google Shape;289;p24"/>
          <p:cNvSpPr/>
          <p:nvPr/>
        </p:nvSpPr>
        <p:spPr>
          <a:xfrm>
            <a:off x="488379" y="3905027"/>
            <a:ext cx="4738241" cy="830163"/>
          </a:xfrm>
          <a:prstGeom prst="roundRect">
            <a:avLst>
              <a:gd fmla="val 196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483022" y="3905027"/>
            <a:ext cx="4748957" cy="830163"/>
          </a:xfrm>
          <a:prstGeom prst="roundRect">
            <a:avLst>
              <a:gd fmla="val 196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618679" y="4013522"/>
            <a:ext cx="4477643" cy="6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7 / 2 # 3.5 (float)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7 // 2 # 3 (integer)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Use // when you need</a:t>
            </a:r>
            <a:endParaRPr b="0" i="0" sz="850" u="none" cap="none" strike="noStrike"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a whole number result</a:t>
            </a:r>
            <a:endParaRPr b="0" i="0" sz="850" u="none" cap="none" strike="noStrike"/>
          </a:p>
        </p:txBody>
      </p:sp>
      <p:pic>
        <p:nvPicPr>
          <p:cNvPr id="292" name="Google Shape;292;p24" title="Logo Blac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/>
          <p:nvPr/>
        </p:nvSpPr>
        <p:spPr>
          <a:xfrm>
            <a:off x="441871" y="394320"/>
            <a:ext cx="4456733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50"/>
              <a:buFont typeface="DM Sans Medium"/>
              <a:buNone/>
            </a:pPr>
            <a:r>
              <a:rPr b="0" i="0" lang="en-US" sz="2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Practice: Put It All Together</a:t>
            </a:r>
            <a:endParaRPr b="0" i="0" sz="2450" u="none" cap="none" strike="noStrike"/>
          </a:p>
        </p:txBody>
      </p:sp>
      <p:sp>
        <p:nvSpPr>
          <p:cNvPr id="299" name="Google Shape;299;p25"/>
          <p:cNvSpPr/>
          <p:nvPr/>
        </p:nvSpPr>
        <p:spPr>
          <a:xfrm>
            <a:off x="441871" y="1013743"/>
            <a:ext cx="8702129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Try these hands-on exercises to reinforce what you've learned about Python operators.</a:t>
            </a:r>
            <a:endParaRPr b="0" i="0" sz="950" u="none" cap="none" strike="noStrike"/>
          </a:p>
        </p:txBody>
      </p:sp>
      <p:sp>
        <p:nvSpPr>
          <p:cNvPr id="300" name="Google Shape;300;p25"/>
          <p:cNvSpPr/>
          <p:nvPr/>
        </p:nvSpPr>
        <p:spPr>
          <a:xfrm>
            <a:off x="441871" y="1331193"/>
            <a:ext cx="284038" cy="284038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489161" y="1354820"/>
            <a:ext cx="189384" cy="23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DM Sans Medium"/>
              <a:buNone/>
            </a:pPr>
            <a:r>
              <a:rPr b="0" i="0" lang="en-US" sz="1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1450" u="none" cap="none" strike="noStrike"/>
          </a:p>
        </p:txBody>
      </p:sp>
      <p:sp>
        <p:nvSpPr>
          <p:cNvPr id="302" name="Google Shape;302;p25"/>
          <p:cNvSpPr/>
          <p:nvPr/>
        </p:nvSpPr>
        <p:spPr>
          <a:xfrm>
            <a:off x="838349" y="1374577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Even or Odd Checker</a:t>
            </a:r>
            <a:endParaRPr b="0" i="0" sz="1200" u="none" cap="none" strike="noStrike"/>
          </a:p>
        </p:txBody>
      </p:sp>
      <p:sp>
        <p:nvSpPr>
          <p:cNvPr id="303" name="Google Shape;303;p25"/>
          <p:cNvSpPr/>
          <p:nvPr/>
        </p:nvSpPr>
        <p:spPr>
          <a:xfrm>
            <a:off x="838349" y="1639267"/>
            <a:ext cx="2263229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Write a program that checks if a number is even using the modulus operator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/>
          </a:p>
        </p:txBody>
      </p:sp>
      <p:sp>
        <p:nvSpPr>
          <p:cNvPr id="304" name="Google Shape;304;p25"/>
          <p:cNvSpPr/>
          <p:nvPr/>
        </p:nvSpPr>
        <p:spPr>
          <a:xfrm>
            <a:off x="838349" y="2338611"/>
            <a:ext cx="2263229" cy="1398091"/>
          </a:xfrm>
          <a:prstGeom prst="roundRect">
            <a:avLst>
              <a:gd fmla="val 135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832098" y="2338611"/>
            <a:ext cx="2275731" cy="1398091"/>
          </a:xfrm>
          <a:prstGeom prst="roundRect">
            <a:avLst>
              <a:gd fmla="val 135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989856" y="2464817"/>
            <a:ext cx="1960215" cy="1145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num = int(input("Enter a number: "))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if num % 2 == 0: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print("Even!")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print("Odd!")</a:t>
            </a:r>
            <a:endParaRPr b="0" i="0" sz="950" u="none" cap="none" strike="noStrike"/>
          </a:p>
        </p:txBody>
      </p:sp>
      <p:sp>
        <p:nvSpPr>
          <p:cNvPr id="307" name="Google Shape;307;p25"/>
          <p:cNvSpPr/>
          <p:nvPr/>
        </p:nvSpPr>
        <p:spPr>
          <a:xfrm>
            <a:off x="3242072" y="1331193"/>
            <a:ext cx="284038" cy="284038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3289362" y="1354820"/>
            <a:ext cx="189384" cy="23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DM Sans Medium"/>
              <a:buNone/>
            </a:pPr>
            <a:r>
              <a:rPr b="0" i="0" lang="en-US" sz="1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1450" u="none" cap="none" strike="noStrike"/>
          </a:p>
        </p:txBody>
      </p:sp>
      <p:sp>
        <p:nvSpPr>
          <p:cNvPr id="309" name="Google Shape;309;p25"/>
          <p:cNvSpPr/>
          <p:nvPr/>
        </p:nvSpPr>
        <p:spPr>
          <a:xfrm>
            <a:off x="3638550" y="1374577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Login Validator</a:t>
            </a:r>
            <a:endParaRPr b="0" i="0" sz="1200" u="none" cap="none" strike="noStrike"/>
          </a:p>
        </p:txBody>
      </p:sp>
      <p:sp>
        <p:nvSpPr>
          <p:cNvPr id="310" name="Google Shape;310;p25"/>
          <p:cNvSpPr/>
          <p:nvPr/>
        </p:nvSpPr>
        <p:spPr>
          <a:xfrm>
            <a:off x="3638550" y="1639267"/>
            <a:ext cx="2263304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validate a login: username exists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password is correct.</a:t>
            </a:r>
            <a:endParaRPr b="0" i="0" sz="950" u="none" cap="none" strike="noStrike"/>
          </a:p>
        </p:txBody>
      </p:sp>
      <p:sp>
        <p:nvSpPr>
          <p:cNvPr id="311" name="Google Shape;311;p25"/>
          <p:cNvSpPr/>
          <p:nvPr/>
        </p:nvSpPr>
        <p:spPr>
          <a:xfrm>
            <a:off x="3638550" y="2338611"/>
            <a:ext cx="2263304" cy="1589038"/>
          </a:xfrm>
          <a:prstGeom prst="roundRect">
            <a:avLst>
              <a:gd fmla="val 1192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3632299" y="2338611"/>
            <a:ext cx="2275805" cy="1589038"/>
          </a:xfrm>
          <a:prstGeom prst="roundRect">
            <a:avLst>
              <a:gd fmla="val 1192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3790057" y="2464817"/>
            <a:ext cx="1960290" cy="13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username = "admin"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password = "1234"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if username == "admin" and password == "1234":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print("Access granted!")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print("Access denied.")</a:t>
            </a:r>
            <a:endParaRPr b="0" i="0" sz="950" u="none" cap="none" strike="noStrike"/>
          </a:p>
        </p:txBody>
      </p:sp>
      <p:sp>
        <p:nvSpPr>
          <p:cNvPr id="314" name="Google Shape;314;p25"/>
          <p:cNvSpPr/>
          <p:nvPr/>
        </p:nvSpPr>
        <p:spPr>
          <a:xfrm>
            <a:off x="6042347" y="1331193"/>
            <a:ext cx="284038" cy="284038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6089638" y="1354820"/>
            <a:ext cx="189384" cy="23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DM Sans Medium"/>
              <a:buNone/>
            </a:pPr>
            <a:r>
              <a:rPr b="0" i="0" lang="en-US" sz="1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1450" u="none" cap="none" strike="noStrike"/>
          </a:p>
        </p:txBody>
      </p:sp>
      <p:sp>
        <p:nvSpPr>
          <p:cNvPr id="316" name="Google Shape;316;p25"/>
          <p:cNvSpPr/>
          <p:nvPr/>
        </p:nvSpPr>
        <p:spPr>
          <a:xfrm>
            <a:off x="6438826" y="1374577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Letter Finder</a:t>
            </a:r>
            <a:endParaRPr b="0" i="0" sz="1200" u="none" cap="none" strike="noStrike"/>
          </a:p>
        </p:txBody>
      </p:sp>
      <p:sp>
        <p:nvSpPr>
          <p:cNvPr id="317" name="Google Shape;317;p25"/>
          <p:cNvSpPr/>
          <p:nvPr/>
        </p:nvSpPr>
        <p:spPr>
          <a:xfrm>
            <a:off x="6438826" y="1639267"/>
            <a:ext cx="2263304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Try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search for a letter in a word entered by the user.</a:t>
            </a:r>
            <a:endParaRPr b="0" i="0" sz="950" u="none" cap="none" strike="noStrike"/>
          </a:p>
        </p:txBody>
      </p:sp>
      <p:sp>
        <p:nvSpPr>
          <p:cNvPr id="318" name="Google Shape;318;p25"/>
          <p:cNvSpPr/>
          <p:nvPr/>
        </p:nvSpPr>
        <p:spPr>
          <a:xfrm>
            <a:off x="6438826" y="2147664"/>
            <a:ext cx="2263304" cy="1779984"/>
          </a:xfrm>
          <a:prstGeom prst="roundRect">
            <a:avLst>
              <a:gd fmla="val 106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6432575" y="2147664"/>
            <a:ext cx="2275805" cy="1779984"/>
          </a:xfrm>
          <a:prstGeom prst="roundRect">
            <a:avLst>
              <a:gd fmla="val 106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6590333" y="2273871"/>
            <a:ext cx="1960290" cy="152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word = input("Enter a word: ")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letter = input("Search for a letter: ")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if letter in word: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print(f"'{letter}' found in '{word}'!")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950" u="none" cap="none" strike="noStrike"/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print("Not found.")</a:t>
            </a:r>
            <a:endParaRPr b="0" i="0" sz="950" u="none" cap="none" strike="noStrike"/>
          </a:p>
        </p:txBody>
      </p:sp>
      <p:sp>
        <p:nvSpPr>
          <p:cNvPr id="321" name="Google Shape;321;p25"/>
          <p:cNvSpPr/>
          <p:nvPr/>
        </p:nvSpPr>
        <p:spPr>
          <a:xfrm>
            <a:off x="441871" y="4054153"/>
            <a:ext cx="8260259" cy="694953"/>
          </a:xfrm>
          <a:prstGeom prst="roundRect">
            <a:avLst>
              <a:gd fmla="val 272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77" y="4244355"/>
            <a:ext cx="157758" cy="12620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/>
          <p:nvPr/>
        </p:nvSpPr>
        <p:spPr>
          <a:xfrm>
            <a:off x="852041" y="4198144"/>
            <a:ext cx="7723882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You've covered all 7 Python operator types! </a:t>
            </a: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experimenting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 the Python console — practice is the fastest path to mastery. 🐍</a:t>
            </a:r>
            <a:endParaRPr b="0" i="0" sz="950" u="none" cap="none" strike="noStrike"/>
          </a:p>
        </p:txBody>
      </p:sp>
      <p:pic>
        <p:nvPicPr>
          <p:cNvPr id="324" name="Google Shape;324;p25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4050" y="162200"/>
            <a:ext cx="2090875" cy="3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