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DM Sans Medium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Italic.fntdata"/><Relationship Id="rId11" Type="http://schemas.openxmlformats.org/officeDocument/2006/relationships/slide" Target="slides/slide7.xml"/><Relationship Id="rId22" Type="http://schemas.openxmlformats.org/officeDocument/2006/relationships/font" Target="fonts/Inter-bold.fntdata"/><Relationship Id="rId10" Type="http://schemas.openxmlformats.org/officeDocument/2006/relationships/slide" Target="slides/slide6.xml"/><Relationship Id="rId21" Type="http://schemas.openxmlformats.org/officeDocument/2006/relationships/font" Target="fonts/Inter-regular.fntdata"/><Relationship Id="rId13" Type="http://schemas.openxmlformats.org/officeDocument/2006/relationships/slide" Target="slides/slide9.xml"/><Relationship Id="rId24" Type="http://schemas.openxmlformats.org/officeDocument/2006/relationships/font" Target="fonts/Inter-boldItalic.fntdata"/><Relationship Id="rId12" Type="http://schemas.openxmlformats.org/officeDocument/2006/relationships/slide" Target="slides/slide8.xml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DMSansMedium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DMSansMedium-italic.fntdata"/><Relationship Id="rId6" Type="http://schemas.openxmlformats.org/officeDocument/2006/relationships/slide" Target="slides/slide2.xml"/><Relationship Id="rId18" Type="http://schemas.openxmlformats.org/officeDocument/2006/relationships/font" Target="fonts/DMSans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5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Python String Operations: Indexing, Slicing &amp; Methods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5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practical guide for students learning to work with text in Python.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5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00" y="7145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6"/>
          <p:cNvSpPr/>
          <p:nvPr/>
        </p:nvSpPr>
        <p:spPr>
          <a:xfrm>
            <a:off x="496119" y="794519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Why Strings Matter in Python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6"/>
          <p:cNvSpPr/>
          <p:nvPr/>
        </p:nvSpPr>
        <p:spPr>
          <a:xfrm>
            <a:off x="496119" y="1893094"/>
            <a:ext cx="2290465" cy="1270471"/>
          </a:xfrm>
          <a:prstGeom prst="roundRect">
            <a:avLst>
              <a:gd fmla="val 167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6"/>
          <p:cNvSpPr/>
          <p:nvPr/>
        </p:nvSpPr>
        <p:spPr>
          <a:xfrm>
            <a:off x="637877" y="203485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Everywhere in Code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637877" y="2341364"/>
            <a:ext cx="200694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Strings are one of the most-used data types — text, user input, file content, web 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6"/>
          <p:cNvSpPr/>
          <p:nvPr/>
        </p:nvSpPr>
        <p:spPr>
          <a:xfrm>
            <a:off x="2928342" y="1893094"/>
            <a:ext cx="2290539" cy="1270471"/>
          </a:xfrm>
          <a:prstGeom prst="roundRect">
            <a:avLst>
              <a:gd fmla="val 167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6"/>
          <p:cNvSpPr/>
          <p:nvPr/>
        </p:nvSpPr>
        <p:spPr>
          <a:xfrm>
            <a:off x="3070101" y="2034853"/>
            <a:ext cx="185328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Powerful Built-in Tools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6"/>
          <p:cNvSpPr/>
          <p:nvPr/>
        </p:nvSpPr>
        <p:spPr>
          <a:xfrm>
            <a:off x="3070101" y="2341364"/>
            <a:ext cx="20070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Python gives you built-in methods to slice, search, and transform strings with ease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/>
          <p:nvPr/>
        </p:nvSpPr>
        <p:spPr>
          <a:xfrm>
            <a:off x="496119" y="3305324"/>
            <a:ext cx="4722763" cy="1043657"/>
          </a:xfrm>
          <a:prstGeom prst="roundRect">
            <a:avLst>
              <a:gd fmla="val 203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6"/>
          <p:cNvSpPr/>
          <p:nvPr/>
        </p:nvSpPr>
        <p:spPr>
          <a:xfrm>
            <a:off x="637877" y="344708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Real-World Skills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637877" y="3753594"/>
            <a:ext cx="443924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Mastering string operations unlocks practical programming tasks from day one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6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00" y="7145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496119" y="770334"/>
            <a:ext cx="84533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String Indexing: Accessing Individual Characters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" name="Google Shape;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/>
          <p:nvPr/>
        </p:nvSpPr>
        <p:spPr>
          <a:xfrm>
            <a:off x="3474988" y="1735485"/>
            <a:ext cx="5634782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Each character in a string has a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position (index)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starting at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" name="Google Shape;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5938" y="2126531"/>
            <a:ext cx="2536924" cy="91640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/>
          <p:nvPr/>
        </p:nvSpPr>
        <p:spPr>
          <a:xfrm>
            <a:off x="3692947" y="228733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Positive Index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3692947" y="2650554"/>
            <a:ext cx="2139107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word[0]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first character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" name="Google Shape;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571" y="2126531"/>
            <a:ext cx="2536999" cy="91640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/>
          <p:nvPr/>
        </p:nvSpPr>
        <p:spPr>
          <a:xfrm>
            <a:off x="6352580" y="228733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Negative Index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6352580" y="2650554"/>
            <a:ext cx="2139181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word[-1]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last character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3474988" y="3202409"/>
            <a:ext cx="5177582" cy="829196"/>
          </a:xfrm>
          <a:prstGeom prst="roundRect">
            <a:avLst>
              <a:gd fmla="val 2565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6747" y="3417466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3935685" y="3379589"/>
            <a:ext cx="457512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Think of indexes like house numbers on a street — every character has its own address!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7" title="Logo Black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7675" y="16670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1515145" y="308893"/>
            <a:ext cx="4145607" cy="276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DM Sans Medium"/>
              <a:buNone/>
            </a:pPr>
            <a:r>
              <a:rPr b="0" i="0" lang="en-US" sz="17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String Slicing: Extracting Substrings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1515145" y="696516"/>
            <a:ext cx="6570911" cy="115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Grab a portion of any string using the slice syntax: </a:t>
            </a:r>
            <a:r>
              <a:rPr b="0" i="0" lang="en-US" sz="6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string[start:stop:step]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5668" y="873993"/>
            <a:ext cx="3452589" cy="32568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/>
          <p:nvPr/>
        </p:nvSpPr>
        <p:spPr>
          <a:xfrm>
            <a:off x="2948557" y="2979311"/>
            <a:ext cx="1324648" cy="17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Start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177157" y="3200164"/>
            <a:ext cx="1096048" cy="33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Inclusive index where slicing begins.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773889" y="1531255"/>
            <a:ext cx="1324649" cy="17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Stop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4002489" y="1752107"/>
            <a:ext cx="1096049" cy="22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Exclusive index where slicing ends.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4648034" y="2979311"/>
            <a:ext cx="1324649" cy="17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Step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4876634" y="3200164"/>
            <a:ext cx="1096049" cy="33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Stride determining which elements to skip.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1515145" y="4193158"/>
            <a:ext cx="6113711" cy="463897"/>
          </a:xfrm>
          <a:prstGeom prst="roundRect">
            <a:avLst>
              <a:gd fmla="val 2865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1515145" y="4193158"/>
            <a:ext cx="3056855" cy="463897"/>
          </a:xfrm>
          <a:prstGeom prst="roundRect">
            <a:avLst>
              <a:gd fmla="val 2865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1603697" y="4281711"/>
            <a:ext cx="1107504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DM Sans Medium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Basic Slice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1603697" y="4453310"/>
            <a:ext cx="2879750" cy="115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"Python"[0:3]</a:t>
            </a:r>
            <a:r>
              <a:rPr b="0" i="0" lang="en-US" sz="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6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"Pyt"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572000" y="4193158"/>
            <a:ext cx="3056855" cy="463897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4572000" y="4193158"/>
            <a:ext cx="9525" cy="463897"/>
          </a:xfrm>
          <a:prstGeom prst="roundRect">
            <a:avLst>
              <a:gd fmla="val 139535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660553" y="4281711"/>
            <a:ext cx="1107504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DM Sans Medium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Reverse a String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660553" y="4453310"/>
            <a:ext cx="2879750" cy="115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"Python"[::-1]</a:t>
            </a:r>
            <a:r>
              <a:rPr b="0" i="0" lang="en-US" sz="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6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"nohtyP"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1515145" y="4719340"/>
            <a:ext cx="6570911" cy="115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Remember:</a:t>
            </a:r>
            <a:r>
              <a:rPr b="0" i="0" lang="en-US" sz="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6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i="0" lang="en-US" sz="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is inclusive, </a:t>
            </a:r>
            <a:r>
              <a:rPr b="0" i="0" lang="en-US" sz="6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stop</a:t>
            </a:r>
            <a:r>
              <a:rPr b="0" i="0" lang="en-US" sz="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is exclusive.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8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7675" y="16670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472901" y="388888"/>
            <a:ext cx="3835226" cy="4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50"/>
              <a:buFont typeface="DM Sans Medium"/>
              <a:buNone/>
            </a:pPr>
            <a:r>
              <a:rPr b="0" i="0" lang="en-US" sz="2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Cleaning Text: </a:t>
            </a:r>
            <a:r>
              <a:rPr b="0" i="0" lang="en-US" sz="26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strip()</a:t>
            </a:r>
            <a:endParaRPr b="0" i="0" sz="2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" name="Google Shape;1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901" y="1563812"/>
            <a:ext cx="2655094" cy="265509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3462412" y="1144042"/>
            <a:ext cx="5670649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Removes leading and trailing whitespace — or any specified characters.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3462412" y="1500039"/>
            <a:ext cx="5213449" cy="903461"/>
          </a:xfrm>
          <a:prstGeom prst="roundRect">
            <a:avLst>
              <a:gd fmla="val 224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3455715" y="1500039"/>
            <a:ext cx="5226844" cy="903461"/>
          </a:xfrm>
          <a:prstGeom prst="roundRect">
            <a:avLst>
              <a:gd fmla="val 224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3624560" y="1635100"/>
            <a:ext cx="4889153" cy="63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 hello ".strip()   → "hello"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 hello ".lstrip()  → "hello "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 hello ".rstrip()  → " hello"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088" y="2552514"/>
            <a:ext cx="202629" cy="20262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3901455" y="2548384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lstrip()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3901455" y="2888233"/>
            <a:ext cx="477440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Strips from the </a:t>
            </a:r>
            <a:r>
              <a:rPr b="1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left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side only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7" name="Google Shape;1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088" y="3361023"/>
            <a:ext cx="202629" cy="20262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3901455" y="3356893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rstrip()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3901455" y="3696742"/>
            <a:ext cx="477440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Strips from the </a:t>
            </a:r>
            <a:r>
              <a:rPr b="1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right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side only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3462412" y="4052739"/>
            <a:ext cx="5213449" cy="556915"/>
          </a:xfrm>
          <a:prstGeom prst="roundRect">
            <a:avLst>
              <a:gd fmla="val 3639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1" name="Google Shape;1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7473" y="4255666"/>
            <a:ext cx="168846" cy="13506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3901380" y="4215185"/>
            <a:ext cx="5096619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Essential for cleaning user input and data read from files.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9" title="Logo 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7675" y="16670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3603500" y="553175"/>
            <a:ext cx="5615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150"/>
              <a:buFont typeface="DM Sans Medium"/>
              <a:buNone/>
            </a:pPr>
            <a:r>
              <a:rPr b="0" i="0" lang="en-US" sz="2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Changing Case: </a:t>
            </a:r>
            <a:r>
              <a:rPr b="0" i="0" lang="en-US" sz="21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upper()</a:t>
            </a:r>
            <a:r>
              <a:rPr b="0" i="0" lang="en-US" sz="2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</a:t>
            </a:r>
            <a:r>
              <a:rPr b="0" i="0" lang="en-US" sz="21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lower()</a:t>
            </a:r>
            <a:r>
              <a:rPr b="0" i="0" lang="en-US" sz="2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</a:t>
            </a:r>
            <a:r>
              <a:rPr b="0" i="0" lang="en-US" sz="21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title()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1" name="Google Shape;1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6623" y="1031211"/>
            <a:ext cx="276820" cy="27682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/>
          <p:nvPr/>
        </p:nvSpPr>
        <p:spPr>
          <a:xfrm>
            <a:off x="3816623" y="1416155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upper()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3816623" y="1641035"/>
            <a:ext cx="4939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"hello".upper()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"HELLO"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40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Converts every character to uppercase.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4" name="Google Shape;13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6623" y="2181429"/>
            <a:ext cx="276820" cy="2768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3816623" y="2566373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lower()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3816623" y="2791253"/>
            <a:ext cx="4939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"WORLD".lower()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"world"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40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Converts every character to lowercase.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7" name="Google Shape;1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6623" y="3331648"/>
            <a:ext cx="276820" cy="2768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/>
          <p:nvPr/>
        </p:nvSpPr>
        <p:spPr>
          <a:xfrm>
            <a:off x="3816623" y="3716592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title()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3816623" y="3941471"/>
            <a:ext cx="4939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"python is fun".title()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"Python Is Fun"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40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Capitalizes the first letter of each word.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3816623" y="4406187"/>
            <a:ext cx="4939800" cy="562800"/>
          </a:xfrm>
          <a:prstGeom prst="roundRect">
            <a:avLst>
              <a:gd fmla="val 295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1" name="Google Shape;14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27351" y="4566772"/>
            <a:ext cx="138410" cy="11072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/>
          <p:nvPr/>
        </p:nvSpPr>
        <p:spPr>
          <a:xfrm>
            <a:off x="4176489" y="4520338"/>
            <a:ext cx="4469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Useful for </a:t>
            </a:r>
            <a:r>
              <a:rPr b="1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normalizing input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before comparisons — e.g. convert to lowercase before checking equality.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0" title="Logo Black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9575" y="8335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>
            <a:off x="465162" y="422151"/>
            <a:ext cx="4212654" cy="43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00"/>
              <a:buFont typeface="DM Sans Medium"/>
              <a:buNone/>
            </a:pP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Swapping Text: </a:t>
            </a:r>
            <a:r>
              <a:rPr b="0" i="0" lang="en-US" sz="26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replace()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465162" y="1172691"/>
            <a:ext cx="21184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How It Works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465162" y="1504950"/>
            <a:ext cx="568263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Replaces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all occurrences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of a substring with another string.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465162" y="1851050"/>
            <a:ext cx="5225430" cy="677763"/>
          </a:xfrm>
          <a:prstGeom prst="roundRect">
            <a:avLst>
              <a:gd fmla="val 294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458539" y="1851050"/>
            <a:ext cx="5238676" cy="677763"/>
          </a:xfrm>
          <a:prstGeom prst="roundRect">
            <a:avLst>
              <a:gd fmla="val 294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624632" y="1983953"/>
            <a:ext cx="4906491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"I like cats".replace("cats", "dogs")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→ "I like dogs"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465162" y="2668935"/>
            <a:ext cx="568263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An optional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third argument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limits the number of replacements: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465162" y="3015035"/>
            <a:ext cx="5225430" cy="677763"/>
          </a:xfrm>
          <a:prstGeom prst="roundRect">
            <a:avLst>
              <a:gd fmla="val 294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458539" y="3015035"/>
            <a:ext cx="5238676" cy="677763"/>
          </a:xfrm>
          <a:prstGeom prst="roundRect">
            <a:avLst>
              <a:gd fmla="val 294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624632" y="3147938"/>
            <a:ext cx="4906491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"aaa".replace("a", "b", 2)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→ "bba"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465162" y="3832920"/>
            <a:ext cx="5225430" cy="748233"/>
          </a:xfrm>
          <a:prstGeom prst="roundRect">
            <a:avLst>
              <a:gd fmla="val 2664" name="adj"/>
            </a:avLst>
          </a:prstGeom>
          <a:solidFill>
            <a:srgbClr val="D6D6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0" name="Google Shape;1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66" y="4030340"/>
            <a:ext cx="166092" cy="132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>
            <a:off x="897062" y="3990677"/>
            <a:ext cx="4660627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Without the third argument, every match is replaced throughout the entire string.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2" name="Google Shape;1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502" y="1552649"/>
            <a:ext cx="2664023" cy="266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Logo 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7675" y="16670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1438721" y="278160"/>
            <a:ext cx="2934593" cy="298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Medium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Breaking It Apart: </a:t>
            </a:r>
            <a:r>
              <a:rPr b="0" i="0" lang="en-US" sz="1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split()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1438721" y="692497"/>
            <a:ext cx="6723757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Splits a string into a </a:t>
            </a:r>
            <a:r>
              <a:rPr b="1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</a:t>
            </a: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of substrings based on a separator.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1" name="Google Shape;1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405" y="877044"/>
            <a:ext cx="3665116" cy="329133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/>
          <p:nvPr/>
        </p:nvSpPr>
        <p:spPr>
          <a:xfrm>
            <a:off x="2609493" y="1529424"/>
            <a:ext cx="1594684" cy="176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Input String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3526646" y="3340915"/>
            <a:ext cx="1551700" cy="176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Apply split()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4701016" y="1898263"/>
            <a:ext cx="1551700" cy="176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Output List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1438721" y="4233788"/>
            <a:ext cx="2050107" cy="631552"/>
          </a:xfrm>
          <a:prstGeom prst="roundRect">
            <a:avLst>
              <a:gd fmla="val 215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1529507" y="4324573"/>
            <a:ext cx="113518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DM Sans Medium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Custom Separator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1529507" y="4501381"/>
            <a:ext cx="1868537" cy="273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"a,b,c".split(",")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25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0" i="0" lang="en-US" sz="7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["a", "b", "c"]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3546946" y="4233788"/>
            <a:ext cx="2050107" cy="631552"/>
          </a:xfrm>
          <a:prstGeom prst="roundRect">
            <a:avLst>
              <a:gd fmla="val 215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3637731" y="4324573"/>
            <a:ext cx="1142554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DM Sans Medium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Default (Whitespace)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3637731" y="4501381"/>
            <a:ext cx="1868537" cy="273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"hello world".split()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25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0" i="0" lang="en-US" sz="7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["hello", "world"]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5655171" y="4233788"/>
            <a:ext cx="2050107" cy="631552"/>
          </a:xfrm>
          <a:prstGeom prst="roundRect">
            <a:avLst>
              <a:gd fmla="val 215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5745956" y="4324573"/>
            <a:ext cx="113518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DM Sans Medium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Use With Loops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745956" y="4501381"/>
            <a:ext cx="1868537" cy="238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Pairs perfectly with </a:t>
            </a:r>
            <a:r>
              <a:rPr b="0" i="0" lang="en-US" sz="7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loops to process each word or token individually.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2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7675" y="16670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>
            <a:off x="496119" y="756047"/>
            <a:ext cx="4399136" cy="4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Searching Strings: </a:t>
            </a: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find()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99679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/>
          <p:nvPr/>
        </p:nvSpPr>
        <p:spPr>
          <a:xfrm>
            <a:off x="3474988" y="1571327"/>
            <a:ext cx="563478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the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index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of the first occurrence of a substring within a string.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3474988" y="1957611"/>
            <a:ext cx="5177582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3467919" y="1957611"/>
            <a:ext cx="5191720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3645098" y="2099370"/>
            <a:ext cx="483736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"banana".find("an")  →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"banana".find("xyz") → -1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6" name="Google Shape;1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5938" y="2854226"/>
            <a:ext cx="1650355" cy="1370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/>
          <p:nvPr/>
        </p:nvSpPr>
        <p:spPr>
          <a:xfrm>
            <a:off x="3692947" y="3015035"/>
            <a:ext cx="125253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Found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3692947" y="3378250"/>
            <a:ext cx="125253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the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starting index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of the first match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9" name="Google Shape;19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9002" y="2854226"/>
            <a:ext cx="1650429" cy="1370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/>
          <p:nvPr/>
        </p:nvSpPr>
        <p:spPr>
          <a:xfrm>
            <a:off x="5466011" y="3015035"/>
            <a:ext cx="125261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Not Found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5466011" y="3378250"/>
            <a:ext cx="1252612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never raises an error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2" name="Google Shape;2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2140" y="2854226"/>
            <a:ext cx="1650429" cy="1370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/>
          <p:nvPr/>
        </p:nvSpPr>
        <p:spPr>
          <a:xfrm>
            <a:off x="7239149" y="3015035"/>
            <a:ext cx="125261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rfind()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7239149" y="3378250"/>
            <a:ext cx="1252612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rfind()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search from the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right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side instead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3" title="Logo Black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7675" y="16670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/>
          <p:nvPr/>
        </p:nvSpPr>
        <p:spPr>
          <a:xfrm>
            <a:off x="457349" y="406747"/>
            <a:ext cx="5173787" cy="432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50"/>
              <a:buFont typeface="DM Sans Medium"/>
              <a:buNone/>
            </a:pPr>
            <a:r>
              <a:rPr b="0" i="0" lang="en-US" sz="25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Counting Occurrences: </a:t>
            </a:r>
            <a:r>
              <a:rPr b="0" i="0" lang="en-US" sz="25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count()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457349" y="887090"/>
            <a:ext cx="2090812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How It Works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57349" y="1271885"/>
            <a:ext cx="8686502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how many times a substring appears in a string.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457349" y="1608237"/>
            <a:ext cx="8229302" cy="863873"/>
          </a:xfrm>
          <a:prstGeom prst="roundRect">
            <a:avLst>
              <a:gd fmla="val 226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0875" y="1608237"/>
            <a:ext cx="8242250" cy="863873"/>
          </a:xfrm>
          <a:prstGeom prst="roundRect">
            <a:avLst>
              <a:gd fmla="val 226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614214" y="1738908"/>
            <a:ext cx="7915573" cy="602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"banana".count("a")      → 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"banana".count("a", 2)   → 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"banana".count("a", 2, 5) →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457349" y="2607618"/>
            <a:ext cx="8686502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Accepts optional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start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end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index arguments to limit the search range.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457349" y="2943969"/>
            <a:ext cx="8229302" cy="527745"/>
          </a:xfrm>
          <a:prstGeom prst="roundRect">
            <a:avLst>
              <a:gd fmla="val 3715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020" y="3140571"/>
            <a:ext cx="163339" cy="130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/>
          <p:nvPr/>
        </p:nvSpPr>
        <p:spPr>
          <a:xfrm>
            <a:off x="882030" y="3097113"/>
            <a:ext cx="8131150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Non-overlapping matches only — </a:t>
            </a:r>
            <a:r>
              <a:rPr b="0" i="0" lang="en-US" sz="10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"aaa".count("aa")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returns </a:t>
            </a:r>
            <a:r>
              <a:rPr b="0" i="0" lang="en-US" sz="10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not </a:t>
            </a:r>
            <a:r>
              <a:rPr b="0" i="0" lang="en-US" sz="10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457349" y="3672557"/>
            <a:ext cx="4039344" cy="43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350"/>
              <a:buFont typeface="DM Sans Medium"/>
              <a:buNone/>
            </a:pPr>
            <a:r>
              <a:rPr b="0" i="0" lang="en-US" sz="3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3</a:t>
            </a:r>
            <a:endParaRPr b="0" i="0" sz="3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1660178" y="4259535"/>
            <a:ext cx="1633612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"a" in "banana"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457349" y="4535909"/>
            <a:ext cx="4039344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"banana".count("a")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4647233" y="3672557"/>
            <a:ext cx="4039419" cy="43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350"/>
              <a:buFont typeface="DM Sans Medium"/>
              <a:buNone/>
            </a:pPr>
            <a:r>
              <a:rPr b="0" i="0" lang="en-US" sz="3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b="0" i="0" sz="3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5850136" y="4259535"/>
            <a:ext cx="1633612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"an" in "banana"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4647233" y="4535909"/>
            <a:ext cx="4039419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"banana".count("an")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24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7675" y="16670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/>
          <p:nvPr/>
        </p:nvSpPr>
        <p:spPr>
          <a:xfrm>
            <a:off x="445219" y="344909"/>
            <a:ext cx="3474690" cy="373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350"/>
              <a:buFont typeface="DM Sans Medium"/>
              <a:buNone/>
            </a:pPr>
            <a:r>
              <a:rPr b="0" i="0" lang="en-US" sz="2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Putting It All Together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445219" y="920502"/>
            <a:ext cx="8698781" cy="176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Chaining methods transforms messy input into clean, usable data — one step at a time.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219" y="1210345"/>
            <a:ext cx="598066" cy="717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/>
          <p:nvPr/>
        </p:nvSpPr>
        <p:spPr>
          <a:xfrm>
            <a:off x="1144191" y="1329928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Input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1144191" y="1577280"/>
            <a:ext cx="7554516" cy="1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 Hello, World! "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8" name="Google Shape;23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219" y="1927994"/>
            <a:ext cx="598066" cy="717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1144191" y="2047577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.strip()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1144191" y="2294930"/>
            <a:ext cx="7554516" cy="1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"Hello, World!"</a:t>
            </a: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whitespace removed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1" name="Google Shape;24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219" y="2645643"/>
            <a:ext cx="598066" cy="71764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/>
          <p:nvPr/>
        </p:nvSpPr>
        <p:spPr>
          <a:xfrm>
            <a:off x="1144191" y="2765227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.lower()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1144191" y="3012579"/>
            <a:ext cx="7554516" cy="1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"hello, world!"</a:t>
            </a: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all lowercase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4" name="Google Shape;24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219" y="3363292"/>
            <a:ext cx="598066" cy="71764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1144191" y="3482876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.replace(",", "")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1144191" y="3730228"/>
            <a:ext cx="7554516" cy="1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"hello world!"</a:t>
            </a: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comma removed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7" name="Google Shape;24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5219" y="4080942"/>
            <a:ext cx="598066" cy="71764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1144191" y="4200525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.split()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1144191" y="4447877"/>
            <a:ext cx="7554516" cy="1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["hello", "world!"]</a:t>
            </a: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split into a list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25" title="Logo Black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07675" y="166700"/>
            <a:ext cx="2164874" cy="3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/>
          <p:nvPr/>
        </p:nvSpPr>
        <p:spPr>
          <a:xfrm>
            <a:off x="488379" y="392683"/>
            <a:ext cx="7952705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00"/>
              <a:buFont typeface="DM Sans Medium"/>
              <a:buNone/>
            </a:pPr>
            <a:r>
              <a:rPr b="0" i="0" lang="en-US" sz="27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Quick Reference: String Methods Cheat Sheet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488379" y="1103486"/>
            <a:ext cx="8167241" cy="3647331"/>
          </a:xfrm>
          <a:prstGeom prst="roundRect">
            <a:avLst>
              <a:gd fmla="val 57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632743" y="1195388"/>
            <a:ext cx="221515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Method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2674516" y="1195388"/>
            <a:ext cx="30285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Example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5529709" y="1195388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What It Does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632743" y="1595884"/>
            <a:ext cx="2215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strip()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2674516" y="1595884"/>
            <a:ext cx="302857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 hi ".strip()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5529709" y="1595884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Remove leading &amp; trailing whitespace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632743" y="2001143"/>
            <a:ext cx="2215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upper()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2674516" y="2001143"/>
            <a:ext cx="302857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"hi".upper()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5529709" y="2001143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Convert to UPPERCASE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632743" y="2406402"/>
            <a:ext cx="2215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lower()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2674516" y="2406402"/>
            <a:ext cx="302857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"HI".lower()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529709" y="2406402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Convert to lowercase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632743" y="2811661"/>
            <a:ext cx="2215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title()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2674516" y="2811661"/>
            <a:ext cx="302857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"hi there".title()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529709" y="2811661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Capitalize Each Word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632743" y="3216920"/>
            <a:ext cx="2215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replace(old, new)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2674516" y="3216920"/>
            <a:ext cx="302857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"cats".replace("c","b")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5529709" y="3216920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Swap substrings throughout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632743" y="3622179"/>
            <a:ext cx="2215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split(sep)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2674516" y="3622179"/>
            <a:ext cx="302857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"a,b".split(",")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529709" y="3622179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Break string into a list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632743" y="4027438"/>
            <a:ext cx="2215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find(sub)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2674516" y="4027438"/>
            <a:ext cx="302857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"banana".find("an")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5529709" y="4027438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Locate substring, returns index or -1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632743" y="4432697"/>
            <a:ext cx="2215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count(sub)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2674516" y="4432697"/>
            <a:ext cx="3028578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"banana".count("a")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529709" y="4432697"/>
            <a:ext cx="34388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Count how many times sub appears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26" title="Logo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0075" y="95275"/>
            <a:ext cx="1962476" cy="3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