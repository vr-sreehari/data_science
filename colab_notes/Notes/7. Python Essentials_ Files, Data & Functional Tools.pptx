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embeddedFontLst>
    <p:embeddedFont>
      <p:font typeface="DM Sans Medium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DM Sans Ligh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DMSansMedium-bold.fntdata"/><Relationship Id="rId21" Type="http://schemas.openxmlformats.org/officeDocument/2006/relationships/font" Target="fonts/DMSansMedium-regular.fntdata"/><Relationship Id="rId24" Type="http://schemas.openxmlformats.org/officeDocument/2006/relationships/font" Target="fonts/DMSansMedium-boldItalic.fntdata"/><Relationship Id="rId23" Type="http://schemas.openxmlformats.org/officeDocument/2006/relationships/font" Target="fonts/DMSansMedium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DMSansLigh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DMSansLight-italic.fntdata"/><Relationship Id="rId30" Type="http://schemas.openxmlformats.org/officeDocument/2006/relationships/font" Target="fonts/DMSansLight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DMSansLight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1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5.png"/><Relationship Id="rId7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19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Relationship Id="rId4" Type="http://schemas.openxmlformats.org/officeDocument/2006/relationships/image" Target="../media/image20.png"/><Relationship Id="rId5" Type="http://schemas.openxmlformats.org/officeDocument/2006/relationships/image" Target="../media/image11.png"/><Relationship Id="rId6" Type="http://schemas.openxmlformats.org/officeDocument/2006/relationships/image" Target="../media/image26.png"/><Relationship Id="rId7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" name="Google Shape;4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9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Python Essentials: Files, Data &amp; Functional Tools</a:t>
            </a:r>
            <a:endParaRPr b="0" i="0" sz="2750" u="none" cap="none" strike="noStrike"/>
          </a:p>
        </p:txBody>
      </p:sp>
      <p:sp>
        <p:nvSpPr>
          <p:cNvPr id="50" name="Google Shape;50;p19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File I/O · CSV · List Comprehensions · Lambdas · map()/filter() · Generators</a:t>
            </a:r>
            <a:endParaRPr b="0" i="0" sz="1100" u="none" cap="none" strike="noStrike"/>
          </a:p>
        </p:txBody>
      </p:sp>
      <p:pic>
        <p:nvPicPr>
          <p:cNvPr id="51" name="Google Shape;51;p19" title="Logo Blac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540" y="122903"/>
            <a:ext cx="1827251" cy="33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" name="Google Shape;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0"/>
          <p:cNvSpPr/>
          <p:nvPr/>
        </p:nvSpPr>
        <p:spPr>
          <a:xfrm>
            <a:off x="3925119" y="789161"/>
            <a:ext cx="468897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Why These Topics Matter</a:t>
            </a:r>
            <a:endParaRPr b="0" i="0" sz="2750" u="none" cap="none" strike="noStrike"/>
          </a:p>
        </p:txBody>
      </p:sp>
      <p:sp>
        <p:nvSpPr>
          <p:cNvPr id="59" name="Google Shape;59;p20"/>
          <p:cNvSpPr/>
          <p:nvPr/>
        </p:nvSpPr>
        <p:spPr>
          <a:xfrm>
            <a:off x="3925119" y="1444749"/>
            <a:ext cx="2290465" cy="1724099"/>
          </a:xfrm>
          <a:prstGeom prst="roundRect">
            <a:avLst>
              <a:gd fmla="val 1233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0"/>
          <p:cNvSpPr/>
          <p:nvPr/>
        </p:nvSpPr>
        <p:spPr>
          <a:xfrm>
            <a:off x="4066877" y="1586508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Real-World Programs</a:t>
            </a:r>
            <a:endParaRPr b="0" i="0" sz="1350" u="none" cap="none" strike="noStrike"/>
          </a:p>
        </p:txBody>
      </p:sp>
      <p:sp>
        <p:nvSpPr>
          <p:cNvPr id="61" name="Google Shape;61;p20"/>
          <p:cNvSpPr/>
          <p:nvPr/>
        </p:nvSpPr>
        <p:spPr>
          <a:xfrm>
            <a:off x="4066877" y="1893019"/>
            <a:ext cx="2006947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Read data from files, process it efficiently, and transform it cleanly</a:t>
            </a:r>
            <a:endParaRPr b="0" i="0" sz="1100" u="none" cap="none" strike="noStrike"/>
          </a:p>
        </p:txBody>
      </p:sp>
      <p:sp>
        <p:nvSpPr>
          <p:cNvPr id="62" name="Google Shape;62;p20"/>
          <p:cNvSpPr/>
          <p:nvPr/>
        </p:nvSpPr>
        <p:spPr>
          <a:xfrm>
            <a:off x="6357342" y="1444749"/>
            <a:ext cx="2290539" cy="1724099"/>
          </a:xfrm>
          <a:prstGeom prst="roundRect">
            <a:avLst>
              <a:gd fmla="val 1233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0"/>
          <p:cNvSpPr/>
          <p:nvPr/>
        </p:nvSpPr>
        <p:spPr>
          <a:xfrm>
            <a:off x="6499101" y="1586508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Six Essential Tools</a:t>
            </a:r>
            <a:endParaRPr b="0" i="0" sz="1350" u="none" cap="none" strike="noStrike"/>
          </a:p>
        </p:txBody>
      </p:sp>
      <p:sp>
        <p:nvSpPr>
          <p:cNvPr id="64" name="Google Shape;64;p20"/>
          <p:cNvSpPr/>
          <p:nvPr/>
        </p:nvSpPr>
        <p:spPr>
          <a:xfrm>
            <a:off x="6499101" y="1893019"/>
            <a:ext cx="2007022" cy="1134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File I/O, CSV, list comprehensions, lambdas, map()/filter(), and generators appear in nearly every Python project</a:t>
            </a:r>
            <a:endParaRPr b="0" i="0" sz="1100" u="none" cap="none" strike="noStrike"/>
          </a:p>
        </p:txBody>
      </p:sp>
      <p:sp>
        <p:nvSpPr>
          <p:cNvPr id="65" name="Google Shape;65;p20"/>
          <p:cNvSpPr/>
          <p:nvPr/>
        </p:nvSpPr>
        <p:spPr>
          <a:xfrm>
            <a:off x="3925119" y="3310607"/>
            <a:ext cx="4722763" cy="1043657"/>
          </a:xfrm>
          <a:prstGeom prst="roundRect">
            <a:avLst>
              <a:gd fmla="val 2038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0"/>
          <p:cNvSpPr/>
          <p:nvPr/>
        </p:nvSpPr>
        <p:spPr>
          <a:xfrm>
            <a:off x="4066877" y="345236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80% of Daily Tasks</a:t>
            </a:r>
            <a:endParaRPr b="0" i="0" sz="1350" u="none" cap="none" strike="noStrike"/>
          </a:p>
        </p:txBody>
      </p:sp>
      <p:sp>
        <p:nvSpPr>
          <p:cNvPr id="67" name="Google Shape;67;p20"/>
          <p:cNvSpPr/>
          <p:nvPr/>
        </p:nvSpPr>
        <p:spPr>
          <a:xfrm>
            <a:off x="4066877" y="3758878"/>
            <a:ext cx="443924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Master these six tools and you can handle the vast majority of everyday data tasks with confidence</a:t>
            </a:r>
            <a:endParaRPr b="0" i="0" sz="1100" u="none" cap="none" strike="noStrike"/>
          </a:p>
        </p:txBody>
      </p:sp>
      <p:pic>
        <p:nvPicPr>
          <p:cNvPr id="68" name="Google Shape;68;p20" title="Logo Blac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5777" y="104678"/>
            <a:ext cx="1827251" cy="33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4" name="Google Shape;7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257598"/>
            <a:ext cx="2628230" cy="262823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1"/>
          <p:cNvSpPr/>
          <p:nvPr/>
        </p:nvSpPr>
        <p:spPr>
          <a:xfrm>
            <a:off x="3474988" y="837307"/>
            <a:ext cx="1132880" cy="266402"/>
          </a:xfrm>
          <a:prstGeom prst="roundRect">
            <a:avLst>
              <a:gd fmla="val 6386" name="adj"/>
            </a:avLst>
          </a:prstGeom>
          <a:solidFill>
            <a:srgbClr val="E3E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1"/>
          <p:cNvSpPr/>
          <p:nvPr/>
        </p:nvSpPr>
        <p:spPr>
          <a:xfrm>
            <a:off x="3560043" y="879797"/>
            <a:ext cx="1419969" cy="18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FILE I/O — PART 1</a:t>
            </a:r>
            <a:endParaRPr b="0" i="0" sz="850" u="none" cap="none" strike="noStrike"/>
          </a:p>
        </p:txBody>
      </p:sp>
      <p:sp>
        <p:nvSpPr>
          <p:cNvPr id="77" name="Google Shape;77;p21"/>
          <p:cNvSpPr/>
          <p:nvPr/>
        </p:nvSpPr>
        <p:spPr>
          <a:xfrm>
            <a:off x="3474988" y="1160413"/>
            <a:ext cx="4673426" cy="471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Opening Files with </a:t>
            </a:r>
            <a:r>
              <a:rPr b="0" i="0" lang="en-US" sz="27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open()</a:t>
            </a:r>
            <a:endParaRPr b="0" i="0" sz="2750" u="none" cap="none" strike="noStrike"/>
          </a:p>
        </p:txBody>
      </p:sp>
      <p:sp>
        <p:nvSpPr>
          <p:cNvPr id="78" name="Google Shape;78;p21"/>
          <p:cNvSpPr/>
          <p:nvPr/>
        </p:nvSpPr>
        <p:spPr>
          <a:xfrm>
            <a:off x="3474988" y="1773734"/>
            <a:ext cx="5634782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Syntax: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open(filename, mode)</a:t>
            </a:r>
            <a:endParaRPr b="0" i="0" sz="1100" u="none" cap="none" strike="noStrike"/>
          </a:p>
        </p:txBody>
      </p:sp>
      <p:sp>
        <p:nvSpPr>
          <p:cNvPr id="79" name="Google Shape;79;p21"/>
          <p:cNvSpPr/>
          <p:nvPr/>
        </p:nvSpPr>
        <p:spPr>
          <a:xfrm>
            <a:off x="3474988" y="2164779"/>
            <a:ext cx="1631305" cy="1147986"/>
          </a:xfrm>
          <a:prstGeom prst="roundRect">
            <a:avLst>
              <a:gd fmla="val 1852" name="adj"/>
            </a:avLst>
          </a:prstGeom>
          <a:solidFill>
            <a:srgbClr val="F9F8F5"/>
          </a:solidFill>
          <a:ln cap="flat" cmpd="sng" w="19050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1"/>
          <p:cNvSpPr/>
          <p:nvPr/>
        </p:nvSpPr>
        <p:spPr>
          <a:xfrm>
            <a:off x="3635797" y="2325588"/>
            <a:ext cx="1309688" cy="23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'r'</a:t>
            </a:r>
            <a:endParaRPr b="0" i="0" sz="1350" u="none" cap="none" strike="noStrike"/>
          </a:p>
        </p:txBody>
      </p:sp>
      <p:sp>
        <p:nvSpPr>
          <p:cNvPr id="81" name="Google Shape;81;p21"/>
          <p:cNvSpPr/>
          <p:nvPr/>
        </p:nvSpPr>
        <p:spPr>
          <a:xfrm>
            <a:off x="3635797" y="2698328"/>
            <a:ext cx="1309688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Read an existing file</a:t>
            </a:r>
            <a:endParaRPr b="0" i="0" sz="1100" u="none" cap="none" strike="noStrike"/>
          </a:p>
        </p:txBody>
      </p:sp>
      <p:sp>
        <p:nvSpPr>
          <p:cNvPr id="82" name="Google Shape;82;p21"/>
          <p:cNvSpPr/>
          <p:nvPr/>
        </p:nvSpPr>
        <p:spPr>
          <a:xfrm>
            <a:off x="5248052" y="2164779"/>
            <a:ext cx="1631379" cy="1147986"/>
          </a:xfrm>
          <a:prstGeom prst="roundRect">
            <a:avLst>
              <a:gd fmla="val 1852" name="adj"/>
            </a:avLst>
          </a:prstGeom>
          <a:solidFill>
            <a:srgbClr val="F9F8F5"/>
          </a:solidFill>
          <a:ln cap="flat" cmpd="sng" w="19050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1"/>
          <p:cNvSpPr/>
          <p:nvPr/>
        </p:nvSpPr>
        <p:spPr>
          <a:xfrm>
            <a:off x="5408861" y="2325588"/>
            <a:ext cx="1309762" cy="23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'w'</a:t>
            </a:r>
            <a:endParaRPr b="0" i="0" sz="1350" u="none" cap="none" strike="noStrike"/>
          </a:p>
        </p:txBody>
      </p:sp>
      <p:sp>
        <p:nvSpPr>
          <p:cNvPr id="84" name="Google Shape;84;p21"/>
          <p:cNvSpPr/>
          <p:nvPr/>
        </p:nvSpPr>
        <p:spPr>
          <a:xfrm>
            <a:off x="5408861" y="2698328"/>
            <a:ext cx="130976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Write (creates or overwrites)</a:t>
            </a:r>
            <a:endParaRPr b="0" i="0" sz="1100" u="none" cap="none" strike="noStrike"/>
          </a:p>
        </p:txBody>
      </p:sp>
      <p:sp>
        <p:nvSpPr>
          <p:cNvPr id="85" name="Google Shape;85;p21"/>
          <p:cNvSpPr/>
          <p:nvPr/>
        </p:nvSpPr>
        <p:spPr>
          <a:xfrm>
            <a:off x="7021190" y="2164779"/>
            <a:ext cx="1631379" cy="1147986"/>
          </a:xfrm>
          <a:prstGeom prst="roundRect">
            <a:avLst>
              <a:gd fmla="val 1852" name="adj"/>
            </a:avLst>
          </a:prstGeom>
          <a:solidFill>
            <a:srgbClr val="F9F8F5"/>
          </a:solidFill>
          <a:ln cap="flat" cmpd="sng" w="19050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1"/>
          <p:cNvSpPr/>
          <p:nvPr/>
        </p:nvSpPr>
        <p:spPr>
          <a:xfrm>
            <a:off x="7181999" y="2325588"/>
            <a:ext cx="1309762" cy="23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'a'</a:t>
            </a:r>
            <a:endParaRPr b="0" i="0" sz="1350" u="none" cap="none" strike="noStrike"/>
          </a:p>
        </p:txBody>
      </p:sp>
      <p:sp>
        <p:nvSpPr>
          <p:cNvPr id="87" name="Google Shape;87;p21"/>
          <p:cNvSpPr/>
          <p:nvPr/>
        </p:nvSpPr>
        <p:spPr>
          <a:xfrm>
            <a:off x="7181999" y="2698328"/>
            <a:ext cx="1309762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Append to the end</a:t>
            </a:r>
            <a:endParaRPr b="0" i="0" sz="1100" u="none" cap="none" strike="noStrike"/>
          </a:p>
        </p:txBody>
      </p:sp>
      <p:sp>
        <p:nvSpPr>
          <p:cNvPr id="88" name="Google Shape;88;p21"/>
          <p:cNvSpPr/>
          <p:nvPr/>
        </p:nvSpPr>
        <p:spPr>
          <a:xfrm>
            <a:off x="3474988" y="3472235"/>
            <a:ext cx="5177582" cy="833958"/>
          </a:xfrm>
          <a:prstGeom prst="roundRect">
            <a:avLst>
              <a:gd fmla="val 2550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6747" y="3687291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1"/>
          <p:cNvSpPr/>
          <p:nvPr/>
        </p:nvSpPr>
        <p:spPr>
          <a:xfrm>
            <a:off x="3935685" y="3649414"/>
            <a:ext cx="4575125" cy="45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Always close files after use to free system resources — or use the </a:t>
            </a:r>
            <a:r>
              <a:rPr b="0" i="0" lang="en-US" sz="110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with</a:t>
            </a: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statement (covered soon).</a:t>
            </a:r>
            <a:endParaRPr b="0" i="0" sz="1100" u="none" cap="none" strike="noStrike"/>
          </a:p>
        </p:txBody>
      </p:sp>
      <p:pic>
        <p:nvPicPr>
          <p:cNvPr id="91" name="Google Shape;91;p21" title="Logo Black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5777" y="104678"/>
            <a:ext cx="1827251" cy="33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/>
          <p:nvPr/>
        </p:nvSpPr>
        <p:spPr>
          <a:xfrm>
            <a:off x="496119" y="709910"/>
            <a:ext cx="1155874" cy="266402"/>
          </a:xfrm>
          <a:prstGeom prst="roundRect">
            <a:avLst>
              <a:gd fmla="val 6386" name="adj"/>
            </a:avLst>
          </a:prstGeom>
          <a:solidFill>
            <a:srgbClr val="E3E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2"/>
          <p:cNvSpPr/>
          <p:nvPr/>
        </p:nvSpPr>
        <p:spPr>
          <a:xfrm>
            <a:off x="581174" y="752401"/>
            <a:ext cx="1442963" cy="18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FILE I/O — PART 2</a:t>
            </a:r>
            <a:endParaRPr b="0" i="0" sz="850" u="none" cap="none" strike="noStrike"/>
          </a:p>
        </p:txBody>
      </p:sp>
      <p:sp>
        <p:nvSpPr>
          <p:cNvPr id="99" name="Google Shape;99;p22"/>
          <p:cNvSpPr/>
          <p:nvPr/>
        </p:nvSpPr>
        <p:spPr>
          <a:xfrm>
            <a:off x="496119" y="1033016"/>
            <a:ext cx="6051277" cy="471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Reading Files: </a:t>
            </a:r>
            <a:r>
              <a:rPr b="0" i="0" lang="en-US" sz="27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read()</a:t>
            </a: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vs </a:t>
            </a:r>
            <a:r>
              <a:rPr b="0" i="0" lang="en-US" sz="27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readlines()</a:t>
            </a:r>
            <a:endParaRPr b="0" i="0" sz="2750" u="none" cap="none" strike="noStrike"/>
          </a:p>
        </p:txBody>
      </p:sp>
      <p:sp>
        <p:nvSpPr>
          <p:cNvPr id="100" name="Google Shape;100;p22"/>
          <p:cNvSpPr/>
          <p:nvPr/>
        </p:nvSpPr>
        <p:spPr>
          <a:xfrm>
            <a:off x="496119" y="1717179"/>
            <a:ext cx="8151763" cy="1949797"/>
          </a:xfrm>
          <a:prstGeom prst="roundRect">
            <a:avLst>
              <a:gd fmla="val 1091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2"/>
          <p:cNvSpPr/>
          <p:nvPr/>
        </p:nvSpPr>
        <p:spPr>
          <a:xfrm>
            <a:off x="496119" y="1717179"/>
            <a:ext cx="4075881" cy="1949797"/>
          </a:xfrm>
          <a:prstGeom prst="roundRect">
            <a:avLst>
              <a:gd fmla="val 1091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2"/>
          <p:cNvSpPr/>
          <p:nvPr/>
        </p:nvSpPr>
        <p:spPr>
          <a:xfrm>
            <a:off x="637877" y="1858938"/>
            <a:ext cx="1772022" cy="23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read()</a:t>
            </a:r>
            <a:endParaRPr b="0" i="0" sz="1350" u="none" cap="none" strike="noStrike"/>
          </a:p>
        </p:txBody>
      </p:sp>
      <p:sp>
        <p:nvSpPr>
          <p:cNvPr id="103" name="Google Shape;103;p22"/>
          <p:cNvSpPr/>
          <p:nvPr/>
        </p:nvSpPr>
        <p:spPr>
          <a:xfrm>
            <a:off x="637877" y="2174974"/>
            <a:ext cx="379236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Loads the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entire file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as one single string. Simple and convenient for small files.</a:t>
            </a:r>
            <a:endParaRPr b="0" i="0" sz="1100" u="none" cap="none" strike="noStrike"/>
          </a:p>
        </p:txBody>
      </p:sp>
      <p:sp>
        <p:nvSpPr>
          <p:cNvPr id="104" name="Google Shape;104;p22"/>
          <p:cNvSpPr/>
          <p:nvPr/>
        </p:nvSpPr>
        <p:spPr>
          <a:xfrm>
            <a:off x="637877" y="2788072"/>
            <a:ext cx="3792364" cy="737146"/>
          </a:xfrm>
          <a:prstGeom prst="roundRect">
            <a:avLst>
              <a:gd fmla="val 2885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2"/>
          <p:cNvSpPr/>
          <p:nvPr/>
        </p:nvSpPr>
        <p:spPr>
          <a:xfrm>
            <a:off x="630808" y="2788072"/>
            <a:ext cx="3806503" cy="737146"/>
          </a:xfrm>
          <a:prstGeom prst="roundRect">
            <a:avLst>
              <a:gd fmla="val 2885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2"/>
          <p:cNvSpPr/>
          <p:nvPr/>
        </p:nvSpPr>
        <p:spPr>
          <a:xfrm>
            <a:off x="807988" y="2929830"/>
            <a:ext cx="345214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with open("notes.txt", "r") as f: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content = f.read()</a:t>
            </a:r>
            <a:endParaRPr b="0" i="0" sz="1100" u="none" cap="none" strike="noStrike"/>
          </a:p>
        </p:txBody>
      </p:sp>
      <p:sp>
        <p:nvSpPr>
          <p:cNvPr id="107" name="Google Shape;107;p22"/>
          <p:cNvSpPr/>
          <p:nvPr/>
        </p:nvSpPr>
        <p:spPr>
          <a:xfrm>
            <a:off x="4572000" y="1717179"/>
            <a:ext cx="4075881" cy="1949797"/>
          </a:xfrm>
          <a:prstGeom prst="rect">
            <a:avLst/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2"/>
          <p:cNvSpPr/>
          <p:nvPr/>
        </p:nvSpPr>
        <p:spPr>
          <a:xfrm>
            <a:off x="4572000" y="1717179"/>
            <a:ext cx="19050" cy="1949797"/>
          </a:xfrm>
          <a:prstGeom prst="roundRect">
            <a:avLst>
              <a:gd fmla="val 111628" name="adj"/>
            </a:avLst>
          </a:prstGeom>
          <a:solidFill>
            <a:srgbClr val="D3D1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2"/>
          <p:cNvSpPr/>
          <p:nvPr/>
        </p:nvSpPr>
        <p:spPr>
          <a:xfrm>
            <a:off x="4713759" y="1858938"/>
            <a:ext cx="1772022" cy="23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readlines()</a:t>
            </a:r>
            <a:endParaRPr b="0" i="0" sz="1350" u="none" cap="none" strike="noStrike"/>
          </a:p>
        </p:txBody>
      </p:sp>
      <p:sp>
        <p:nvSpPr>
          <p:cNvPr id="110" name="Google Shape;110;p22"/>
          <p:cNvSpPr/>
          <p:nvPr/>
        </p:nvSpPr>
        <p:spPr>
          <a:xfrm>
            <a:off x="4713759" y="2174974"/>
            <a:ext cx="379236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Returns a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list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where each element is one line from the file, including the newline character.</a:t>
            </a:r>
            <a:endParaRPr b="0" i="0" sz="1100" u="none" cap="none" strike="noStrike"/>
          </a:p>
        </p:txBody>
      </p:sp>
      <p:sp>
        <p:nvSpPr>
          <p:cNvPr id="111" name="Google Shape;111;p22"/>
          <p:cNvSpPr/>
          <p:nvPr/>
        </p:nvSpPr>
        <p:spPr>
          <a:xfrm>
            <a:off x="4713759" y="2788072"/>
            <a:ext cx="3792364" cy="737146"/>
          </a:xfrm>
          <a:prstGeom prst="roundRect">
            <a:avLst>
              <a:gd fmla="val 2885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2"/>
          <p:cNvSpPr/>
          <p:nvPr/>
        </p:nvSpPr>
        <p:spPr>
          <a:xfrm>
            <a:off x="4706689" y="2788072"/>
            <a:ext cx="3806503" cy="737146"/>
          </a:xfrm>
          <a:prstGeom prst="roundRect">
            <a:avLst>
              <a:gd fmla="val 2885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2"/>
          <p:cNvSpPr/>
          <p:nvPr/>
        </p:nvSpPr>
        <p:spPr>
          <a:xfrm>
            <a:off x="4883869" y="2929830"/>
            <a:ext cx="345214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with open("notes.txt", "r") as f: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lines = f.readlines()</a:t>
            </a:r>
            <a:endParaRPr b="0" i="0" sz="1100" u="none" cap="none" strike="noStrike"/>
          </a:p>
        </p:txBody>
      </p:sp>
      <p:sp>
        <p:nvSpPr>
          <p:cNvPr id="114" name="Google Shape;114;p22"/>
          <p:cNvSpPr/>
          <p:nvPr/>
        </p:nvSpPr>
        <p:spPr>
          <a:xfrm>
            <a:off x="496119" y="3826446"/>
            <a:ext cx="8151763" cy="607144"/>
          </a:xfrm>
          <a:prstGeom prst="roundRect">
            <a:avLst>
              <a:gd fmla="val 3502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877" y="4041502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2"/>
          <p:cNvSpPr/>
          <p:nvPr/>
        </p:nvSpPr>
        <p:spPr>
          <a:xfrm>
            <a:off x="956816" y="4003625"/>
            <a:ext cx="8006507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💡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Tip: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For large files, iterate line-by-line with </a:t>
            </a:r>
            <a:r>
              <a:rPr b="0" i="0" lang="en-US" sz="110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for line in file</a:t>
            </a: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to avoid loading everything into memory at once.</a:t>
            </a:r>
            <a:endParaRPr b="0" i="0" sz="1100" u="none" cap="none" strike="noStrike"/>
          </a:p>
        </p:txBody>
      </p:sp>
      <p:pic>
        <p:nvPicPr>
          <p:cNvPr id="117" name="Google Shape;117;p22" title="Logo Blac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5777" y="104678"/>
            <a:ext cx="1827251" cy="33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/>
          <p:nvPr/>
        </p:nvSpPr>
        <p:spPr>
          <a:xfrm>
            <a:off x="496119" y="1128936"/>
            <a:ext cx="1156767" cy="266402"/>
          </a:xfrm>
          <a:prstGeom prst="roundRect">
            <a:avLst>
              <a:gd fmla="val 6386" name="adj"/>
            </a:avLst>
          </a:prstGeom>
          <a:solidFill>
            <a:srgbClr val="E3E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3"/>
          <p:cNvSpPr/>
          <p:nvPr/>
        </p:nvSpPr>
        <p:spPr>
          <a:xfrm>
            <a:off x="581174" y="1171426"/>
            <a:ext cx="1443856" cy="18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FILE I/O — PART 3</a:t>
            </a:r>
            <a:endParaRPr b="0" i="0" sz="850" u="none" cap="none" strike="noStrike"/>
          </a:p>
        </p:txBody>
      </p:sp>
      <p:sp>
        <p:nvSpPr>
          <p:cNvPr id="125" name="Google Shape;125;p23"/>
          <p:cNvSpPr/>
          <p:nvPr/>
        </p:nvSpPr>
        <p:spPr>
          <a:xfrm>
            <a:off x="496119" y="1452042"/>
            <a:ext cx="4464025" cy="471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Writing Files with </a:t>
            </a:r>
            <a:r>
              <a:rPr b="0" i="0" lang="en-US" sz="27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write()</a:t>
            </a:r>
            <a:endParaRPr b="0" i="0" sz="2750" u="none" cap="none" strike="noStrike"/>
          </a:p>
        </p:txBody>
      </p:sp>
      <p:pic>
        <p:nvPicPr>
          <p:cNvPr descr="preencoded.png" id="126" name="Google Shape;1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250" y="2087463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/>
          <p:nvPr/>
        </p:nvSpPr>
        <p:spPr>
          <a:xfrm>
            <a:off x="956816" y="2083073"/>
            <a:ext cx="1772022" cy="23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'w'</a:t>
            </a: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mode</a:t>
            </a:r>
            <a:endParaRPr b="0" i="0" sz="1350" u="none" cap="none" strike="noStrike"/>
          </a:p>
        </p:txBody>
      </p:sp>
      <p:sp>
        <p:nvSpPr>
          <p:cNvPr id="128" name="Google Shape;128;p23"/>
          <p:cNvSpPr/>
          <p:nvPr/>
        </p:nvSpPr>
        <p:spPr>
          <a:xfrm>
            <a:off x="956816" y="2455813"/>
            <a:ext cx="2039466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Creates a new file or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overwrites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an existing one entirely</a:t>
            </a:r>
            <a:endParaRPr b="0" i="0" sz="1100" u="none" cap="none" strike="noStrike"/>
          </a:p>
        </p:txBody>
      </p:sp>
      <p:pic>
        <p:nvPicPr>
          <p:cNvPr descr="preencoded.png" id="129" name="Google Shape;1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6594" y="2087463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3"/>
          <p:cNvSpPr/>
          <p:nvPr/>
        </p:nvSpPr>
        <p:spPr>
          <a:xfrm>
            <a:off x="3634160" y="2083073"/>
            <a:ext cx="1772022" cy="23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'a'</a:t>
            </a: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mode</a:t>
            </a:r>
            <a:endParaRPr b="0" i="0" sz="1350" u="none" cap="none" strike="noStrike"/>
          </a:p>
        </p:txBody>
      </p:sp>
      <p:sp>
        <p:nvSpPr>
          <p:cNvPr id="131" name="Google Shape;131;p23"/>
          <p:cNvSpPr/>
          <p:nvPr/>
        </p:nvSpPr>
        <p:spPr>
          <a:xfrm>
            <a:off x="3634160" y="2455813"/>
            <a:ext cx="2039541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Appends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to the end without erasing existing content</a:t>
            </a:r>
            <a:endParaRPr b="0" i="0" sz="1100" u="none" cap="none" strike="noStrike"/>
          </a:p>
        </p:txBody>
      </p:sp>
      <p:pic>
        <p:nvPicPr>
          <p:cNvPr descr="preencoded.png" id="132" name="Google Shape;1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250" y="3424163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3"/>
          <p:cNvSpPr/>
          <p:nvPr/>
        </p:nvSpPr>
        <p:spPr>
          <a:xfrm>
            <a:off x="956816" y="3419773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Remember newlines</a:t>
            </a:r>
            <a:endParaRPr b="0" i="0" sz="1350" u="none" cap="none" strike="noStrike"/>
          </a:p>
        </p:txBody>
      </p:sp>
      <p:sp>
        <p:nvSpPr>
          <p:cNvPr id="134" name="Google Shape;134;p23"/>
          <p:cNvSpPr/>
          <p:nvPr/>
        </p:nvSpPr>
        <p:spPr>
          <a:xfrm>
            <a:off x="956816" y="3782988"/>
            <a:ext cx="4716884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Always add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for line breaks: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file.write("Hello\n")</a:t>
            </a:r>
            <a:endParaRPr b="0" i="0" sz="1100" u="none" cap="none" strike="noStrike"/>
          </a:p>
        </p:txBody>
      </p:sp>
      <p:pic>
        <p:nvPicPr>
          <p:cNvPr descr="preencoded.png" id="135" name="Google Shape;13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4339" y="1257598"/>
            <a:ext cx="2628230" cy="2628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3" title="Logo Black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5777" y="104678"/>
            <a:ext cx="1827251" cy="33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2" name="Google Shape;14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4"/>
          <p:cNvSpPr/>
          <p:nvPr/>
        </p:nvSpPr>
        <p:spPr>
          <a:xfrm>
            <a:off x="426393" y="609079"/>
            <a:ext cx="4862215" cy="785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350"/>
              <a:buFont typeface="DM Sans Medium"/>
              <a:buNone/>
            </a:pPr>
            <a:r>
              <a:rPr b="0" i="0" lang="en-US" sz="2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The </a:t>
            </a:r>
            <a:r>
              <a:rPr b="0" i="0" lang="en-US" sz="23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with</a:t>
            </a:r>
            <a:r>
              <a:rPr b="0" i="0" lang="en-US" sz="2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Statement: Safer File Handling</a:t>
            </a:r>
            <a:endParaRPr b="0" i="0" sz="2350" u="none" cap="none" strike="noStrike"/>
          </a:p>
        </p:txBody>
      </p:sp>
      <p:sp>
        <p:nvSpPr>
          <p:cNvPr id="144" name="Google Shape;144;p24"/>
          <p:cNvSpPr/>
          <p:nvPr/>
        </p:nvSpPr>
        <p:spPr>
          <a:xfrm>
            <a:off x="426393" y="1645518"/>
            <a:ext cx="2282503" cy="910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b="0" i="0" lang="en-US" sz="9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with</a:t>
            </a: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statement is the modern, preferred way to handle files in Python. It </a:t>
            </a:r>
            <a:r>
              <a:rPr b="1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automatically closes the file</a:t>
            </a: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when the block exits — even if an error occurs inside the block.</a:t>
            </a:r>
            <a:endParaRPr b="0" i="0" sz="950" u="none" cap="none" strike="noStrike"/>
          </a:p>
        </p:txBody>
      </p:sp>
      <p:sp>
        <p:nvSpPr>
          <p:cNvPr id="145" name="Google Shape;145;p24"/>
          <p:cNvSpPr/>
          <p:nvPr/>
        </p:nvSpPr>
        <p:spPr>
          <a:xfrm>
            <a:off x="426393" y="2673995"/>
            <a:ext cx="2282503" cy="787226"/>
          </a:xfrm>
          <a:prstGeom prst="roundRect">
            <a:avLst>
              <a:gd fmla="val 232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4"/>
          <p:cNvSpPr/>
          <p:nvPr/>
        </p:nvSpPr>
        <p:spPr>
          <a:xfrm>
            <a:off x="420365" y="2673995"/>
            <a:ext cx="2294558" cy="787226"/>
          </a:xfrm>
          <a:prstGeom prst="roundRect">
            <a:avLst>
              <a:gd fmla="val 232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4"/>
          <p:cNvSpPr/>
          <p:nvPr/>
        </p:nvSpPr>
        <p:spPr>
          <a:xfrm>
            <a:off x="572616" y="2795811"/>
            <a:ext cx="1990055" cy="543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with open("data.txt", "r") as f:</a:t>
            </a:r>
            <a:endParaRPr b="0" i="0" sz="950" u="none" cap="none" strike="noStrike"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content = f.read()</a:t>
            </a:r>
            <a:endParaRPr b="0" i="0" sz="950" u="none" cap="none" strike="noStrike"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File is closed here automatically</a:t>
            </a:r>
            <a:endParaRPr b="0" i="0" sz="950" u="none" cap="none" strike="noStrike"/>
          </a:p>
        </p:txBody>
      </p:sp>
      <p:pic>
        <p:nvPicPr>
          <p:cNvPr descr="preencoded.png" id="148" name="Google Shape;14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96580" y="1669033"/>
            <a:ext cx="2296790" cy="75314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/>
          <p:nvPr/>
        </p:nvSpPr>
        <p:spPr>
          <a:xfrm>
            <a:off x="3189833" y="1805136"/>
            <a:ext cx="1613818" cy="190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DM Sans Medium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✅</a:t>
            </a:r>
            <a:r>
              <a:rPr b="0" i="0" lang="en-US" sz="11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Automatic Cleanup</a:t>
            </a:r>
            <a:endParaRPr b="0" i="0" sz="1150" u="none" cap="none" strike="noStrike"/>
          </a:p>
        </p:txBody>
      </p:sp>
      <p:sp>
        <p:nvSpPr>
          <p:cNvPr id="150" name="Google Shape;150;p24"/>
          <p:cNvSpPr/>
          <p:nvPr/>
        </p:nvSpPr>
        <p:spPr>
          <a:xfrm>
            <a:off x="3189833" y="2100114"/>
            <a:ext cx="1967433" cy="185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No need to call </a:t>
            </a:r>
            <a:r>
              <a:rPr b="0" i="0" lang="en-US" sz="9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f.close()</a:t>
            </a: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manually</a:t>
            </a:r>
            <a:endParaRPr b="0" i="0" sz="950" u="none" cap="none" strike="noStrike"/>
          </a:p>
        </p:txBody>
      </p:sp>
      <p:pic>
        <p:nvPicPr>
          <p:cNvPr descr="preencoded.png" id="151" name="Google Shape;15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96580" y="2526804"/>
            <a:ext cx="2296790" cy="92958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4"/>
          <p:cNvSpPr/>
          <p:nvPr/>
        </p:nvSpPr>
        <p:spPr>
          <a:xfrm>
            <a:off x="3189833" y="2662907"/>
            <a:ext cx="1522884" cy="190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DM Sans Medium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✅</a:t>
            </a:r>
            <a:r>
              <a:rPr b="0" i="0" lang="en-US" sz="11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Error Safe</a:t>
            </a:r>
            <a:endParaRPr b="0" i="0" sz="1150" u="none" cap="none" strike="noStrike"/>
          </a:p>
        </p:txBody>
      </p:sp>
      <p:sp>
        <p:nvSpPr>
          <p:cNvPr id="153" name="Google Shape;153;p24"/>
          <p:cNvSpPr/>
          <p:nvPr/>
        </p:nvSpPr>
        <p:spPr>
          <a:xfrm>
            <a:off x="3189833" y="2957885"/>
            <a:ext cx="1967433" cy="362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File closes even if an exception is raised</a:t>
            </a:r>
            <a:endParaRPr b="0" i="0" sz="950" u="none" cap="none" strike="noStrike"/>
          </a:p>
        </p:txBody>
      </p:sp>
      <p:pic>
        <p:nvPicPr>
          <p:cNvPr descr="preencoded.png" id="154" name="Google Shape;15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96580" y="3561011"/>
            <a:ext cx="2296790" cy="111554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4"/>
          <p:cNvSpPr/>
          <p:nvPr/>
        </p:nvSpPr>
        <p:spPr>
          <a:xfrm>
            <a:off x="3189833" y="3697114"/>
            <a:ext cx="1522884" cy="190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DM Sans Medium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✅</a:t>
            </a:r>
            <a:r>
              <a:rPr b="0" i="0" lang="en-US" sz="11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Best Practice</a:t>
            </a:r>
            <a:endParaRPr b="0" i="0" sz="1150" u="none" cap="none" strike="noStrike"/>
          </a:p>
        </p:txBody>
      </p:sp>
      <p:sp>
        <p:nvSpPr>
          <p:cNvPr id="156" name="Google Shape;156;p24"/>
          <p:cNvSpPr/>
          <p:nvPr/>
        </p:nvSpPr>
        <p:spPr>
          <a:xfrm>
            <a:off x="3189833" y="3992091"/>
            <a:ext cx="1967433" cy="548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Preferred over manual </a:t>
            </a:r>
            <a:r>
              <a:rPr b="0" i="0" lang="en-US" sz="9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open()</a:t>
            </a: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b="0" i="0" lang="en-US" sz="9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close()</a:t>
            </a: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in all modern Python code</a:t>
            </a:r>
            <a:endParaRPr b="0" i="0" sz="950" u="none" cap="none" strike="noStrike"/>
          </a:p>
        </p:txBody>
      </p:sp>
      <p:pic>
        <p:nvPicPr>
          <p:cNvPr id="157" name="Google Shape;157;p24" title="Logo Black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7540" y="122903"/>
            <a:ext cx="1827251" cy="33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/>
          <p:nvPr/>
        </p:nvSpPr>
        <p:spPr>
          <a:xfrm>
            <a:off x="465162" y="366489"/>
            <a:ext cx="691828" cy="244376"/>
          </a:xfrm>
          <a:prstGeom prst="roundRect">
            <a:avLst>
              <a:gd fmla="val 6526" name="adj"/>
            </a:avLst>
          </a:prstGeom>
          <a:solidFill>
            <a:srgbClr val="E3E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5"/>
          <p:cNvSpPr/>
          <p:nvPr/>
        </p:nvSpPr>
        <p:spPr>
          <a:xfrm>
            <a:off x="544860" y="406301"/>
            <a:ext cx="989633" cy="164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CSV FILES</a:t>
            </a:r>
            <a:endParaRPr b="0" i="0" sz="800" u="none" cap="none" strike="noStrike"/>
          </a:p>
        </p:txBody>
      </p:sp>
      <p:sp>
        <p:nvSpPr>
          <p:cNvPr id="165" name="Google Shape;165;p25"/>
          <p:cNvSpPr/>
          <p:nvPr/>
        </p:nvSpPr>
        <p:spPr>
          <a:xfrm>
            <a:off x="465162" y="660648"/>
            <a:ext cx="6415683" cy="439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600"/>
              <a:buFont typeface="DM Sans Medium"/>
              <a:buNone/>
            </a:pPr>
            <a:r>
              <a:rPr b="0" i="0" lang="en-US" sz="26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Reading CSV Files with the </a:t>
            </a:r>
            <a:r>
              <a:rPr b="0" i="0" lang="en-US" sz="26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csv</a:t>
            </a:r>
            <a:r>
              <a:rPr b="0" i="0" lang="en-US" sz="26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Module</a:t>
            </a:r>
            <a:endParaRPr b="0" i="0" sz="2600" u="none" cap="none" strike="noStrike"/>
          </a:p>
        </p:txBody>
      </p:sp>
      <p:sp>
        <p:nvSpPr>
          <p:cNvPr id="166" name="Google Shape;166;p25"/>
          <p:cNvSpPr/>
          <p:nvPr/>
        </p:nvSpPr>
        <p:spPr>
          <a:xfrm>
            <a:off x="465162" y="1286619"/>
            <a:ext cx="8213675" cy="416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Plain </a:t>
            </a: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read()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won't cut it — CSV files have commas inside quoted strings, special characters, and edge cases. The </a:t>
            </a: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csv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module handles all of this correctly.</a:t>
            </a:r>
            <a:endParaRPr b="0" i="0" sz="1000" u="none" cap="none" strike="noStrike"/>
          </a:p>
        </p:txBody>
      </p:sp>
      <p:sp>
        <p:nvSpPr>
          <p:cNvPr id="167" name="Google Shape;167;p25"/>
          <p:cNvSpPr/>
          <p:nvPr/>
        </p:nvSpPr>
        <p:spPr>
          <a:xfrm>
            <a:off x="465162" y="1843460"/>
            <a:ext cx="4044553" cy="2933551"/>
          </a:xfrm>
          <a:prstGeom prst="roundRect">
            <a:avLst>
              <a:gd fmla="val 680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5"/>
          <p:cNvSpPr/>
          <p:nvPr/>
        </p:nvSpPr>
        <p:spPr>
          <a:xfrm>
            <a:off x="598066" y="1976363"/>
            <a:ext cx="398711" cy="398711"/>
          </a:xfrm>
          <a:prstGeom prst="roundRect">
            <a:avLst>
              <a:gd fmla="val 14332257" name="adj"/>
            </a:avLst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" name="Google Shape;16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678" y="2085975"/>
            <a:ext cx="179412" cy="17941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5"/>
          <p:cNvSpPr/>
          <p:nvPr/>
        </p:nvSpPr>
        <p:spPr>
          <a:xfrm>
            <a:off x="598066" y="2499643"/>
            <a:ext cx="1661294" cy="217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csv.reader</a:t>
            </a:r>
            <a:endParaRPr b="0" i="0" sz="1300" u="none" cap="none" strike="noStrike"/>
          </a:p>
        </p:txBody>
      </p:sp>
      <p:sp>
        <p:nvSpPr>
          <p:cNvPr id="171" name="Google Shape;171;p25"/>
          <p:cNvSpPr/>
          <p:nvPr/>
        </p:nvSpPr>
        <p:spPr>
          <a:xfrm>
            <a:off x="598066" y="2791569"/>
            <a:ext cx="3778746" cy="416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Returns each row as a </a:t>
            </a:r>
            <a:r>
              <a:rPr b="1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list of strings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. Access values by index: </a:t>
            </a: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row[0]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row[1]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…</a:t>
            </a:r>
            <a:endParaRPr b="0" i="0" sz="1000" u="none" cap="none" strike="noStrike"/>
          </a:p>
        </p:txBody>
      </p:sp>
      <p:sp>
        <p:nvSpPr>
          <p:cNvPr id="172" name="Google Shape;172;p25"/>
          <p:cNvSpPr/>
          <p:nvPr/>
        </p:nvSpPr>
        <p:spPr>
          <a:xfrm>
            <a:off x="598066" y="3348410"/>
            <a:ext cx="3778746" cy="1295698"/>
          </a:xfrm>
          <a:prstGeom prst="roundRect">
            <a:avLst>
              <a:gd fmla="val 1539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5"/>
          <p:cNvSpPr/>
          <p:nvPr/>
        </p:nvSpPr>
        <p:spPr>
          <a:xfrm>
            <a:off x="591443" y="3348410"/>
            <a:ext cx="3791992" cy="1295698"/>
          </a:xfrm>
          <a:prstGeom prst="roundRect">
            <a:avLst>
              <a:gd fmla="val 1539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5"/>
          <p:cNvSpPr/>
          <p:nvPr/>
        </p:nvSpPr>
        <p:spPr>
          <a:xfrm>
            <a:off x="757535" y="3481313"/>
            <a:ext cx="3459807" cy="102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import csv</a:t>
            </a:r>
            <a:endParaRPr b="0" i="0" sz="1000" u="none" cap="none" strike="noStrike"/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with open("data.csv") as f:</a:t>
            </a:r>
            <a:endParaRPr b="0" i="0" sz="1000" u="none" cap="none" strike="noStrike"/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reader = csv.reader(f)</a:t>
            </a:r>
            <a:endParaRPr b="0" i="0" sz="1000" u="none" cap="none" strike="noStrike"/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for row in reader:</a:t>
            </a:r>
            <a:endParaRPr b="0" i="0" sz="1000" u="none" cap="none" strike="noStrike"/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       print(row)</a:t>
            </a:r>
            <a:endParaRPr b="0" i="0" sz="1000" u="none" cap="none" strike="noStrike"/>
          </a:p>
        </p:txBody>
      </p:sp>
      <p:sp>
        <p:nvSpPr>
          <p:cNvPr id="175" name="Google Shape;175;p25"/>
          <p:cNvSpPr/>
          <p:nvPr/>
        </p:nvSpPr>
        <p:spPr>
          <a:xfrm>
            <a:off x="4634285" y="1843460"/>
            <a:ext cx="4044553" cy="2933551"/>
          </a:xfrm>
          <a:prstGeom prst="roundRect">
            <a:avLst>
              <a:gd fmla="val 680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5"/>
          <p:cNvSpPr/>
          <p:nvPr/>
        </p:nvSpPr>
        <p:spPr>
          <a:xfrm>
            <a:off x="4767188" y="1976363"/>
            <a:ext cx="398711" cy="398711"/>
          </a:xfrm>
          <a:prstGeom prst="roundRect">
            <a:avLst>
              <a:gd fmla="val 14332257" name="adj"/>
            </a:avLst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7" name="Google Shape;17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6800" y="2085975"/>
            <a:ext cx="179412" cy="17941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5"/>
          <p:cNvSpPr/>
          <p:nvPr/>
        </p:nvSpPr>
        <p:spPr>
          <a:xfrm>
            <a:off x="4767188" y="2499643"/>
            <a:ext cx="1661294" cy="217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csv.DictReader</a:t>
            </a:r>
            <a:endParaRPr b="0" i="0" sz="1300" u="none" cap="none" strike="noStrike"/>
          </a:p>
        </p:txBody>
      </p:sp>
      <p:sp>
        <p:nvSpPr>
          <p:cNvPr id="179" name="Google Shape;179;p25"/>
          <p:cNvSpPr/>
          <p:nvPr/>
        </p:nvSpPr>
        <p:spPr>
          <a:xfrm>
            <a:off x="4767188" y="2791569"/>
            <a:ext cx="3778746" cy="411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Returns each row as a </a:t>
            </a:r>
            <a:r>
              <a:rPr b="1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dictionary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, using the header row as keys. Much more readable!</a:t>
            </a:r>
            <a:endParaRPr b="0" i="0" sz="1000" u="none" cap="none" strike="noStrike"/>
          </a:p>
        </p:txBody>
      </p:sp>
      <p:sp>
        <p:nvSpPr>
          <p:cNvPr id="180" name="Google Shape;180;p25"/>
          <p:cNvSpPr/>
          <p:nvPr/>
        </p:nvSpPr>
        <p:spPr>
          <a:xfrm>
            <a:off x="4767188" y="3343647"/>
            <a:ext cx="3778746" cy="1295698"/>
          </a:xfrm>
          <a:prstGeom prst="roundRect">
            <a:avLst>
              <a:gd fmla="val 1539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5"/>
          <p:cNvSpPr/>
          <p:nvPr/>
        </p:nvSpPr>
        <p:spPr>
          <a:xfrm>
            <a:off x="4760565" y="3343647"/>
            <a:ext cx="3791992" cy="1295698"/>
          </a:xfrm>
          <a:prstGeom prst="roundRect">
            <a:avLst>
              <a:gd fmla="val 1539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5"/>
          <p:cNvSpPr/>
          <p:nvPr/>
        </p:nvSpPr>
        <p:spPr>
          <a:xfrm>
            <a:off x="4926657" y="3476551"/>
            <a:ext cx="3459807" cy="102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import csv</a:t>
            </a:r>
            <a:endParaRPr b="0" i="0" sz="1000" u="none" cap="none" strike="noStrike"/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with open("data.csv") as f:</a:t>
            </a:r>
            <a:endParaRPr b="0" i="0" sz="1000" u="none" cap="none" strike="noStrike"/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reader = csv.DictReader(f)</a:t>
            </a:r>
            <a:endParaRPr b="0" i="0" sz="1000" u="none" cap="none" strike="noStrike"/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for row in reader:</a:t>
            </a:r>
            <a:endParaRPr b="0" i="0" sz="1000" u="none" cap="none" strike="noStrike"/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print(row["name"])</a:t>
            </a:r>
            <a:endParaRPr b="0" i="0" sz="1000" u="none" cap="none" strike="noStrike"/>
          </a:p>
        </p:txBody>
      </p:sp>
      <p:pic>
        <p:nvPicPr>
          <p:cNvPr id="183" name="Google Shape;183;p25" title="Logo Black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5777" y="104678"/>
            <a:ext cx="1827251" cy="33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9" name="Google Shape;18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349" y="1235199"/>
            <a:ext cx="2673028" cy="267302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6"/>
          <p:cNvSpPr/>
          <p:nvPr/>
        </p:nvSpPr>
        <p:spPr>
          <a:xfrm>
            <a:off x="3453929" y="496342"/>
            <a:ext cx="1895401" cy="239018"/>
          </a:xfrm>
          <a:prstGeom prst="roundRect">
            <a:avLst>
              <a:gd fmla="val 6561" name="adj"/>
            </a:avLst>
          </a:prstGeom>
          <a:solidFill>
            <a:srgbClr val="E3E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6"/>
          <p:cNvSpPr/>
          <p:nvPr/>
        </p:nvSpPr>
        <p:spPr>
          <a:xfrm>
            <a:off x="3532287" y="535484"/>
            <a:ext cx="2195885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LIST COMPREHENSIONS — PART 1</a:t>
            </a:r>
            <a:endParaRPr b="0" i="0" sz="800" u="none" cap="none" strike="noStrike"/>
          </a:p>
        </p:txBody>
      </p:sp>
      <p:sp>
        <p:nvSpPr>
          <p:cNvPr id="192" name="Google Shape;192;p26"/>
          <p:cNvSpPr/>
          <p:nvPr/>
        </p:nvSpPr>
        <p:spPr>
          <a:xfrm>
            <a:off x="3453929" y="783506"/>
            <a:ext cx="4920332" cy="408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550"/>
              <a:buFont typeface="DM Sans Medium"/>
              <a:buNone/>
            </a:pPr>
            <a:r>
              <a:rPr b="0" i="0" lang="en-US" sz="25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List Comprehensions: Syntax</a:t>
            </a:r>
            <a:endParaRPr b="0" i="0" sz="2550" u="none" cap="none" strike="noStrike"/>
          </a:p>
        </p:txBody>
      </p:sp>
      <p:sp>
        <p:nvSpPr>
          <p:cNvPr id="193" name="Google Shape;193;p26"/>
          <p:cNvSpPr/>
          <p:nvPr/>
        </p:nvSpPr>
        <p:spPr>
          <a:xfrm>
            <a:off x="3453929" y="1312366"/>
            <a:ext cx="5690071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 list comprehension replaces a </a:t>
            </a: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loop + </a:t>
            </a: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.append()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in a single, readable line.</a:t>
            </a:r>
            <a:endParaRPr b="0" i="0" sz="1000" u="none" cap="none" strike="noStrike"/>
          </a:p>
        </p:txBody>
      </p:sp>
      <p:sp>
        <p:nvSpPr>
          <p:cNvPr id="194" name="Google Shape;194;p26"/>
          <p:cNvSpPr/>
          <p:nvPr/>
        </p:nvSpPr>
        <p:spPr>
          <a:xfrm>
            <a:off x="3453929" y="1648718"/>
            <a:ext cx="5237411" cy="527745"/>
          </a:xfrm>
          <a:prstGeom prst="roundRect">
            <a:avLst>
              <a:gd fmla="val 3715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5" name="Google Shape;19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4600" y="1845320"/>
            <a:ext cx="163339" cy="13067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6"/>
          <p:cNvSpPr/>
          <p:nvPr/>
        </p:nvSpPr>
        <p:spPr>
          <a:xfrm>
            <a:off x="3878610" y="1801862"/>
            <a:ext cx="5139258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Pattern:</a:t>
            </a:r>
            <a:r>
              <a:rPr b="0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00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[expression for item in iterable]</a:t>
            </a:r>
            <a:endParaRPr b="0" i="0" sz="1000" u="none" cap="none" strike="noStrike"/>
          </a:p>
        </p:txBody>
      </p:sp>
      <p:sp>
        <p:nvSpPr>
          <p:cNvPr id="197" name="Google Shape;197;p26"/>
          <p:cNvSpPr/>
          <p:nvPr/>
        </p:nvSpPr>
        <p:spPr>
          <a:xfrm>
            <a:off x="3453929" y="2311971"/>
            <a:ext cx="5690071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The old way:</a:t>
            </a:r>
            <a:endParaRPr b="0" i="0" sz="1000" u="none" cap="none" strike="noStrike"/>
          </a:p>
        </p:txBody>
      </p:sp>
      <p:sp>
        <p:nvSpPr>
          <p:cNvPr id="198" name="Google Shape;198;p26"/>
          <p:cNvSpPr/>
          <p:nvPr/>
        </p:nvSpPr>
        <p:spPr>
          <a:xfrm>
            <a:off x="3453929" y="2648322"/>
            <a:ext cx="5237411" cy="863873"/>
          </a:xfrm>
          <a:prstGeom prst="roundRect">
            <a:avLst>
              <a:gd fmla="val 2269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6"/>
          <p:cNvSpPr/>
          <p:nvPr/>
        </p:nvSpPr>
        <p:spPr>
          <a:xfrm>
            <a:off x="3447455" y="2648322"/>
            <a:ext cx="5250359" cy="863873"/>
          </a:xfrm>
          <a:prstGeom prst="roundRect">
            <a:avLst>
              <a:gd fmla="val 2269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6"/>
          <p:cNvSpPr/>
          <p:nvPr/>
        </p:nvSpPr>
        <p:spPr>
          <a:xfrm>
            <a:off x="3610794" y="2778993"/>
            <a:ext cx="4923681" cy="602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squares = []</a:t>
            </a:r>
            <a:endParaRPr b="0" i="0" sz="1000" u="none" cap="none" strike="noStrike"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for x in range(5):</a:t>
            </a:r>
            <a:endParaRPr b="0" i="0" sz="1000" u="none" cap="none" strike="noStrike"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   squares.append(x**2)</a:t>
            </a:r>
            <a:endParaRPr b="0" i="0" sz="1000" u="none" cap="none" strike="noStrike"/>
          </a:p>
        </p:txBody>
      </p:sp>
      <p:sp>
        <p:nvSpPr>
          <p:cNvPr id="201" name="Google Shape;201;p26"/>
          <p:cNvSpPr/>
          <p:nvPr/>
        </p:nvSpPr>
        <p:spPr>
          <a:xfrm>
            <a:off x="3453929" y="3647703"/>
            <a:ext cx="5690071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With a list comprehension:</a:t>
            </a:r>
            <a:endParaRPr b="0" i="0" sz="1000" u="none" cap="none" strike="noStrike"/>
          </a:p>
        </p:txBody>
      </p:sp>
      <p:sp>
        <p:nvSpPr>
          <p:cNvPr id="202" name="Google Shape;202;p26"/>
          <p:cNvSpPr/>
          <p:nvPr/>
        </p:nvSpPr>
        <p:spPr>
          <a:xfrm>
            <a:off x="3453929" y="3984054"/>
            <a:ext cx="5237411" cy="663029"/>
          </a:xfrm>
          <a:prstGeom prst="roundRect">
            <a:avLst>
              <a:gd fmla="val 2957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6"/>
          <p:cNvSpPr/>
          <p:nvPr/>
        </p:nvSpPr>
        <p:spPr>
          <a:xfrm>
            <a:off x="3447455" y="3984054"/>
            <a:ext cx="5250359" cy="663029"/>
          </a:xfrm>
          <a:prstGeom prst="roundRect">
            <a:avLst>
              <a:gd fmla="val 2957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6"/>
          <p:cNvSpPr/>
          <p:nvPr/>
        </p:nvSpPr>
        <p:spPr>
          <a:xfrm>
            <a:off x="3610794" y="4114726"/>
            <a:ext cx="4923681" cy="401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squares = [x**2 for x in range(5)]</a:t>
            </a:r>
            <a:endParaRPr b="0" i="0" sz="1000" u="none" cap="none" strike="noStrike"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# → [0, 1, 4, 9, 16]</a:t>
            </a:r>
            <a:endParaRPr b="0" i="0" sz="1000" u="none" cap="none" strike="noStrike"/>
          </a:p>
        </p:txBody>
      </p:sp>
      <p:pic>
        <p:nvPicPr>
          <p:cNvPr id="205" name="Google Shape;205;p26" title="Logo Black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7540" y="122903"/>
            <a:ext cx="1827251" cy="33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/>
          <p:nvPr/>
        </p:nvSpPr>
        <p:spPr>
          <a:xfrm>
            <a:off x="434132" y="355625"/>
            <a:ext cx="1819721" cy="223317"/>
          </a:xfrm>
          <a:prstGeom prst="roundRect">
            <a:avLst>
              <a:gd fmla="val 6666" name="adj"/>
            </a:avLst>
          </a:prstGeom>
          <a:solidFill>
            <a:srgbClr val="E3E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7"/>
          <p:cNvSpPr/>
          <p:nvPr/>
        </p:nvSpPr>
        <p:spPr>
          <a:xfrm>
            <a:off x="508546" y="392832"/>
            <a:ext cx="2128093" cy="148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LIST COMPREHENSIONS — PART 2</a:t>
            </a:r>
            <a:endParaRPr b="0" i="0" sz="750" u="none" cap="none" strike="noStrike"/>
          </a:p>
        </p:txBody>
      </p:sp>
      <p:sp>
        <p:nvSpPr>
          <p:cNvPr id="213" name="Google Shape;213;p27"/>
          <p:cNvSpPr/>
          <p:nvPr/>
        </p:nvSpPr>
        <p:spPr>
          <a:xfrm>
            <a:off x="434132" y="622325"/>
            <a:ext cx="486757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400"/>
              <a:buFont typeface="DM Sans Medium"/>
              <a:buNone/>
            </a:pPr>
            <a:r>
              <a:rPr b="0" i="0" lang="en-US" sz="24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List Comprehensions: Filtering</a:t>
            </a:r>
            <a:endParaRPr b="0" i="0" sz="2400" u="none" cap="none" strike="noStrike"/>
          </a:p>
        </p:txBody>
      </p:sp>
      <p:sp>
        <p:nvSpPr>
          <p:cNvPr id="214" name="Google Shape;214;p27"/>
          <p:cNvSpPr/>
          <p:nvPr/>
        </p:nvSpPr>
        <p:spPr>
          <a:xfrm>
            <a:off x="434132" y="1270248"/>
            <a:ext cx="2699817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Add an </a:t>
            </a:r>
            <a:r>
              <a:rPr b="0" i="0" lang="en-US" sz="9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clause at the end to </a:t>
            </a:r>
            <a:r>
              <a:rPr b="1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keep only matching items</a:t>
            </a: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. Items that don't satisfy the condition are excluded from the result.</a:t>
            </a:r>
            <a:endParaRPr b="0" i="0" sz="950" u="none" cap="none" strike="noStrike"/>
          </a:p>
        </p:txBody>
      </p:sp>
      <p:sp>
        <p:nvSpPr>
          <p:cNvPr id="215" name="Google Shape;215;p27"/>
          <p:cNvSpPr/>
          <p:nvPr/>
        </p:nvSpPr>
        <p:spPr>
          <a:xfrm>
            <a:off x="434132" y="1950393"/>
            <a:ext cx="2699817" cy="671140"/>
          </a:xfrm>
          <a:prstGeom prst="roundRect">
            <a:avLst>
              <a:gd fmla="val 2772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6" name="Google Shape;21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105" y="2134939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7"/>
          <p:cNvSpPr/>
          <p:nvPr/>
        </p:nvSpPr>
        <p:spPr>
          <a:xfrm>
            <a:off x="837084" y="2089845"/>
            <a:ext cx="2172891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Pattern:</a:t>
            </a:r>
            <a:r>
              <a:rPr b="0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95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[expression for item in iterable if condition]</a:t>
            </a:r>
            <a:endParaRPr b="0" i="0" sz="950" u="none" cap="none" strike="noStrike"/>
          </a:p>
        </p:txBody>
      </p:sp>
      <p:sp>
        <p:nvSpPr>
          <p:cNvPr id="218" name="Google Shape;218;p27"/>
          <p:cNvSpPr/>
          <p:nvPr/>
        </p:nvSpPr>
        <p:spPr>
          <a:xfrm>
            <a:off x="434132" y="2743572"/>
            <a:ext cx="2699817" cy="1922264"/>
          </a:xfrm>
          <a:prstGeom prst="roundRect">
            <a:avLst>
              <a:gd fmla="val 968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7"/>
          <p:cNvSpPr/>
          <p:nvPr/>
        </p:nvSpPr>
        <p:spPr>
          <a:xfrm>
            <a:off x="427955" y="2743572"/>
            <a:ext cx="2712169" cy="1922264"/>
          </a:xfrm>
          <a:prstGeom prst="roundRect">
            <a:avLst>
              <a:gd fmla="val 968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7"/>
          <p:cNvSpPr/>
          <p:nvPr/>
        </p:nvSpPr>
        <p:spPr>
          <a:xfrm>
            <a:off x="582960" y="2867546"/>
            <a:ext cx="2402160" cy="1674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Keep only even numbers</a:t>
            </a:r>
            <a:endParaRPr b="0" i="0" sz="950" u="none" cap="none" strike="noStrike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evens = [x for x in range(10) if x % 2 == 0]</a:t>
            </a:r>
            <a:endParaRPr b="0" i="0" sz="950" u="none" cap="none" strike="noStrike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→ [0, 2, 4, 6, 8]</a:t>
            </a:r>
            <a:endParaRPr b="0" i="0" sz="950" u="none" cap="none" strike="noStrike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None/>
            </a:pPr>
            <a:r>
              <a:t/>
            </a:r>
            <a:endParaRPr b="0" i="0" sz="950" u="none" cap="none" strike="noStrike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Keep only long words</a:t>
            </a:r>
            <a:endParaRPr b="0" i="0" sz="950" u="none" cap="none" strike="noStrike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words = ["hi", "hello", "hey", "greetings"]</a:t>
            </a:r>
            <a:endParaRPr b="0" i="0" sz="950" u="none" cap="none" strike="noStrike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long_words = [w for w in words if len(w) &gt; 3]</a:t>
            </a:r>
            <a:endParaRPr b="0" i="0" sz="950" u="none" cap="none" strike="noStrike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→ ["hello", "greetings"]</a:t>
            </a:r>
            <a:endParaRPr b="0" i="0" sz="950" u="none" cap="none" strike="noStrike"/>
          </a:p>
        </p:txBody>
      </p:sp>
      <p:pic>
        <p:nvPicPr>
          <p:cNvPr descr="preencoded.png" id="221" name="Google Shape;22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9814" y="1670298"/>
            <a:ext cx="3936206" cy="233615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7"/>
          <p:cNvSpPr/>
          <p:nvPr/>
        </p:nvSpPr>
        <p:spPr>
          <a:xfrm>
            <a:off x="6620874" y="3464569"/>
            <a:ext cx="1207053" cy="188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50"/>
              <a:buFont typeface="DM Sans Medium"/>
              <a:buNone/>
            </a:pPr>
            <a:r>
              <a:rPr b="0" i="0" lang="en-US" sz="11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Filtered List</a:t>
            </a:r>
            <a:endParaRPr b="0" i="0" sz="1150" u="none" cap="none" strike="noStrike"/>
          </a:p>
        </p:txBody>
      </p:sp>
      <p:sp>
        <p:nvSpPr>
          <p:cNvPr id="223" name="Google Shape;223;p27"/>
          <p:cNvSpPr/>
          <p:nvPr/>
        </p:nvSpPr>
        <p:spPr>
          <a:xfrm>
            <a:off x="5387756" y="3464569"/>
            <a:ext cx="1207052" cy="188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50"/>
              <a:buFont typeface="DM Sans Medium"/>
              <a:buNone/>
            </a:pPr>
            <a:r>
              <a:rPr b="0" i="0" lang="en-US" sz="11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Apply if</a:t>
            </a:r>
            <a:endParaRPr b="0" i="0" sz="1150" u="none" cap="none" strike="noStrike"/>
          </a:p>
        </p:txBody>
      </p:sp>
      <p:sp>
        <p:nvSpPr>
          <p:cNvPr id="224" name="Google Shape;224;p27"/>
          <p:cNvSpPr/>
          <p:nvPr/>
        </p:nvSpPr>
        <p:spPr>
          <a:xfrm>
            <a:off x="4134532" y="3464569"/>
            <a:ext cx="1207052" cy="188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50"/>
              <a:buFont typeface="DM Sans Medium"/>
              <a:buNone/>
            </a:pPr>
            <a:r>
              <a:rPr b="0" i="0" lang="en-US" sz="11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Full List</a:t>
            </a:r>
            <a:endParaRPr b="0" i="0" sz="1150" u="none" cap="none" strike="noStrike"/>
          </a:p>
        </p:txBody>
      </p:sp>
      <p:sp>
        <p:nvSpPr>
          <p:cNvPr id="225" name="Google Shape;225;p27"/>
          <p:cNvSpPr/>
          <p:nvPr/>
        </p:nvSpPr>
        <p:spPr>
          <a:xfrm>
            <a:off x="3441278" y="4128492"/>
            <a:ext cx="5702722" cy="186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b="0" i="0" lang="en-US" sz="9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clause acts as a gate — only items that pass the condition make it into the final list.</a:t>
            </a:r>
            <a:endParaRPr b="0" i="0" sz="950" u="none" cap="none" strike="noStrike"/>
          </a:p>
        </p:txBody>
      </p:sp>
      <p:pic>
        <p:nvPicPr>
          <p:cNvPr id="226" name="Google Shape;226;p27" title="Logo Black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5777" y="104678"/>
            <a:ext cx="1827251" cy="33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2" name="Google Shape;23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8"/>
          <p:cNvSpPr/>
          <p:nvPr/>
        </p:nvSpPr>
        <p:spPr>
          <a:xfrm>
            <a:off x="395362" y="584076"/>
            <a:ext cx="4924276" cy="705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List Comprehensions: Transformation</a:t>
            </a:r>
            <a:endParaRPr b="0" i="0" sz="2200" u="none" cap="none" strike="noStrike"/>
          </a:p>
        </p:txBody>
      </p:sp>
      <p:sp>
        <p:nvSpPr>
          <p:cNvPr id="234" name="Google Shape;234;p28"/>
          <p:cNvSpPr/>
          <p:nvPr/>
        </p:nvSpPr>
        <p:spPr>
          <a:xfrm>
            <a:off x="395362" y="1424955"/>
            <a:ext cx="5381476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Change the </a:t>
            </a:r>
            <a:r>
              <a:rPr b="1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expression before</a:t>
            </a: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8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to transform every item in the list.</a:t>
            </a:r>
            <a:endParaRPr b="0" i="0" sz="850" u="none" cap="none" strike="noStrike"/>
          </a:p>
        </p:txBody>
      </p:sp>
      <p:sp>
        <p:nvSpPr>
          <p:cNvPr id="235" name="Google Shape;235;p28"/>
          <p:cNvSpPr/>
          <p:nvPr/>
        </p:nvSpPr>
        <p:spPr>
          <a:xfrm>
            <a:off x="395362" y="1693292"/>
            <a:ext cx="2417118" cy="1245245"/>
          </a:xfrm>
          <a:prstGeom prst="roundRect">
            <a:avLst>
              <a:gd fmla="val 1361" name="adj"/>
            </a:avLst>
          </a:prstGeom>
          <a:solidFill>
            <a:srgbClr val="F9F8F5"/>
          </a:solidFill>
          <a:ln cap="flat" cmpd="sng" w="14275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8"/>
          <p:cNvSpPr/>
          <p:nvPr/>
        </p:nvSpPr>
        <p:spPr>
          <a:xfrm>
            <a:off x="522610" y="1820540"/>
            <a:ext cx="1439466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DM Sans Medium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String Transformation</a:t>
            </a:r>
            <a:endParaRPr b="0" i="0" sz="1100" u="none" cap="none" strike="noStrike"/>
          </a:p>
        </p:txBody>
      </p:sp>
      <p:sp>
        <p:nvSpPr>
          <p:cNvPr id="237" name="Google Shape;237;p28"/>
          <p:cNvSpPr/>
          <p:nvPr/>
        </p:nvSpPr>
        <p:spPr>
          <a:xfrm>
            <a:off x="522610" y="2098253"/>
            <a:ext cx="2162621" cy="713036"/>
          </a:xfrm>
          <a:prstGeom prst="roundRect">
            <a:avLst>
              <a:gd fmla="val 2377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8"/>
          <p:cNvSpPr/>
          <p:nvPr/>
        </p:nvSpPr>
        <p:spPr>
          <a:xfrm>
            <a:off x="517029" y="2098253"/>
            <a:ext cx="2173784" cy="713036"/>
          </a:xfrm>
          <a:prstGeom prst="roundRect">
            <a:avLst>
              <a:gd fmla="val 2377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8"/>
          <p:cNvSpPr/>
          <p:nvPr/>
        </p:nvSpPr>
        <p:spPr>
          <a:xfrm>
            <a:off x="658192" y="2211214"/>
            <a:ext cx="1891457" cy="487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5CC5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[name.upper() for name in ["alice", "bob"]]</a:t>
            </a:r>
            <a:endParaRPr b="0" i="0" sz="850" u="none" cap="none" strike="noStrike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5CC5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→ ["ALICE", "BOB"]</a:t>
            </a:r>
            <a:endParaRPr b="0" i="0" sz="850" u="none" cap="none" strike="noStrike"/>
          </a:p>
        </p:txBody>
      </p:sp>
      <p:sp>
        <p:nvSpPr>
          <p:cNvPr id="240" name="Google Shape;240;p28"/>
          <p:cNvSpPr/>
          <p:nvPr/>
        </p:nvSpPr>
        <p:spPr>
          <a:xfrm>
            <a:off x="2902446" y="1693292"/>
            <a:ext cx="2417192" cy="1245245"/>
          </a:xfrm>
          <a:prstGeom prst="roundRect">
            <a:avLst>
              <a:gd fmla="val 1361" name="adj"/>
            </a:avLst>
          </a:prstGeom>
          <a:solidFill>
            <a:srgbClr val="F9F8F5"/>
          </a:solidFill>
          <a:ln cap="flat" cmpd="sng" w="14275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8"/>
          <p:cNvSpPr/>
          <p:nvPr/>
        </p:nvSpPr>
        <p:spPr>
          <a:xfrm>
            <a:off x="3029694" y="1820540"/>
            <a:ext cx="1412081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DM Sans Medium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Math Transformation</a:t>
            </a:r>
            <a:endParaRPr b="0" i="0" sz="1100" u="none" cap="none" strike="noStrike"/>
          </a:p>
        </p:txBody>
      </p:sp>
      <p:sp>
        <p:nvSpPr>
          <p:cNvPr id="242" name="Google Shape;242;p28"/>
          <p:cNvSpPr/>
          <p:nvPr/>
        </p:nvSpPr>
        <p:spPr>
          <a:xfrm>
            <a:off x="3029694" y="2098253"/>
            <a:ext cx="2162696" cy="713036"/>
          </a:xfrm>
          <a:prstGeom prst="roundRect">
            <a:avLst>
              <a:gd fmla="val 2377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8"/>
          <p:cNvSpPr/>
          <p:nvPr/>
        </p:nvSpPr>
        <p:spPr>
          <a:xfrm>
            <a:off x="3024113" y="2098253"/>
            <a:ext cx="2173858" cy="713036"/>
          </a:xfrm>
          <a:prstGeom prst="roundRect">
            <a:avLst>
              <a:gd fmla="val 2377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8"/>
          <p:cNvSpPr/>
          <p:nvPr/>
        </p:nvSpPr>
        <p:spPr>
          <a:xfrm>
            <a:off x="3165277" y="2211214"/>
            <a:ext cx="1891531" cy="487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[round(n, 2) for n in [3.14159, 2.71828]]</a:t>
            </a:r>
            <a:endParaRPr b="0" i="0" sz="850" u="none" cap="none" strike="noStrike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# → [3.14, 2.72]</a:t>
            </a:r>
            <a:endParaRPr b="0" i="0" sz="850" u="none" cap="none" strike="noStrike"/>
          </a:p>
        </p:txBody>
      </p:sp>
      <p:sp>
        <p:nvSpPr>
          <p:cNvPr id="245" name="Google Shape;245;p28"/>
          <p:cNvSpPr/>
          <p:nvPr/>
        </p:nvSpPr>
        <p:spPr>
          <a:xfrm>
            <a:off x="395362" y="3028504"/>
            <a:ext cx="4924276" cy="1082873"/>
          </a:xfrm>
          <a:prstGeom prst="roundRect">
            <a:avLst>
              <a:gd fmla="val 1565" name="adj"/>
            </a:avLst>
          </a:prstGeom>
          <a:solidFill>
            <a:srgbClr val="F9F8F5"/>
          </a:solidFill>
          <a:ln cap="flat" cmpd="sng" w="14275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8"/>
          <p:cNvSpPr/>
          <p:nvPr/>
        </p:nvSpPr>
        <p:spPr>
          <a:xfrm>
            <a:off x="522610" y="3155752"/>
            <a:ext cx="1922115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DM Sans Medium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Combined: Transform + Filter</a:t>
            </a:r>
            <a:endParaRPr b="0" i="0" sz="1100" u="none" cap="none" strike="noStrike"/>
          </a:p>
        </p:txBody>
      </p:sp>
      <p:sp>
        <p:nvSpPr>
          <p:cNvPr id="247" name="Google Shape;247;p28"/>
          <p:cNvSpPr/>
          <p:nvPr/>
        </p:nvSpPr>
        <p:spPr>
          <a:xfrm>
            <a:off x="522610" y="3433465"/>
            <a:ext cx="4669780" cy="550664"/>
          </a:xfrm>
          <a:prstGeom prst="roundRect">
            <a:avLst>
              <a:gd fmla="val 3077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8"/>
          <p:cNvSpPr/>
          <p:nvPr/>
        </p:nvSpPr>
        <p:spPr>
          <a:xfrm>
            <a:off x="517029" y="3433465"/>
            <a:ext cx="4680942" cy="550664"/>
          </a:xfrm>
          <a:prstGeom prst="roundRect">
            <a:avLst>
              <a:gd fmla="val 3077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8"/>
          <p:cNvSpPr/>
          <p:nvPr/>
        </p:nvSpPr>
        <p:spPr>
          <a:xfrm>
            <a:off x="658192" y="3546425"/>
            <a:ext cx="4398615" cy="324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[x**2 for x in range(10) if x % 2 == 0]</a:t>
            </a:r>
            <a:endParaRPr b="0" i="0" sz="850" u="none" cap="none" strike="noStrike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# → [0, 4, 16, 36, 64]</a:t>
            </a:r>
            <a:endParaRPr b="0" i="0" sz="850" u="none" cap="none" strike="noStrike"/>
          </a:p>
        </p:txBody>
      </p:sp>
      <p:sp>
        <p:nvSpPr>
          <p:cNvPr id="250" name="Google Shape;250;p28"/>
          <p:cNvSpPr/>
          <p:nvPr/>
        </p:nvSpPr>
        <p:spPr>
          <a:xfrm>
            <a:off x="395362" y="4212580"/>
            <a:ext cx="4924276" cy="580355"/>
          </a:xfrm>
          <a:prstGeom prst="roundRect">
            <a:avLst>
              <a:gd fmla="val 2920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1" name="Google Shape;25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322" y="4373910"/>
            <a:ext cx="141163" cy="11296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8"/>
          <p:cNvSpPr/>
          <p:nvPr/>
        </p:nvSpPr>
        <p:spPr>
          <a:xfrm>
            <a:off x="762446" y="4330750"/>
            <a:ext cx="4444231" cy="324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You </a:t>
            </a:r>
            <a:r>
              <a:rPr b="0" i="1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can</a:t>
            </a: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combine transformation and filtering in one line — but keep it readable. If it's hard to scan, split it up.</a:t>
            </a:r>
            <a:endParaRPr b="0" i="0" sz="850" u="none" cap="none" strike="noStrike"/>
          </a:p>
        </p:txBody>
      </p:sp>
      <p:pic>
        <p:nvPicPr>
          <p:cNvPr id="253" name="Google Shape;253;p28" title="Logo Black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7540" y="122903"/>
            <a:ext cx="1827251" cy="33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9"/>
          <p:cNvSpPr/>
          <p:nvPr/>
        </p:nvSpPr>
        <p:spPr>
          <a:xfrm>
            <a:off x="434132" y="776064"/>
            <a:ext cx="1176858" cy="223317"/>
          </a:xfrm>
          <a:prstGeom prst="roundRect">
            <a:avLst>
              <a:gd fmla="val 6666" name="adj"/>
            </a:avLst>
          </a:prstGeom>
          <a:solidFill>
            <a:srgbClr val="E3E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9"/>
          <p:cNvSpPr/>
          <p:nvPr/>
        </p:nvSpPr>
        <p:spPr>
          <a:xfrm>
            <a:off x="508546" y="813271"/>
            <a:ext cx="1485230" cy="148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LAMBDA FUNCTIONS</a:t>
            </a:r>
            <a:endParaRPr b="0" i="0" sz="750" u="none" cap="none" strike="noStrike"/>
          </a:p>
        </p:txBody>
      </p:sp>
      <p:sp>
        <p:nvSpPr>
          <p:cNvPr id="261" name="Google Shape;261;p29"/>
          <p:cNvSpPr/>
          <p:nvPr/>
        </p:nvSpPr>
        <p:spPr>
          <a:xfrm>
            <a:off x="434132" y="1042764"/>
            <a:ext cx="5273278" cy="775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400"/>
              <a:buFont typeface="DM Sans Medium"/>
              <a:buNone/>
            </a:pPr>
            <a:r>
              <a:rPr b="0" i="0" lang="en-US" sz="24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Lambda Functions: Anonymous One-Liners</a:t>
            </a:r>
            <a:endParaRPr b="0" i="0" sz="2400" u="none" cap="none" strike="noStrike"/>
          </a:p>
        </p:txBody>
      </p:sp>
      <p:sp>
        <p:nvSpPr>
          <p:cNvPr id="262" name="Google Shape;262;p29"/>
          <p:cNvSpPr/>
          <p:nvPr/>
        </p:nvSpPr>
        <p:spPr>
          <a:xfrm>
            <a:off x="434132" y="1939900"/>
            <a:ext cx="5273278" cy="485105"/>
          </a:xfrm>
          <a:prstGeom prst="roundRect">
            <a:avLst>
              <a:gd fmla="val 3836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3" name="Google Shape;26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105" y="2124447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9"/>
          <p:cNvSpPr/>
          <p:nvPr/>
        </p:nvSpPr>
        <p:spPr>
          <a:xfrm>
            <a:off x="837084" y="2079352"/>
            <a:ext cx="5203552" cy="186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Syntax:</a:t>
            </a:r>
            <a:r>
              <a:rPr b="0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95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lambda arguments: expression</a:t>
            </a:r>
            <a:endParaRPr b="0" i="0" sz="950" u="none" cap="none" strike="noStrike"/>
          </a:p>
        </p:txBody>
      </p:sp>
      <p:sp>
        <p:nvSpPr>
          <p:cNvPr id="265" name="Google Shape;265;p29"/>
          <p:cNvSpPr/>
          <p:nvPr/>
        </p:nvSpPr>
        <p:spPr>
          <a:xfrm>
            <a:off x="434132" y="2547045"/>
            <a:ext cx="5273278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No </a:t>
            </a:r>
            <a:r>
              <a:rPr b="0" i="0" lang="en-US" sz="9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, no name, no </a:t>
            </a:r>
            <a:r>
              <a:rPr b="0" i="0" lang="en-US" sz="9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the expression </a:t>
            </a:r>
            <a:r>
              <a:rPr b="0" i="1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is</a:t>
            </a: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the return value. Best used as short, throwaway functions passed into other functions.</a:t>
            </a:r>
            <a:endParaRPr b="0" i="0" sz="950" u="none" cap="none" strike="noStrike"/>
          </a:p>
        </p:txBody>
      </p:sp>
      <p:pic>
        <p:nvPicPr>
          <p:cNvPr descr="preencoded.png" id="266" name="Google Shape;26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4740" y="485477"/>
            <a:ext cx="2699817" cy="2699817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9"/>
          <p:cNvSpPr/>
          <p:nvPr/>
        </p:nvSpPr>
        <p:spPr>
          <a:xfrm>
            <a:off x="434132" y="3429372"/>
            <a:ext cx="279053" cy="279053"/>
          </a:xfrm>
          <a:prstGeom prst="roundRect">
            <a:avLst>
              <a:gd fmla="val 6668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9"/>
          <p:cNvSpPr/>
          <p:nvPr/>
        </p:nvSpPr>
        <p:spPr>
          <a:xfrm>
            <a:off x="480640" y="3452626"/>
            <a:ext cx="186035" cy="232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450"/>
              <a:buFont typeface="DM Sans Medium"/>
              <a:buNone/>
            </a:pPr>
            <a:r>
              <a:rPr b="0" i="0" lang="en-US" sz="14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</a:t>
            </a:r>
            <a:endParaRPr b="0" i="0" sz="1450" u="none" cap="none" strike="noStrike"/>
          </a:p>
        </p:txBody>
      </p:sp>
      <p:sp>
        <p:nvSpPr>
          <p:cNvPr id="269" name="Google Shape;269;p29"/>
          <p:cNvSpPr/>
          <p:nvPr/>
        </p:nvSpPr>
        <p:spPr>
          <a:xfrm>
            <a:off x="821680" y="3472011"/>
            <a:ext cx="155056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00"/>
              <a:buFont typeface="DM Sans Medium"/>
              <a:buNone/>
            </a:pPr>
            <a:r>
              <a:rPr b="0" i="0" lang="en-US" sz="1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Basic usage</a:t>
            </a:r>
            <a:endParaRPr b="0" i="0" sz="1200" u="none" cap="none" strike="noStrike"/>
          </a:p>
        </p:txBody>
      </p:sp>
      <p:sp>
        <p:nvSpPr>
          <p:cNvPr id="270" name="Google Shape;270;p29"/>
          <p:cNvSpPr/>
          <p:nvPr/>
        </p:nvSpPr>
        <p:spPr>
          <a:xfrm>
            <a:off x="821680" y="3787899"/>
            <a:ext cx="2280568" cy="620018"/>
          </a:xfrm>
          <a:prstGeom prst="roundRect">
            <a:avLst>
              <a:gd fmla="val 300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9"/>
          <p:cNvSpPr/>
          <p:nvPr/>
        </p:nvSpPr>
        <p:spPr>
          <a:xfrm>
            <a:off x="815504" y="3787899"/>
            <a:ext cx="2292921" cy="620018"/>
          </a:xfrm>
          <a:prstGeom prst="roundRect">
            <a:avLst>
              <a:gd fmla="val 300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9"/>
          <p:cNvSpPr/>
          <p:nvPr/>
        </p:nvSpPr>
        <p:spPr>
          <a:xfrm>
            <a:off x="970508" y="3911873"/>
            <a:ext cx="1982912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3620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double = lambda x: x * 2</a:t>
            </a:r>
            <a:endParaRPr b="0" i="0" sz="950" u="none" cap="none" strike="noStrike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3620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double(5)  # → 10</a:t>
            </a:r>
            <a:endParaRPr b="0" i="0" sz="950" u="none" cap="none" strike="noStrike"/>
          </a:p>
        </p:txBody>
      </p:sp>
      <p:sp>
        <p:nvSpPr>
          <p:cNvPr id="273" name="Google Shape;273;p29"/>
          <p:cNvSpPr/>
          <p:nvPr/>
        </p:nvSpPr>
        <p:spPr>
          <a:xfrm>
            <a:off x="3237905" y="3429372"/>
            <a:ext cx="279053" cy="279053"/>
          </a:xfrm>
          <a:prstGeom prst="roundRect">
            <a:avLst>
              <a:gd fmla="val 6668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9"/>
          <p:cNvSpPr/>
          <p:nvPr/>
        </p:nvSpPr>
        <p:spPr>
          <a:xfrm>
            <a:off x="3284413" y="3452626"/>
            <a:ext cx="186035" cy="232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450"/>
              <a:buFont typeface="DM Sans Medium"/>
              <a:buNone/>
            </a:pPr>
            <a:r>
              <a:rPr b="0" i="0" lang="en-US" sz="14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2</a:t>
            </a:r>
            <a:endParaRPr b="0" i="0" sz="1450" u="none" cap="none" strike="noStrike"/>
          </a:p>
        </p:txBody>
      </p:sp>
      <p:sp>
        <p:nvSpPr>
          <p:cNvPr id="275" name="Google Shape;275;p29"/>
          <p:cNvSpPr/>
          <p:nvPr/>
        </p:nvSpPr>
        <p:spPr>
          <a:xfrm>
            <a:off x="3625453" y="3472011"/>
            <a:ext cx="155056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00"/>
              <a:buFont typeface="DM Sans Medium"/>
              <a:buNone/>
            </a:pPr>
            <a:r>
              <a:rPr b="0" i="0" lang="en-US" sz="1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Multiple arguments</a:t>
            </a:r>
            <a:endParaRPr b="0" i="0" sz="1200" u="none" cap="none" strike="noStrike"/>
          </a:p>
        </p:txBody>
      </p:sp>
      <p:sp>
        <p:nvSpPr>
          <p:cNvPr id="276" name="Google Shape;276;p29"/>
          <p:cNvSpPr/>
          <p:nvPr/>
        </p:nvSpPr>
        <p:spPr>
          <a:xfrm>
            <a:off x="3625453" y="3787899"/>
            <a:ext cx="2280568" cy="620018"/>
          </a:xfrm>
          <a:prstGeom prst="roundRect">
            <a:avLst>
              <a:gd fmla="val 300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3619277" y="3787899"/>
            <a:ext cx="2292921" cy="620018"/>
          </a:xfrm>
          <a:prstGeom prst="roundRect">
            <a:avLst>
              <a:gd fmla="val 300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9"/>
          <p:cNvSpPr/>
          <p:nvPr/>
        </p:nvSpPr>
        <p:spPr>
          <a:xfrm>
            <a:off x="3774281" y="3911873"/>
            <a:ext cx="1982912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22863A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add = lambda a, b: a + b</a:t>
            </a:r>
            <a:endParaRPr b="0" i="0" sz="950" u="none" cap="none" strike="noStrike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22863A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add(3, 4)  # → 7</a:t>
            </a:r>
            <a:endParaRPr b="0" i="0" sz="950" u="none" cap="none" strike="noStrike"/>
          </a:p>
        </p:txBody>
      </p:sp>
      <p:sp>
        <p:nvSpPr>
          <p:cNvPr id="279" name="Google Shape;279;p29"/>
          <p:cNvSpPr/>
          <p:nvPr/>
        </p:nvSpPr>
        <p:spPr>
          <a:xfrm>
            <a:off x="6041678" y="3429372"/>
            <a:ext cx="279053" cy="279053"/>
          </a:xfrm>
          <a:prstGeom prst="roundRect">
            <a:avLst>
              <a:gd fmla="val 6668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9"/>
          <p:cNvSpPr/>
          <p:nvPr/>
        </p:nvSpPr>
        <p:spPr>
          <a:xfrm>
            <a:off x="6088187" y="3452626"/>
            <a:ext cx="186035" cy="232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450"/>
              <a:buFont typeface="DM Sans Medium"/>
              <a:buNone/>
            </a:pPr>
            <a:r>
              <a:rPr b="0" i="0" lang="en-US" sz="14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3</a:t>
            </a:r>
            <a:endParaRPr b="0" i="0" sz="1450" u="none" cap="none" strike="noStrike"/>
          </a:p>
        </p:txBody>
      </p:sp>
      <p:sp>
        <p:nvSpPr>
          <p:cNvPr id="281" name="Google Shape;281;p29"/>
          <p:cNvSpPr/>
          <p:nvPr/>
        </p:nvSpPr>
        <p:spPr>
          <a:xfrm>
            <a:off x="6429226" y="3472011"/>
            <a:ext cx="155056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00"/>
              <a:buFont typeface="DM Sans Medium"/>
              <a:buNone/>
            </a:pPr>
            <a:r>
              <a:rPr b="0" i="0" lang="en-US" sz="1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Inline in sorted()</a:t>
            </a:r>
            <a:endParaRPr b="0" i="0" sz="1200" u="none" cap="none" strike="noStrike"/>
          </a:p>
        </p:txBody>
      </p:sp>
      <p:sp>
        <p:nvSpPr>
          <p:cNvPr id="282" name="Google Shape;282;p29"/>
          <p:cNvSpPr/>
          <p:nvPr/>
        </p:nvSpPr>
        <p:spPr>
          <a:xfrm>
            <a:off x="6429226" y="3787899"/>
            <a:ext cx="2280568" cy="992088"/>
          </a:xfrm>
          <a:prstGeom prst="roundRect">
            <a:avLst>
              <a:gd fmla="val 1876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9"/>
          <p:cNvSpPr/>
          <p:nvPr/>
        </p:nvSpPr>
        <p:spPr>
          <a:xfrm>
            <a:off x="6423050" y="3787899"/>
            <a:ext cx="2292921" cy="992088"/>
          </a:xfrm>
          <a:prstGeom prst="roundRect">
            <a:avLst>
              <a:gd fmla="val 1876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9"/>
          <p:cNvSpPr/>
          <p:nvPr/>
        </p:nvSpPr>
        <p:spPr>
          <a:xfrm>
            <a:off x="6578054" y="3911873"/>
            <a:ext cx="1982912" cy="744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22863A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names = ["Charlie", "Alice", "Bob"]</a:t>
            </a:r>
            <a:endParaRPr b="0" i="0" sz="950" u="none" cap="none" strike="noStrike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22863A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sorted(names, key=lambda n: len(n))</a:t>
            </a:r>
            <a:endParaRPr b="0" i="0" sz="950" u="none" cap="none" strike="noStrike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22863A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→ ["Bob", "Alice", "Charlie"]</a:t>
            </a:r>
            <a:endParaRPr b="0" i="0" sz="950" u="none" cap="none" strike="noStrike"/>
          </a:p>
        </p:txBody>
      </p:sp>
      <p:pic>
        <p:nvPicPr>
          <p:cNvPr id="285" name="Google Shape;285;p29" title="Logo Black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7540" y="122903"/>
            <a:ext cx="1827251" cy="33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0"/>
          <p:cNvSpPr/>
          <p:nvPr/>
        </p:nvSpPr>
        <p:spPr>
          <a:xfrm>
            <a:off x="496119" y="870570"/>
            <a:ext cx="1089943" cy="266402"/>
          </a:xfrm>
          <a:prstGeom prst="roundRect">
            <a:avLst>
              <a:gd fmla="val 6386" name="adj"/>
            </a:avLst>
          </a:prstGeom>
          <a:solidFill>
            <a:srgbClr val="E3E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0"/>
          <p:cNvSpPr/>
          <p:nvPr/>
        </p:nvSpPr>
        <p:spPr>
          <a:xfrm>
            <a:off x="581174" y="913061"/>
            <a:ext cx="1377032" cy="18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MAP() &amp; FILTER()</a:t>
            </a:r>
            <a:endParaRPr b="0" i="0" sz="850" u="none" cap="none" strike="noStrike"/>
          </a:p>
        </p:txBody>
      </p:sp>
      <p:sp>
        <p:nvSpPr>
          <p:cNvPr id="293" name="Google Shape;293;p30"/>
          <p:cNvSpPr/>
          <p:nvPr/>
        </p:nvSpPr>
        <p:spPr>
          <a:xfrm>
            <a:off x="496119" y="1193676"/>
            <a:ext cx="5138663" cy="471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Consolas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map()</a:t>
            </a: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: Transform Every Item</a:t>
            </a:r>
            <a:endParaRPr b="0" i="0" sz="2750" u="none" cap="none" strike="noStrike"/>
          </a:p>
        </p:txBody>
      </p:sp>
      <p:sp>
        <p:nvSpPr>
          <p:cNvPr id="294" name="Google Shape;294;p30"/>
          <p:cNvSpPr/>
          <p:nvPr/>
        </p:nvSpPr>
        <p:spPr>
          <a:xfrm>
            <a:off x="496119" y="1877839"/>
            <a:ext cx="2622724" cy="1628403"/>
          </a:xfrm>
          <a:prstGeom prst="roundRect">
            <a:avLst>
              <a:gd fmla="val 1306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0"/>
          <p:cNvSpPr/>
          <p:nvPr/>
        </p:nvSpPr>
        <p:spPr>
          <a:xfrm>
            <a:off x="637877" y="2019598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Syntax</a:t>
            </a:r>
            <a:endParaRPr b="0" i="0" sz="1350" u="none" cap="none" strike="noStrike"/>
          </a:p>
        </p:txBody>
      </p:sp>
      <p:sp>
        <p:nvSpPr>
          <p:cNvPr id="296" name="Google Shape;296;p30"/>
          <p:cNvSpPr/>
          <p:nvPr/>
        </p:nvSpPr>
        <p:spPr>
          <a:xfrm>
            <a:off x="637877" y="2326109"/>
            <a:ext cx="2339206" cy="685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map(function, iterable)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applies the function to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every element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and returns a lazy iterator</a:t>
            </a:r>
            <a:endParaRPr b="0" i="0" sz="1100" u="none" cap="none" strike="noStrike"/>
          </a:p>
        </p:txBody>
      </p:sp>
      <p:sp>
        <p:nvSpPr>
          <p:cNvPr id="297" name="Google Shape;297;p30"/>
          <p:cNvSpPr/>
          <p:nvPr/>
        </p:nvSpPr>
        <p:spPr>
          <a:xfrm>
            <a:off x="3260601" y="1877839"/>
            <a:ext cx="2622724" cy="1628403"/>
          </a:xfrm>
          <a:prstGeom prst="roundRect">
            <a:avLst>
              <a:gd fmla="val 1306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0"/>
          <p:cNvSpPr/>
          <p:nvPr/>
        </p:nvSpPr>
        <p:spPr>
          <a:xfrm>
            <a:off x="3402360" y="2019598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With lambda</a:t>
            </a:r>
            <a:endParaRPr b="0" i="0" sz="1350" u="none" cap="none" strike="noStrike"/>
          </a:p>
        </p:txBody>
      </p:sp>
      <p:sp>
        <p:nvSpPr>
          <p:cNvPr id="299" name="Google Shape;299;p30"/>
          <p:cNvSpPr/>
          <p:nvPr/>
        </p:nvSpPr>
        <p:spPr>
          <a:xfrm>
            <a:off x="3402360" y="2400523"/>
            <a:ext cx="2339206" cy="963960"/>
          </a:xfrm>
          <a:prstGeom prst="roundRect">
            <a:avLst>
              <a:gd fmla="val 2206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0"/>
          <p:cNvSpPr/>
          <p:nvPr/>
        </p:nvSpPr>
        <p:spPr>
          <a:xfrm>
            <a:off x="3395290" y="2400523"/>
            <a:ext cx="2353345" cy="963960"/>
          </a:xfrm>
          <a:prstGeom prst="roundRect">
            <a:avLst>
              <a:gd fmla="val 2206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0"/>
          <p:cNvSpPr/>
          <p:nvPr/>
        </p:nvSpPr>
        <p:spPr>
          <a:xfrm>
            <a:off x="3572470" y="2542282"/>
            <a:ext cx="1998985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2863A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list(map(lambda x: x * 3, [1, 2, 3]))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2863A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→ [3, 6, 9]</a:t>
            </a:r>
            <a:endParaRPr b="0" i="0" sz="1100" u="none" cap="none" strike="noStrike"/>
          </a:p>
        </p:txBody>
      </p:sp>
      <p:sp>
        <p:nvSpPr>
          <p:cNvPr id="302" name="Google Shape;302;p30"/>
          <p:cNvSpPr/>
          <p:nvPr/>
        </p:nvSpPr>
        <p:spPr>
          <a:xfrm>
            <a:off x="6025083" y="1877839"/>
            <a:ext cx="2622724" cy="1628403"/>
          </a:xfrm>
          <a:prstGeom prst="roundRect">
            <a:avLst>
              <a:gd fmla="val 1306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0"/>
          <p:cNvSpPr/>
          <p:nvPr/>
        </p:nvSpPr>
        <p:spPr>
          <a:xfrm>
            <a:off x="6166842" y="2019598"/>
            <a:ext cx="190477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With a named function</a:t>
            </a:r>
            <a:endParaRPr b="0" i="0" sz="1350" u="none" cap="none" strike="noStrike"/>
          </a:p>
        </p:txBody>
      </p:sp>
      <p:sp>
        <p:nvSpPr>
          <p:cNvPr id="304" name="Google Shape;304;p30"/>
          <p:cNvSpPr/>
          <p:nvPr/>
        </p:nvSpPr>
        <p:spPr>
          <a:xfrm>
            <a:off x="6166842" y="2400523"/>
            <a:ext cx="2339206" cy="737146"/>
          </a:xfrm>
          <a:prstGeom prst="roundRect">
            <a:avLst>
              <a:gd fmla="val 2885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0"/>
          <p:cNvSpPr/>
          <p:nvPr/>
        </p:nvSpPr>
        <p:spPr>
          <a:xfrm>
            <a:off x="6159773" y="2400523"/>
            <a:ext cx="2353345" cy="737146"/>
          </a:xfrm>
          <a:prstGeom prst="roundRect">
            <a:avLst>
              <a:gd fmla="val 2885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0"/>
          <p:cNvSpPr/>
          <p:nvPr/>
        </p:nvSpPr>
        <p:spPr>
          <a:xfrm>
            <a:off x="6336953" y="2542282"/>
            <a:ext cx="199898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3620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list(map(str, [1, 2, 3]))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3620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→ ["1", "2", "3"]</a:t>
            </a:r>
            <a:endParaRPr b="0" i="0" sz="1100" u="none" cap="none" strike="noStrike"/>
          </a:p>
        </p:txBody>
      </p:sp>
      <p:sp>
        <p:nvSpPr>
          <p:cNvPr id="307" name="Google Shape;307;p30"/>
          <p:cNvSpPr/>
          <p:nvPr/>
        </p:nvSpPr>
        <p:spPr>
          <a:xfrm>
            <a:off x="496119" y="3665711"/>
            <a:ext cx="8151763" cy="607144"/>
          </a:xfrm>
          <a:prstGeom prst="roundRect">
            <a:avLst>
              <a:gd fmla="val 3502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8" name="Google Shape;30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877" y="3880768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0"/>
          <p:cNvSpPr/>
          <p:nvPr/>
        </p:nvSpPr>
        <p:spPr>
          <a:xfrm>
            <a:off x="956816" y="3842891"/>
            <a:ext cx="8006507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💡 </a:t>
            </a:r>
            <a:r>
              <a:rPr b="0" i="0" lang="en-US" sz="110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map()</a:t>
            </a: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returns a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lazy iterator</a:t>
            </a: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— wrap it in </a:t>
            </a:r>
            <a:r>
              <a:rPr b="0" i="0" lang="en-US" sz="110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list()</a:t>
            </a: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to see the results immediately.</a:t>
            </a:r>
            <a:endParaRPr b="0" i="0" sz="1100" u="none" cap="none" strike="noStrike"/>
          </a:p>
        </p:txBody>
      </p:sp>
      <p:pic>
        <p:nvPicPr>
          <p:cNvPr id="310" name="Google Shape;310;p30" title="Logo Blac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5777" y="104678"/>
            <a:ext cx="1827251" cy="33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6" name="Google Shape;31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489" y="461590"/>
            <a:ext cx="2549054" cy="2549054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1"/>
          <p:cNvSpPr/>
          <p:nvPr/>
        </p:nvSpPr>
        <p:spPr>
          <a:xfrm>
            <a:off x="3503935" y="1040383"/>
            <a:ext cx="868635" cy="197644"/>
          </a:xfrm>
          <a:prstGeom prst="roundRect">
            <a:avLst>
              <a:gd fmla="val 6859" name="adj"/>
            </a:avLst>
          </a:prstGeom>
          <a:solidFill>
            <a:srgbClr val="E3E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1"/>
          <p:cNvSpPr/>
          <p:nvPr/>
        </p:nvSpPr>
        <p:spPr>
          <a:xfrm>
            <a:off x="3571652" y="1074241"/>
            <a:ext cx="1190402" cy="129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MAP() &amp; FILTER()</a:t>
            </a:r>
            <a:endParaRPr b="0" i="0" sz="700" u="none" cap="none" strike="noStrike"/>
          </a:p>
        </p:txBody>
      </p:sp>
      <p:sp>
        <p:nvSpPr>
          <p:cNvPr id="319" name="Google Shape;319;p31"/>
          <p:cNvSpPr/>
          <p:nvPr/>
        </p:nvSpPr>
        <p:spPr>
          <a:xfrm>
            <a:off x="3503935" y="1273969"/>
            <a:ext cx="4504655" cy="376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Consolas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filter()</a:t>
            </a: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: Keep Only What Passes</a:t>
            </a:r>
            <a:endParaRPr b="0" i="0" sz="2200" u="none" cap="none" strike="noStrike"/>
          </a:p>
        </p:txBody>
      </p:sp>
      <p:sp>
        <p:nvSpPr>
          <p:cNvPr id="320" name="Google Shape;320;p31"/>
          <p:cNvSpPr/>
          <p:nvPr/>
        </p:nvSpPr>
        <p:spPr>
          <a:xfrm>
            <a:off x="3503935" y="1740694"/>
            <a:ext cx="5427390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Syntax:</a:t>
            </a: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8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filter(function, iterable)</a:t>
            </a: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keeps items where the function returns </a:t>
            </a:r>
            <a:r>
              <a:rPr b="0" i="0" lang="en-US" sz="8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850" u="none" cap="none" strike="noStrike"/>
          </a:p>
        </p:txBody>
      </p:sp>
      <p:sp>
        <p:nvSpPr>
          <p:cNvPr id="321" name="Google Shape;321;p31"/>
          <p:cNvSpPr/>
          <p:nvPr/>
        </p:nvSpPr>
        <p:spPr>
          <a:xfrm>
            <a:off x="3503935" y="2009031"/>
            <a:ext cx="4970190" cy="422746"/>
          </a:xfrm>
          <a:prstGeom prst="roundRect">
            <a:avLst>
              <a:gd fmla="val 4008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2" name="Google Shape;32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6896" y="2170361"/>
            <a:ext cx="141163" cy="11296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1"/>
          <p:cNvSpPr/>
          <p:nvPr/>
        </p:nvSpPr>
        <p:spPr>
          <a:xfrm>
            <a:off x="3871020" y="2127200"/>
            <a:ext cx="4947345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Like </a:t>
            </a:r>
            <a:r>
              <a:rPr b="0" i="0" lang="en-US" sz="85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map()</a:t>
            </a: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85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filter()</a:t>
            </a: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returns a </a:t>
            </a:r>
            <a:r>
              <a:rPr b="1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lazy iterator</a:t>
            </a: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— wrap in </a:t>
            </a:r>
            <a:r>
              <a:rPr b="0" i="0" lang="en-US" sz="85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list()</a:t>
            </a: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to materialize the results.</a:t>
            </a:r>
            <a:endParaRPr b="0" i="0" sz="850" u="none" cap="none" strike="noStrike"/>
          </a:p>
        </p:txBody>
      </p:sp>
      <p:pic>
        <p:nvPicPr>
          <p:cNvPr descr="preencoded.png" id="324" name="Google Shape;32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202" y="3213050"/>
            <a:ext cx="3866778" cy="1569988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1"/>
          <p:cNvSpPr/>
          <p:nvPr/>
        </p:nvSpPr>
        <p:spPr>
          <a:xfrm>
            <a:off x="844600" y="3340298"/>
            <a:ext cx="1412081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DM Sans Medium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With lambda</a:t>
            </a:r>
            <a:endParaRPr b="0" i="0" sz="1100" u="none" cap="none" strike="noStrike"/>
          </a:p>
        </p:txBody>
      </p:sp>
      <p:sp>
        <p:nvSpPr>
          <p:cNvPr id="326" name="Google Shape;326;p31"/>
          <p:cNvSpPr/>
          <p:nvPr/>
        </p:nvSpPr>
        <p:spPr>
          <a:xfrm>
            <a:off x="844600" y="3618012"/>
            <a:ext cx="3555132" cy="550664"/>
          </a:xfrm>
          <a:prstGeom prst="roundRect">
            <a:avLst>
              <a:gd fmla="val 3077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1"/>
          <p:cNvSpPr/>
          <p:nvPr/>
        </p:nvSpPr>
        <p:spPr>
          <a:xfrm>
            <a:off x="839019" y="3618012"/>
            <a:ext cx="3566294" cy="550664"/>
          </a:xfrm>
          <a:prstGeom prst="roundRect">
            <a:avLst>
              <a:gd fmla="val 3077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1"/>
          <p:cNvSpPr/>
          <p:nvPr/>
        </p:nvSpPr>
        <p:spPr>
          <a:xfrm>
            <a:off x="980182" y="3730972"/>
            <a:ext cx="3283967" cy="324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22863A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list(filter(lambda x: x &gt; 2, [1, 2, 3, 4]))</a:t>
            </a:r>
            <a:endParaRPr b="0" i="0" sz="850" u="none" cap="none" strike="noStrike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22863A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→ [3, 4]</a:t>
            </a:r>
            <a:endParaRPr b="0" i="0" sz="850" u="none" cap="none" strike="noStrike"/>
          </a:p>
        </p:txBody>
      </p:sp>
      <p:pic>
        <p:nvPicPr>
          <p:cNvPr descr="preencoded.png" id="329" name="Google Shape;329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02659" y="3213050"/>
            <a:ext cx="3866778" cy="1569988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1"/>
          <p:cNvSpPr/>
          <p:nvPr/>
        </p:nvSpPr>
        <p:spPr>
          <a:xfrm>
            <a:off x="4787057" y="3340298"/>
            <a:ext cx="1518270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DM Sans Medium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With a named function</a:t>
            </a:r>
            <a:endParaRPr b="0" i="0" sz="1100" u="none" cap="none" strike="noStrike"/>
          </a:p>
        </p:txBody>
      </p:sp>
      <p:sp>
        <p:nvSpPr>
          <p:cNvPr id="331" name="Google Shape;331;p31"/>
          <p:cNvSpPr/>
          <p:nvPr/>
        </p:nvSpPr>
        <p:spPr>
          <a:xfrm>
            <a:off x="4787057" y="3618012"/>
            <a:ext cx="3555132" cy="1037779"/>
          </a:xfrm>
          <a:prstGeom prst="roundRect">
            <a:avLst>
              <a:gd fmla="val 1633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1"/>
          <p:cNvSpPr/>
          <p:nvPr/>
        </p:nvSpPr>
        <p:spPr>
          <a:xfrm>
            <a:off x="4781476" y="3618012"/>
            <a:ext cx="3566294" cy="1037779"/>
          </a:xfrm>
          <a:prstGeom prst="roundRect">
            <a:avLst>
              <a:gd fmla="val 1633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1"/>
          <p:cNvSpPr/>
          <p:nvPr/>
        </p:nvSpPr>
        <p:spPr>
          <a:xfrm>
            <a:off x="4922639" y="3730972"/>
            <a:ext cx="3283967" cy="811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def is_even(n):</a:t>
            </a:r>
            <a:endParaRPr b="0" i="0" sz="850" u="none" cap="none" strike="noStrike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return n % 2 == 0</a:t>
            </a:r>
            <a:endParaRPr b="0" i="0" sz="850" u="none" cap="none" strike="noStrike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850"/>
              <a:buFont typeface="Arial"/>
              <a:buNone/>
            </a:pPr>
            <a:r>
              <a:t/>
            </a:r>
            <a:endParaRPr b="0" i="0" sz="850" u="none" cap="none" strike="noStrike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list(filter(is_even, [1, 2, 3, 4, 5, 6]))</a:t>
            </a:r>
            <a:endParaRPr b="0" i="0" sz="850" u="none" cap="none" strike="noStrike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D73A4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→ [2, 4, 6]</a:t>
            </a:r>
            <a:endParaRPr b="0" i="0" sz="850" u="none" cap="none" strike="noStrike"/>
          </a:p>
        </p:txBody>
      </p:sp>
      <p:pic>
        <p:nvPicPr>
          <p:cNvPr id="334" name="Google Shape;334;p31" title="Logo Black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85777" y="104678"/>
            <a:ext cx="1827251" cy="33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2"/>
          <p:cNvSpPr/>
          <p:nvPr/>
        </p:nvSpPr>
        <p:spPr>
          <a:xfrm>
            <a:off x="465162" y="458316"/>
            <a:ext cx="1647453" cy="244376"/>
          </a:xfrm>
          <a:prstGeom prst="roundRect">
            <a:avLst>
              <a:gd fmla="val 6526" name="adj"/>
            </a:avLst>
          </a:prstGeom>
          <a:solidFill>
            <a:srgbClr val="E3E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2"/>
          <p:cNvSpPr/>
          <p:nvPr/>
        </p:nvSpPr>
        <p:spPr>
          <a:xfrm>
            <a:off x="544860" y="498128"/>
            <a:ext cx="1945258" cy="164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CHOOSING THE RIGHT TOOL</a:t>
            </a:r>
            <a:endParaRPr b="0" i="0" sz="800" u="none" cap="none" strike="noStrike"/>
          </a:p>
        </p:txBody>
      </p:sp>
      <p:sp>
        <p:nvSpPr>
          <p:cNvPr id="342" name="Google Shape;342;p32"/>
          <p:cNvSpPr/>
          <p:nvPr/>
        </p:nvSpPr>
        <p:spPr>
          <a:xfrm>
            <a:off x="465162" y="752475"/>
            <a:ext cx="6071518" cy="439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600"/>
              <a:buFont typeface="DM Sans Medium"/>
              <a:buNone/>
            </a:pPr>
            <a:r>
              <a:rPr b="0" i="0" lang="en-US" sz="26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List Comprehension vs </a:t>
            </a:r>
            <a:r>
              <a:rPr b="0" i="0" lang="en-US" sz="26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map()</a:t>
            </a:r>
            <a:r>
              <a:rPr b="0" i="0" lang="en-US" sz="26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/</a:t>
            </a:r>
            <a:r>
              <a:rPr b="0" i="0" lang="en-US" sz="26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filter()</a:t>
            </a:r>
            <a:endParaRPr b="0" i="0" sz="2600" u="none" cap="none" strike="noStrike"/>
          </a:p>
        </p:txBody>
      </p:sp>
      <p:sp>
        <p:nvSpPr>
          <p:cNvPr id="343" name="Google Shape;343;p32"/>
          <p:cNvSpPr/>
          <p:nvPr/>
        </p:nvSpPr>
        <p:spPr>
          <a:xfrm>
            <a:off x="465162" y="1378446"/>
            <a:ext cx="8670875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Both approaches do the same job — choose based on </a:t>
            </a:r>
            <a:r>
              <a:rPr b="1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readability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000" u="none" cap="none" strike="noStrike"/>
          </a:p>
        </p:txBody>
      </p:sp>
      <p:pic>
        <p:nvPicPr>
          <p:cNvPr descr="preencoded.png" id="344" name="Google Shape;34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75" y="1864668"/>
            <a:ext cx="1924348" cy="268039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2"/>
          <p:cNvSpPr/>
          <p:nvPr/>
        </p:nvSpPr>
        <p:spPr>
          <a:xfrm>
            <a:off x="655216" y="2011859"/>
            <a:ext cx="1572816" cy="415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M Sans Medium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✅</a:t>
            </a:r>
            <a:r>
              <a:rPr b="0" i="0" lang="en-US" sz="13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List Comprehension</a:t>
            </a:r>
            <a:endParaRPr b="0" i="0" sz="1300" u="none" cap="none" strike="noStrike"/>
          </a:p>
        </p:txBody>
      </p:sp>
      <p:sp>
        <p:nvSpPr>
          <p:cNvPr id="346" name="Google Shape;346;p32"/>
          <p:cNvSpPr/>
          <p:nvPr/>
        </p:nvSpPr>
        <p:spPr>
          <a:xfrm>
            <a:off x="655216" y="2551807"/>
            <a:ext cx="1572816" cy="617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More </a:t>
            </a:r>
            <a:r>
              <a:rPr b="1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Pythonic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and easier to read. Preferred for most situations.</a:t>
            </a:r>
            <a:endParaRPr b="0" i="0" sz="1000" u="none" cap="none" strike="noStrike"/>
          </a:p>
        </p:txBody>
      </p:sp>
      <p:sp>
        <p:nvSpPr>
          <p:cNvPr id="347" name="Google Shape;347;p32"/>
          <p:cNvSpPr/>
          <p:nvPr/>
        </p:nvSpPr>
        <p:spPr>
          <a:xfrm>
            <a:off x="655216" y="3309863"/>
            <a:ext cx="1572816" cy="677763"/>
          </a:xfrm>
          <a:prstGeom prst="roundRect">
            <a:avLst>
              <a:gd fmla="val 294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2"/>
          <p:cNvSpPr/>
          <p:nvPr/>
        </p:nvSpPr>
        <p:spPr>
          <a:xfrm>
            <a:off x="648593" y="3309863"/>
            <a:ext cx="1586061" cy="677763"/>
          </a:xfrm>
          <a:prstGeom prst="roundRect">
            <a:avLst>
              <a:gd fmla="val 294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2"/>
          <p:cNvSpPr/>
          <p:nvPr/>
        </p:nvSpPr>
        <p:spPr>
          <a:xfrm>
            <a:off x="814685" y="3442767"/>
            <a:ext cx="1253877" cy="411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[x * 2 for x in nums if x &gt; 0]</a:t>
            </a:r>
            <a:endParaRPr b="0" i="0" sz="1000" u="none" cap="none" strike="noStrike"/>
          </a:p>
        </p:txBody>
      </p:sp>
      <p:pic>
        <p:nvPicPr>
          <p:cNvPr descr="preencoded.png" id="350" name="Google Shape;35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5504" y="1864668"/>
            <a:ext cx="1924422" cy="268039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2"/>
          <p:cNvSpPr/>
          <p:nvPr/>
        </p:nvSpPr>
        <p:spPr>
          <a:xfrm>
            <a:off x="2689845" y="2011859"/>
            <a:ext cx="1572890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M Sans Medium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✅</a:t>
            </a:r>
            <a:r>
              <a:rPr b="0" i="0" lang="en-US" sz="13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map() / filter()</a:t>
            </a:r>
            <a:endParaRPr b="0" i="0" sz="1300" u="none" cap="none" strike="noStrike"/>
          </a:p>
        </p:txBody>
      </p:sp>
      <p:sp>
        <p:nvSpPr>
          <p:cNvPr id="352" name="Google Shape;352;p32"/>
          <p:cNvSpPr/>
          <p:nvPr/>
        </p:nvSpPr>
        <p:spPr>
          <a:xfrm>
            <a:off x="2689845" y="2344117"/>
            <a:ext cx="1572890" cy="8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Shine when passing an </a:t>
            </a:r>
            <a:r>
              <a:rPr b="1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existing named function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avoids writing a redundant lambda.</a:t>
            </a:r>
            <a:endParaRPr b="0" i="0" sz="1000" u="none" cap="none" strike="noStrike"/>
          </a:p>
        </p:txBody>
      </p:sp>
      <p:sp>
        <p:nvSpPr>
          <p:cNvPr id="353" name="Google Shape;353;p32"/>
          <p:cNvSpPr/>
          <p:nvPr/>
        </p:nvSpPr>
        <p:spPr>
          <a:xfrm>
            <a:off x="2689845" y="3308152"/>
            <a:ext cx="1572890" cy="1089720"/>
          </a:xfrm>
          <a:prstGeom prst="roundRect">
            <a:avLst>
              <a:gd fmla="val 1829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2"/>
          <p:cNvSpPr/>
          <p:nvPr/>
        </p:nvSpPr>
        <p:spPr>
          <a:xfrm>
            <a:off x="2683222" y="3308152"/>
            <a:ext cx="1586136" cy="1089720"/>
          </a:xfrm>
          <a:prstGeom prst="roundRect">
            <a:avLst>
              <a:gd fmla="val 1829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2"/>
          <p:cNvSpPr/>
          <p:nvPr/>
        </p:nvSpPr>
        <p:spPr>
          <a:xfrm>
            <a:off x="2849314" y="3441055"/>
            <a:ext cx="1253951" cy="8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3620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list(map(str, numbers))</a:t>
            </a:r>
            <a:endParaRPr b="0" i="0" sz="1000" u="none" cap="none" strike="noStrike"/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36209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list(filter(is_valid, records))</a:t>
            </a:r>
            <a:endParaRPr b="0" i="0" sz="1000" u="none" cap="none" strike="noStrike"/>
          </a:p>
        </p:txBody>
      </p:sp>
      <p:sp>
        <p:nvSpPr>
          <p:cNvPr id="356" name="Google Shape;356;p32"/>
          <p:cNvSpPr/>
          <p:nvPr/>
        </p:nvSpPr>
        <p:spPr>
          <a:xfrm>
            <a:off x="4738836" y="1864668"/>
            <a:ext cx="3944764" cy="2059186"/>
          </a:xfrm>
          <a:prstGeom prst="roundRect">
            <a:avLst>
              <a:gd fmla="val 968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2"/>
          <p:cNvSpPr/>
          <p:nvPr/>
        </p:nvSpPr>
        <p:spPr>
          <a:xfrm>
            <a:off x="4876577" y="1948904"/>
            <a:ext cx="2156594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Scenario</a:t>
            </a:r>
            <a:endParaRPr b="0" i="0" sz="1000" u="none" cap="none" strike="noStrike"/>
          </a:p>
        </p:txBody>
      </p:sp>
      <p:sp>
        <p:nvSpPr>
          <p:cNvPr id="358" name="Google Shape;358;p32"/>
          <p:cNvSpPr/>
          <p:nvPr/>
        </p:nvSpPr>
        <p:spPr>
          <a:xfrm>
            <a:off x="6846540" y="1948904"/>
            <a:ext cx="2156594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Recommended</a:t>
            </a:r>
            <a:endParaRPr b="0" i="0" sz="1000" u="none" cap="none" strike="noStrike"/>
          </a:p>
        </p:txBody>
      </p:sp>
      <p:sp>
        <p:nvSpPr>
          <p:cNvPr id="359" name="Google Shape;359;p32"/>
          <p:cNvSpPr/>
          <p:nvPr/>
        </p:nvSpPr>
        <p:spPr>
          <a:xfrm>
            <a:off x="4876577" y="2318593"/>
            <a:ext cx="2156594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Simple transform + filter</a:t>
            </a:r>
            <a:endParaRPr b="0" i="0" sz="1000" u="none" cap="none" strike="noStrike"/>
          </a:p>
        </p:txBody>
      </p:sp>
      <p:sp>
        <p:nvSpPr>
          <p:cNvPr id="360" name="Google Shape;360;p32"/>
          <p:cNvSpPr/>
          <p:nvPr/>
        </p:nvSpPr>
        <p:spPr>
          <a:xfrm>
            <a:off x="6846540" y="2318593"/>
            <a:ext cx="2156594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List comprehension</a:t>
            </a:r>
            <a:endParaRPr b="0" i="0" sz="1000" u="none" cap="none" strike="noStrike"/>
          </a:p>
        </p:txBody>
      </p:sp>
      <p:sp>
        <p:nvSpPr>
          <p:cNvPr id="361" name="Google Shape;361;p32"/>
          <p:cNvSpPr/>
          <p:nvPr/>
        </p:nvSpPr>
        <p:spPr>
          <a:xfrm>
            <a:off x="4876577" y="2688282"/>
            <a:ext cx="2156594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Pass an existing function</a:t>
            </a:r>
            <a:endParaRPr b="0" i="0" sz="1000" u="none" cap="none" strike="noStrike"/>
          </a:p>
        </p:txBody>
      </p:sp>
      <p:sp>
        <p:nvSpPr>
          <p:cNvPr id="362" name="Google Shape;362;p32"/>
          <p:cNvSpPr/>
          <p:nvPr/>
        </p:nvSpPr>
        <p:spPr>
          <a:xfrm>
            <a:off x="6846540" y="2688282"/>
            <a:ext cx="2156594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map() / filter()</a:t>
            </a:r>
            <a:endParaRPr b="0" i="0" sz="1000" u="none" cap="none" strike="noStrike"/>
          </a:p>
        </p:txBody>
      </p:sp>
      <p:sp>
        <p:nvSpPr>
          <p:cNvPr id="363" name="Google Shape;363;p32"/>
          <p:cNvSpPr/>
          <p:nvPr/>
        </p:nvSpPr>
        <p:spPr>
          <a:xfrm>
            <a:off x="4876577" y="3057971"/>
            <a:ext cx="2156594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Readability is priority</a:t>
            </a:r>
            <a:endParaRPr b="0" i="0" sz="1000" u="none" cap="none" strike="noStrike"/>
          </a:p>
        </p:txBody>
      </p:sp>
      <p:sp>
        <p:nvSpPr>
          <p:cNvPr id="364" name="Google Shape;364;p32"/>
          <p:cNvSpPr/>
          <p:nvPr/>
        </p:nvSpPr>
        <p:spPr>
          <a:xfrm>
            <a:off x="6846540" y="3057971"/>
            <a:ext cx="2156594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List comprehension</a:t>
            </a:r>
            <a:endParaRPr b="0" i="0" sz="1000" u="none" cap="none" strike="noStrike"/>
          </a:p>
        </p:txBody>
      </p:sp>
      <p:sp>
        <p:nvSpPr>
          <p:cNvPr id="365" name="Google Shape;365;p32"/>
          <p:cNvSpPr/>
          <p:nvPr/>
        </p:nvSpPr>
        <p:spPr>
          <a:xfrm>
            <a:off x="4876577" y="3427661"/>
            <a:ext cx="1699394" cy="411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Chaining with other iterators</a:t>
            </a:r>
            <a:endParaRPr b="0" i="0" sz="1000" u="none" cap="none" strike="noStrike"/>
          </a:p>
        </p:txBody>
      </p:sp>
      <p:sp>
        <p:nvSpPr>
          <p:cNvPr id="366" name="Google Shape;366;p32"/>
          <p:cNvSpPr/>
          <p:nvPr/>
        </p:nvSpPr>
        <p:spPr>
          <a:xfrm>
            <a:off x="6846540" y="3427661"/>
            <a:ext cx="2156594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map() / filter()</a:t>
            </a:r>
            <a:endParaRPr b="0" i="0" sz="1000" u="none" cap="none" strike="noStrike"/>
          </a:p>
        </p:txBody>
      </p:sp>
      <p:pic>
        <p:nvPicPr>
          <p:cNvPr id="367" name="Google Shape;367;p32" title="Logo Black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5777" y="104678"/>
            <a:ext cx="1827251" cy="33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3"/>
          <p:cNvSpPr/>
          <p:nvPr/>
        </p:nvSpPr>
        <p:spPr>
          <a:xfrm>
            <a:off x="472901" y="389037"/>
            <a:ext cx="876970" cy="249882"/>
          </a:xfrm>
          <a:prstGeom prst="roundRect">
            <a:avLst>
              <a:gd fmla="val 6489" name="adj"/>
            </a:avLst>
          </a:prstGeom>
          <a:solidFill>
            <a:srgbClr val="E3E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3"/>
          <p:cNvSpPr/>
          <p:nvPr/>
        </p:nvSpPr>
        <p:spPr>
          <a:xfrm>
            <a:off x="553938" y="429518"/>
            <a:ext cx="1172096" cy="1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GENERATORS</a:t>
            </a:r>
            <a:endParaRPr b="0" i="0" sz="850" u="none" cap="none" strike="noStrike"/>
          </a:p>
        </p:txBody>
      </p:sp>
      <p:sp>
        <p:nvSpPr>
          <p:cNvPr id="375" name="Google Shape;375;p33"/>
          <p:cNvSpPr/>
          <p:nvPr/>
        </p:nvSpPr>
        <p:spPr>
          <a:xfrm>
            <a:off x="472901" y="690414"/>
            <a:ext cx="6678513" cy="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650"/>
              <a:buFont typeface="DM Sans Medium"/>
              <a:buNone/>
            </a:pPr>
            <a:r>
              <a:rPr b="0" i="0" lang="en-US" sz="26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Generator Expressions: Lazy Evaluation</a:t>
            </a:r>
            <a:endParaRPr b="0" i="0" sz="2650" u="none" cap="none" strike="noStrike"/>
          </a:p>
        </p:txBody>
      </p:sp>
      <p:sp>
        <p:nvSpPr>
          <p:cNvPr id="376" name="Google Shape;376;p33"/>
          <p:cNvSpPr/>
          <p:nvPr/>
        </p:nvSpPr>
        <p:spPr>
          <a:xfrm>
            <a:off x="472901" y="1305892"/>
            <a:ext cx="8198197" cy="426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Same syntax as a list comprehension — but with </a:t>
            </a:r>
            <a:r>
              <a:rPr b="0" i="0" lang="en-US" sz="10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instead of </a:t>
            </a:r>
            <a:r>
              <a:rPr b="0" i="0" lang="en-US" sz="10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. The key difference: items are generated </a:t>
            </a:r>
            <a:r>
              <a:rPr b="1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one at a time</a:t>
            </a: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, never building the full list in memory.</a:t>
            </a:r>
            <a:endParaRPr b="0" i="0" sz="1050" u="none" cap="none" strike="noStrike"/>
          </a:p>
        </p:txBody>
      </p:sp>
      <p:sp>
        <p:nvSpPr>
          <p:cNvPr id="377" name="Google Shape;377;p33"/>
          <p:cNvSpPr/>
          <p:nvPr/>
        </p:nvSpPr>
        <p:spPr>
          <a:xfrm>
            <a:off x="472901" y="1877764"/>
            <a:ext cx="8198197" cy="561677"/>
          </a:xfrm>
          <a:prstGeom prst="roundRect">
            <a:avLst>
              <a:gd fmla="val 3609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8" name="Google Shape;37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963" y="2080692"/>
            <a:ext cx="168846" cy="135062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3"/>
          <p:cNvSpPr/>
          <p:nvPr/>
        </p:nvSpPr>
        <p:spPr>
          <a:xfrm>
            <a:off x="911870" y="2040210"/>
            <a:ext cx="8081367" cy="21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Pattern:</a:t>
            </a: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05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(expression for item in iterable)</a:t>
            </a:r>
            <a:endParaRPr b="0" i="0" sz="1050" u="none" cap="none" strike="noStrike"/>
          </a:p>
        </p:txBody>
      </p:sp>
      <p:sp>
        <p:nvSpPr>
          <p:cNvPr id="380" name="Google Shape;380;p33"/>
          <p:cNvSpPr/>
          <p:nvPr/>
        </p:nvSpPr>
        <p:spPr>
          <a:xfrm>
            <a:off x="472901" y="2584326"/>
            <a:ext cx="8198197" cy="2170137"/>
          </a:xfrm>
          <a:prstGeom prst="roundRect">
            <a:avLst>
              <a:gd fmla="val 934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3"/>
          <p:cNvSpPr/>
          <p:nvPr/>
        </p:nvSpPr>
        <p:spPr>
          <a:xfrm>
            <a:off x="466204" y="2584326"/>
            <a:ext cx="8211592" cy="2170137"/>
          </a:xfrm>
          <a:prstGeom prst="roundRect">
            <a:avLst>
              <a:gd fmla="val 934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3"/>
          <p:cNvSpPr/>
          <p:nvPr/>
        </p:nvSpPr>
        <p:spPr>
          <a:xfrm>
            <a:off x="635050" y="2719388"/>
            <a:ext cx="7873901" cy="1900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List comprehension — builds entire list in memory</a:t>
            </a:r>
            <a:endParaRPr b="0" i="0" sz="105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squares_list = [x**2 for x in range(1_000_000)]</a:t>
            </a:r>
            <a:endParaRPr b="0" i="0" sz="105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None/>
            </a:pPr>
            <a:r>
              <a:t/>
            </a:r>
            <a:endParaRPr b="0" i="0" sz="105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Generator expression — computes lazily, one item at a time</a:t>
            </a:r>
            <a:endParaRPr b="0" i="0" sz="105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squares_gen = (x**2 for x in range(1_000_000))</a:t>
            </a:r>
            <a:endParaRPr b="0" i="0" sz="105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None/>
            </a:pPr>
            <a:r>
              <a:t/>
            </a:r>
            <a:endParaRPr b="0" i="0" sz="105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Works perfectly with sum(), max(), min()</a:t>
            </a:r>
            <a:endParaRPr b="0" i="0" sz="105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total = sum(x**2 for x in range(1_000_000))</a:t>
            </a:r>
            <a:endParaRPr b="0" i="0" sz="105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A737D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# Fast and memory-efficient</a:t>
            </a:r>
            <a:endParaRPr b="0" i="0" sz="1050" u="none" cap="none" strike="noStrike"/>
          </a:p>
        </p:txBody>
      </p:sp>
      <p:pic>
        <p:nvPicPr>
          <p:cNvPr id="383" name="Google Shape;383;p33" title="Logo Blac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5777" y="104678"/>
            <a:ext cx="1827251" cy="33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4"/>
          <p:cNvSpPr/>
          <p:nvPr/>
        </p:nvSpPr>
        <p:spPr>
          <a:xfrm>
            <a:off x="488379" y="407938"/>
            <a:ext cx="3977878" cy="43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00"/>
              <a:buFont typeface="DM Sans Medium"/>
              <a:buNone/>
            </a:pPr>
            <a:r>
              <a:rPr b="0" i="0" lang="en-US" sz="27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Putting It All Together</a:t>
            </a:r>
            <a:endParaRPr b="0" i="0" sz="2700" u="none" cap="none" strike="noStrike"/>
          </a:p>
        </p:txBody>
      </p:sp>
      <p:sp>
        <p:nvSpPr>
          <p:cNvPr id="390" name="Google Shape;390;p34"/>
          <p:cNvSpPr/>
          <p:nvPr/>
        </p:nvSpPr>
        <p:spPr>
          <a:xfrm>
            <a:off x="488379" y="1118741"/>
            <a:ext cx="862444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These six tools are most powerful when combined. Here's a mini-project to practice them all:</a:t>
            </a:r>
            <a:endParaRPr b="0" i="0" sz="1050" u="none" cap="none" strike="noStrike"/>
          </a:p>
        </p:txBody>
      </p:sp>
      <p:sp>
        <p:nvSpPr>
          <p:cNvPr id="391" name="Google Shape;391;p34"/>
          <p:cNvSpPr/>
          <p:nvPr/>
        </p:nvSpPr>
        <p:spPr>
          <a:xfrm>
            <a:off x="488379" y="1494681"/>
            <a:ext cx="279053" cy="1744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DM Sans Light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DM Sans Light"/>
                <a:ea typeface="DM Sans Light"/>
                <a:cs typeface="DM Sans Light"/>
                <a:sym typeface="DM Sans Light"/>
              </a:rPr>
              <a:t>01</a:t>
            </a:r>
            <a:endParaRPr b="0" i="0" sz="1050" u="none" cap="none" strike="noStrike"/>
          </a:p>
        </p:txBody>
      </p:sp>
      <p:sp>
        <p:nvSpPr>
          <p:cNvPr id="392" name="Google Shape;392;p34"/>
          <p:cNvSpPr/>
          <p:nvPr/>
        </p:nvSpPr>
        <p:spPr>
          <a:xfrm>
            <a:off x="488379" y="1712788"/>
            <a:ext cx="2630835" cy="19050"/>
          </a:xfrm>
          <a:prstGeom prst="rect">
            <a:avLst/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4"/>
          <p:cNvSpPr/>
          <p:nvPr/>
        </p:nvSpPr>
        <p:spPr>
          <a:xfrm>
            <a:off x="488379" y="1820614"/>
            <a:ext cx="1950318" cy="21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Read with File I/O + CSV</a:t>
            </a:r>
            <a:endParaRPr b="0" i="0" sz="1350" u="none" cap="none" strike="noStrike"/>
          </a:p>
        </p:txBody>
      </p:sp>
      <p:sp>
        <p:nvSpPr>
          <p:cNvPr id="394" name="Google Shape;394;p34"/>
          <p:cNvSpPr/>
          <p:nvPr/>
        </p:nvSpPr>
        <p:spPr>
          <a:xfrm>
            <a:off x="488379" y="2121024"/>
            <a:ext cx="2630835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Open a CSV file safely with </a:t>
            </a:r>
            <a:r>
              <a:rPr b="0" i="0" lang="en-US" sz="10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with open()</a:t>
            </a: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and parse rows using </a:t>
            </a:r>
            <a:r>
              <a:rPr b="0" i="0" lang="en-US" sz="10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csv.DictReader</a:t>
            </a:r>
            <a:endParaRPr b="0" i="0" sz="1050" u="none" cap="none" strike="noStrike"/>
          </a:p>
        </p:txBody>
      </p:sp>
      <p:sp>
        <p:nvSpPr>
          <p:cNvPr id="395" name="Google Shape;395;p34"/>
          <p:cNvSpPr/>
          <p:nvPr/>
        </p:nvSpPr>
        <p:spPr>
          <a:xfrm>
            <a:off x="3256583" y="1494681"/>
            <a:ext cx="279053" cy="1744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DM Sans Light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DM Sans Light"/>
                <a:ea typeface="DM Sans Light"/>
                <a:cs typeface="DM Sans Light"/>
                <a:sym typeface="DM Sans Light"/>
              </a:rPr>
              <a:t>02</a:t>
            </a:r>
            <a:endParaRPr b="0" i="0" sz="1050" u="none" cap="none" strike="noStrike"/>
          </a:p>
        </p:txBody>
      </p:sp>
      <p:sp>
        <p:nvSpPr>
          <p:cNvPr id="396" name="Google Shape;396;p34"/>
          <p:cNvSpPr/>
          <p:nvPr/>
        </p:nvSpPr>
        <p:spPr>
          <a:xfrm>
            <a:off x="3256583" y="1712788"/>
            <a:ext cx="2630835" cy="19050"/>
          </a:xfrm>
          <a:prstGeom prst="rect">
            <a:avLst/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4"/>
          <p:cNvSpPr/>
          <p:nvPr/>
        </p:nvSpPr>
        <p:spPr>
          <a:xfrm>
            <a:off x="3256583" y="1820614"/>
            <a:ext cx="2504926" cy="21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Filter with List Comprehension</a:t>
            </a:r>
            <a:endParaRPr b="0" i="0" sz="1350" u="none" cap="none" strike="noStrike"/>
          </a:p>
        </p:txBody>
      </p:sp>
      <p:sp>
        <p:nvSpPr>
          <p:cNvPr id="398" name="Google Shape;398;p34"/>
          <p:cNvSpPr/>
          <p:nvPr/>
        </p:nvSpPr>
        <p:spPr>
          <a:xfrm>
            <a:off x="3256583" y="2121024"/>
            <a:ext cx="263083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Keep only the rows that match your criteria using an </a:t>
            </a:r>
            <a:r>
              <a:rPr b="0" i="0" lang="en-US" sz="10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clause</a:t>
            </a:r>
            <a:endParaRPr b="0" i="0" sz="1050" u="none" cap="none" strike="noStrike"/>
          </a:p>
        </p:txBody>
      </p:sp>
      <p:sp>
        <p:nvSpPr>
          <p:cNvPr id="399" name="Google Shape;399;p34"/>
          <p:cNvSpPr/>
          <p:nvPr/>
        </p:nvSpPr>
        <p:spPr>
          <a:xfrm>
            <a:off x="6024786" y="1494681"/>
            <a:ext cx="279053" cy="1744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DM Sans Light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DM Sans Light"/>
                <a:ea typeface="DM Sans Light"/>
                <a:cs typeface="DM Sans Light"/>
                <a:sym typeface="DM Sans Light"/>
              </a:rPr>
              <a:t>03</a:t>
            </a:r>
            <a:endParaRPr b="0" i="0" sz="1050" u="none" cap="none" strike="noStrike"/>
          </a:p>
        </p:txBody>
      </p:sp>
      <p:sp>
        <p:nvSpPr>
          <p:cNvPr id="400" name="Google Shape;400;p34"/>
          <p:cNvSpPr/>
          <p:nvPr/>
        </p:nvSpPr>
        <p:spPr>
          <a:xfrm>
            <a:off x="6024786" y="1712788"/>
            <a:ext cx="2630835" cy="19050"/>
          </a:xfrm>
          <a:prstGeom prst="rect">
            <a:avLst/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4"/>
          <p:cNvSpPr/>
          <p:nvPr/>
        </p:nvSpPr>
        <p:spPr>
          <a:xfrm>
            <a:off x="6024786" y="1820614"/>
            <a:ext cx="2628230" cy="21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Transform with Lambda + map()</a:t>
            </a:r>
            <a:endParaRPr b="0" i="0" sz="1350" u="none" cap="none" strike="noStrike"/>
          </a:p>
        </p:txBody>
      </p:sp>
      <p:sp>
        <p:nvSpPr>
          <p:cNvPr id="402" name="Google Shape;402;p34"/>
          <p:cNvSpPr/>
          <p:nvPr/>
        </p:nvSpPr>
        <p:spPr>
          <a:xfrm>
            <a:off x="6024786" y="2121024"/>
            <a:ext cx="263083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Apply a transformation to each value using a lambda passed to </a:t>
            </a:r>
            <a:r>
              <a:rPr b="0" i="0" lang="en-US" sz="10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map()</a:t>
            </a:r>
            <a:endParaRPr b="0" i="0" sz="1050" u="none" cap="none" strike="noStrike"/>
          </a:p>
        </p:txBody>
      </p:sp>
      <p:sp>
        <p:nvSpPr>
          <p:cNvPr id="403" name="Google Shape;403;p34"/>
          <p:cNvSpPr/>
          <p:nvPr/>
        </p:nvSpPr>
        <p:spPr>
          <a:xfrm>
            <a:off x="488379" y="2815456"/>
            <a:ext cx="279053" cy="1744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DM Sans Light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DM Sans Light"/>
                <a:ea typeface="DM Sans Light"/>
                <a:cs typeface="DM Sans Light"/>
                <a:sym typeface="DM Sans Light"/>
              </a:rPr>
              <a:t>04</a:t>
            </a:r>
            <a:endParaRPr b="0" i="0" sz="1050" u="none" cap="none" strike="noStrike"/>
          </a:p>
        </p:txBody>
      </p:sp>
      <p:sp>
        <p:nvSpPr>
          <p:cNvPr id="404" name="Google Shape;404;p34"/>
          <p:cNvSpPr/>
          <p:nvPr/>
        </p:nvSpPr>
        <p:spPr>
          <a:xfrm>
            <a:off x="488379" y="3033564"/>
            <a:ext cx="4014936" cy="19050"/>
          </a:xfrm>
          <a:prstGeom prst="rect">
            <a:avLst/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4"/>
          <p:cNvSpPr/>
          <p:nvPr/>
        </p:nvSpPr>
        <p:spPr>
          <a:xfrm>
            <a:off x="488379" y="3141390"/>
            <a:ext cx="2947095" cy="21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Process Large Data with Generators</a:t>
            </a:r>
            <a:endParaRPr b="0" i="0" sz="1350" u="none" cap="none" strike="noStrike"/>
          </a:p>
        </p:txBody>
      </p:sp>
      <p:sp>
        <p:nvSpPr>
          <p:cNvPr id="406" name="Google Shape;406;p34"/>
          <p:cNvSpPr/>
          <p:nvPr/>
        </p:nvSpPr>
        <p:spPr>
          <a:xfrm>
            <a:off x="488379" y="3441799"/>
            <a:ext cx="4014936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Use a generator expression for memory-efficient aggregation on big datasets</a:t>
            </a:r>
            <a:endParaRPr b="0" i="0" sz="1050" u="none" cap="none" strike="noStrike"/>
          </a:p>
        </p:txBody>
      </p:sp>
      <p:sp>
        <p:nvSpPr>
          <p:cNvPr id="407" name="Google Shape;407;p34"/>
          <p:cNvSpPr/>
          <p:nvPr/>
        </p:nvSpPr>
        <p:spPr>
          <a:xfrm>
            <a:off x="4640684" y="2815456"/>
            <a:ext cx="279053" cy="1744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DM Sans Light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DM Sans Light"/>
                <a:ea typeface="DM Sans Light"/>
                <a:cs typeface="DM Sans Light"/>
                <a:sym typeface="DM Sans Light"/>
              </a:rPr>
              <a:t>05</a:t>
            </a:r>
            <a:endParaRPr b="0" i="0" sz="1050" u="none" cap="none" strike="noStrike"/>
          </a:p>
        </p:txBody>
      </p:sp>
      <p:sp>
        <p:nvSpPr>
          <p:cNvPr id="408" name="Google Shape;408;p34"/>
          <p:cNvSpPr/>
          <p:nvPr/>
        </p:nvSpPr>
        <p:spPr>
          <a:xfrm>
            <a:off x="4640684" y="3033564"/>
            <a:ext cx="4014936" cy="19050"/>
          </a:xfrm>
          <a:prstGeom prst="rect">
            <a:avLst/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4"/>
          <p:cNvSpPr/>
          <p:nvPr/>
        </p:nvSpPr>
        <p:spPr>
          <a:xfrm>
            <a:off x="4640684" y="3141390"/>
            <a:ext cx="2071539" cy="21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Write Results Back to File</a:t>
            </a:r>
            <a:endParaRPr b="0" i="0" sz="1350" u="none" cap="none" strike="noStrike"/>
          </a:p>
        </p:txBody>
      </p:sp>
      <p:sp>
        <p:nvSpPr>
          <p:cNvPr id="410" name="Google Shape;410;p34"/>
          <p:cNvSpPr/>
          <p:nvPr/>
        </p:nvSpPr>
        <p:spPr>
          <a:xfrm>
            <a:off x="4640684" y="3441799"/>
            <a:ext cx="4014936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Save the cleaned, transformed data to a new CSV using </a:t>
            </a:r>
            <a:r>
              <a:rPr b="0" i="0" lang="en-US" sz="10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'w'</a:t>
            </a: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mode</a:t>
            </a:r>
            <a:endParaRPr b="0" i="0" sz="1050" u="none" cap="none" strike="noStrike"/>
          </a:p>
        </p:txBody>
      </p:sp>
      <p:sp>
        <p:nvSpPr>
          <p:cNvPr id="411" name="Google Shape;411;p34"/>
          <p:cNvSpPr/>
          <p:nvPr/>
        </p:nvSpPr>
        <p:spPr>
          <a:xfrm>
            <a:off x="488379" y="4148584"/>
            <a:ext cx="8167241" cy="586978"/>
          </a:xfrm>
          <a:prstGeom prst="roundRect">
            <a:avLst>
              <a:gd fmla="val 3566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2" name="Google Shape;41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906" y="4357985"/>
            <a:ext cx="174427" cy="139526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4"/>
          <p:cNvSpPr/>
          <p:nvPr/>
        </p:nvSpPr>
        <p:spPr>
          <a:xfrm>
            <a:off x="941859" y="4320778"/>
            <a:ext cx="803143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🎉 You now have the core Python toolkit for real-world data tasks. Build something!</a:t>
            </a:r>
            <a:endParaRPr b="0" i="0" sz="1050" u="none" cap="none" strike="noStrike"/>
          </a:p>
        </p:txBody>
      </p:sp>
      <p:pic>
        <p:nvPicPr>
          <p:cNvPr id="414" name="Google Shape;414;p34" title="Logo Blac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5777" y="104678"/>
            <a:ext cx="1827251" cy="33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