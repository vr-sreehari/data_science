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embeddedFontLst>
    <p:embeddedFont>
      <p:font typeface="DM Sans Medium"/>
      <p:regular r:id="rId19"/>
      <p:bold r:id="rId20"/>
      <p:italic r:id="rId21"/>
      <p:boldItalic r:id="rId22"/>
    </p:embeddedFont>
    <p:embeddedFont>
      <p:font typeface="Inter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Medium-bold.fntdata"/><Relationship Id="rId22" Type="http://schemas.openxmlformats.org/officeDocument/2006/relationships/font" Target="fonts/DMSansMedium-boldItalic.fntdata"/><Relationship Id="rId21" Type="http://schemas.openxmlformats.org/officeDocument/2006/relationships/font" Target="fonts/DMSansMedium-italic.fntdata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DMSansMedium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10.png"/><Relationship Id="rId5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2.png"/><Relationship Id="rId7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" name="Google Shape;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Python for Data Science: A Beginner's Guide</a:t>
            </a:r>
            <a:endParaRPr b="0" i="0" sz="2750" u="none" cap="none" strike="noStrike"/>
          </a:p>
        </p:txBody>
      </p:sp>
      <p:sp>
        <p:nvSpPr>
          <p:cNvPr id="46" name="Google Shape;46;p17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Your first steps into the most powerful language in data science — from zero to writing real programs.</a:t>
            </a:r>
            <a:endParaRPr b="0" i="0" sz="1100" u="none" cap="none" strike="noStrike"/>
          </a:p>
        </p:txBody>
      </p:sp>
      <p:pic>
        <p:nvPicPr>
          <p:cNvPr id="47" name="Google Shape;4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34596" y="172219"/>
            <a:ext cx="1611701" cy="334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3" name="Google Shape;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8"/>
          <p:cNvSpPr/>
          <p:nvPr/>
        </p:nvSpPr>
        <p:spPr>
          <a:xfrm>
            <a:off x="496119" y="794519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Why Python for Data Science?</a:t>
            </a:r>
            <a:endParaRPr b="0" i="0" sz="2750" u="none" cap="none" strike="noStrike"/>
          </a:p>
        </p:txBody>
      </p:sp>
      <p:sp>
        <p:nvSpPr>
          <p:cNvPr id="55" name="Google Shape;55;p18"/>
          <p:cNvSpPr/>
          <p:nvPr/>
        </p:nvSpPr>
        <p:spPr>
          <a:xfrm>
            <a:off x="496119" y="1893094"/>
            <a:ext cx="2290465" cy="1270471"/>
          </a:xfrm>
          <a:prstGeom prst="roundRect">
            <a:avLst>
              <a:gd fmla="val 1674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8"/>
          <p:cNvSpPr/>
          <p:nvPr/>
        </p:nvSpPr>
        <p:spPr>
          <a:xfrm>
            <a:off x="637877" y="2034853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Simple Syntax</a:t>
            </a:r>
            <a:endParaRPr b="0" i="0" sz="1350" u="none" cap="none" strike="noStrike"/>
          </a:p>
        </p:txBody>
      </p:sp>
      <p:sp>
        <p:nvSpPr>
          <p:cNvPr id="57" name="Google Shape;57;p18"/>
          <p:cNvSpPr/>
          <p:nvPr/>
        </p:nvSpPr>
        <p:spPr>
          <a:xfrm>
            <a:off x="637877" y="2341364"/>
            <a:ext cx="2006947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Reads like plain English — less time debugging, more time analyzing data.</a:t>
            </a:r>
            <a:endParaRPr b="0" i="0" sz="1100" u="none" cap="none" strike="noStrike"/>
          </a:p>
        </p:txBody>
      </p:sp>
      <p:sp>
        <p:nvSpPr>
          <p:cNvPr id="58" name="Google Shape;58;p18"/>
          <p:cNvSpPr/>
          <p:nvPr/>
        </p:nvSpPr>
        <p:spPr>
          <a:xfrm>
            <a:off x="2928342" y="1893094"/>
            <a:ext cx="2290539" cy="1270471"/>
          </a:xfrm>
          <a:prstGeom prst="roundRect">
            <a:avLst>
              <a:gd fmla="val 1674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8"/>
          <p:cNvSpPr/>
          <p:nvPr/>
        </p:nvSpPr>
        <p:spPr>
          <a:xfrm>
            <a:off x="3070101" y="2034853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Massive Ecosystem</a:t>
            </a:r>
            <a:endParaRPr b="0" i="0" sz="1350" u="none" cap="none" strike="noStrike"/>
          </a:p>
        </p:txBody>
      </p:sp>
      <p:sp>
        <p:nvSpPr>
          <p:cNvPr id="60" name="Google Shape;60;p18"/>
          <p:cNvSpPr/>
          <p:nvPr/>
        </p:nvSpPr>
        <p:spPr>
          <a:xfrm>
            <a:off x="3070101" y="2341364"/>
            <a:ext cx="2007022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NumPy, Pandas, Matplotlib, Scikit-learn — all built for data work.</a:t>
            </a:r>
            <a:endParaRPr b="0" i="0" sz="1100" u="none" cap="none" strike="noStrike"/>
          </a:p>
        </p:txBody>
      </p:sp>
      <p:sp>
        <p:nvSpPr>
          <p:cNvPr id="61" name="Google Shape;61;p18"/>
          <p:cNvSpPr/>
          <p:nvPr/>
        </p:nvSpPr>
        <p:spPr>
          <a:xfrm>
            <a:off x="496119" y="3305324"/>
            <a:ext cx="4722763" cy="1043657"/>
          </a:xfrm>
          <a:prstGeom prst="roundRect">
            <a:avLst>
              <a:gd fmla="val 2038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8"/>
          <p:cNvSpPr/>
          <p:nvPr/>
        </p:nvSpPr>
        <p:spPr>
          <a:xfrm>
            <a:off x="637877" y="3447083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Community &amp; Jobs</a:t>
            </a:r>
            <a:endParaRPr b="0" i="0" sz="1350" u="none" cap="none" strike="noStrike"/>
          </a:p>
        </p:txBody>
      </p:sp>
      <p:sp>
        <p:nvSpPr>
          <p:cNvPr id="63" name="Google Shape;63;p18"/>
          <p:cNvSpPr/>
          <p:nvPr/>
        </p:nvSpPr>
        <p:spPr>
          <a:xfrm>
            <a:off x="637877" y="3753594"/>
            <a:ext cx="443924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#1 language in data science job postings, with millions of tutorials and answers.</a:t>
            </a:r>
            <a:endParaRPr b="0" i="0" sz="1100" u="none" cap="none" strike="noStrike"/>
          </a:p>
        </p:txBody>
      </p:sp>
      <p:pic>
        <p:nvPicPr>
          <p:cNvPr id="64" name="Google Shape;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596" y="106019"/>
            <a:ext cx="1611701" cy="334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/>
          <p:nvPr/>
        </p:nvSpPr>
        <p:spPr>
          <a:xfrm>
            <a:off x="496119" y="1273969"/>
            <a:ext cx="523502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Setting Up Your Environment</a:t>
            </a:r>
            <a:endParaRPr b="0" i="0" sz="2750" u="none" cap="none" strike="noStrike"/>
          </a:p>
        </p:txBody>
      </p:sp>
      <p:pic>
        <p:nvPicPr>
          <p:cNvPr descr="preencoded.png" id="71" name="Google Shape;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000473"/>
            <a:ext cx="1507480" cy="93166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9"/>
          <p:cNvSpPr/>
          <p:nvPr/>
        </p:nvSpPr>
        <p:spPr>
          <a:xfrm>
            <a:off x="496119" y="3109317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Jupyter Notebook</a:t>
            </a:r>
            <a:endParaRPr b="0" i="0" sz="1350" u="none" cap="none" strike="noStrike"/>
          </a:p>
        </p:txBody>
      </p:sp>
      <p:sp>
        <p:nvSpPr>
          <p:cNvPr id="73" name="Google Shape;73;p19"/>
          <p:cNvSpPr/>
          <p:nvPr/>
        </p:nvSpPr>
        <p:spPr>
          <a:xfrm>
            <a:off x="496119" y="3415829"/>
            <a:ext cx="2599134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Interactive, cell-by-cell execution — ideal for exploration and learning.</a:t>
            </a:r>
            <a:endParaRPr b="0" i="0" sz="1100" u="none" cap="none" strike="noStrike"/>
          </a:p>
        </p:txBody>
      </p:sp>
      <p:pic>
        <p:nvPicPr>
          <p:cNvPr descr="preencoded.png" id="74" name="Google Shape;7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2433" y="2000473"/>
            <a:ext cx="1507480" cy="93166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9"/>
          <p:cNvSpPr/>
          <p:nvPr/>
        </p:nvSpPr>
        <p:spPr>
          <a:xfrm>
            <a:off x="3272433" y="3109317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VS Code</a:t>
            </a:r>
            <a:endParaRPr b="0" i="0" sz="1350" u="none" cap="none" strike="noStrike"/>
          </a:p>
        </p:txBody>
      </p:sp>
      <p:sp>
        <p:nvSpPr>
          <p:cNvPr id="76" name="Google Shape;76;p19"/>
          <p:cNvSpPr/>
          <p:nvPr/>
        </p:nvSpPr>
        <p:spPr>
          <a:xfrm>
            <a:off x="3272433" y="3415829"/>
            <a:ext cx="2599134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Full-featured editor with Python extension; great for larger projects.</a:t>
            </a:r>
            <a:endParaRPr b="0" i="0" sz="1100" u="none" cap="none" strike="noStrike"/>
          </a:p>
        </p:txBody>
      </p:sp>
      <p:pic>
        <p:nvPicPr>
          <p:cNvPr descr="preencoded.png" id="77" name="Google Shape;7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48747" y="2000473"/>
            <a:ext cx="1507480" cy="93166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9"/>
          <p:cNvSpPr/>
          <p:nvPr/>
        </p:nvSpPr>
        <p:spPr>
          <a:xfrm>
            <a:off x="6048747" y="3109317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Google Colab</a:t>
            </a:r>
            <a:endParaRPr b="0" i="0" sz="1350" u="none" cap="none" strike="noStrike"/>
          </a:p>
        </p:txBody>
      </p:sp>
      <p:sp>
        <p:nvSpPr>
          <p:cNvPr id="79" name="Google Shape;79;p19"/>
          <p:cNvSpPr/>
          <p:nvPr/>
        </p:nvSpPr>
        <p:spPr>
          <a:xfrm>
            <a:off x="6048747" y="3415829"/>
            <a:ext cx="2599134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Zero installation, runs in the browser, free GPU access included.</a:t>
            </a:r>
            <a:endParaRPr b="0" i="0" sz="1100" u="none" cap="none" strike="noStrike"/>
          </a:p>
        </p:txBody>
      </p:sp>
      <p:pic>
        <p:nvPicPr>
          <p:cNvPr id="80" name="Google Shape;8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34596" y="172219"/>
            <a:ext cx="1611701" cy="334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/>
          <p:nvPr/>
        </p:nvSpPr>
        <p:spPr>
          <a:xfrm>
            <a:off x="496119" y="770334"/>
            <a:ext cx="5108525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Which Tool Should You Use?</a:t>
            </a:r>
            <a:endParaRPr b="0" i="0" sz="2750" u="none" cap="none" strike="noStrike"/>
          </a:p>
        </p:txBody>
      </p:sp>
      <p:pic>
        <p:nvPicPr>
          <p:cNvPr descr="preencoded.png" id="87" name="Google Shape;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585392"/>
            <a:ext cx="2628230" cy="26282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8" name="Google Shape;8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5938" y="1879327"/>
            <a:ext cx="1650355" cy="204035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0"/>
          <p:cNvSpPr/>
          <p:nvPr/>
        </p:nvSpPr>
        <p:spPr>
          <a:xfrm>
            <a:off x="3692947" y="2040136"/>
            <a:ext cx="1252537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Just Starting Out?</a:t>
            </a:r>
            <a:endParaRPr b="0" i="0" sz="1350" u="none" cap="none" strike="noStrike"/>
          </a:p>
        </p:txBody>
      </p:sp>
      <p:sp>
        <p:nvSpPr>
          <p:cNvPr id="90" name="Google Shape;90;p20"/>
          <p:cNvSpPr/>
          <p:nvPr/>
        </p:nvSpPr>
        <p:spPr>
          <a:xfrm>
            <a:off x="3692947" y="2624807"/>
            <a:ext cx="1252537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→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Google Colab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no setup needed, open a browser and go.</a:t>
            </a:r>
            <a:endParaRPr b="0" i="0" sz="1100" u="none" cap="none" strike="noStrike"/>
          </a:p>
        </p:txBody>
      </p:sp>
      <p:pic>
        <p:nvPicPr>
          <p:cNvPr descr="preencoded.png" id="91" name="Google Shape;9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9002" y="1879327"/>
            <a:ext cx="1650429" cy="204035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0"/>
          <p:cNvSpPr/>
          <p:nvPr/>
        </p:nvSpPr>
        <p:spPr>
          <a:xfrm>
            <a:off x="5466011" y="2040136"/>
            <a:ext cx="1252612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Learning Locally?</a:t>
            </a:r>
            <a:endParaRPr b="0" i="0" sz="1350" u="none" cap="none" strike="noStrike"/>
          </a:p>
        </p:txBody>
      </p:sp>
      <p:sp>
        <p:nvSpPr>
          <p:cNvPr id="93" name="Google Shape;93;p20"/>
          <p:cNvSpPr/>
          <p:nvPr/>
        </p:nvSpPr>
        <p:spPr>
          <a:xfrm>
            <a:off x="5466011" y="2624807"/>
            <a:ext cx="1252612" cy="1134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→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Jupyter Notebook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via Anaconda — great for interactive exploration.</a:t>
            </a:r>
            <a:endParaRPr b="0" i="0" sz="1100" u="none" cap="none" strike="noStrike"/>
          </a:p>
        </p:txBody>
      </p:sp>
      <p:pic>
        <p:nvPicPr>
          <p:cNvPr descr="preencoded.png" id="94" name="Google Shape;9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2140" y="1879327"/>
            <a:ext cx="1650429" cy="204035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0"/>
          <p:cNvSpPr/>
          <p:nvPr/>
        </p:nvSpPr>
        <p:spPr>
          <a:xfrm>
            <a:off x="7239149" y="2040136"/>
            <a:ext cx="1252612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Building Real Projects?</a:t>
            </a:r>
            <a:endParaRPr b="0" i="0" sz="1350" u="none" cap="none" strike="noStrike"/>
          </a:p>
        </p:txBody>
      </p:sp>
      <p:sp>
        <p:nvSpPr>
          <p:cNvPr id="96" name="Google Shape;96;p20"/>
          <p:cNvSpPr/>
          <p:nvPr/>
        </p:nvSpPr>
        <p:spPr>
          <a:xfrm>
            <a:off x="7239149" y="2624807"/>
            <a:ext cx="1252612" cy="1134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→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VS Code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professional-grade tools for serious development.</a:t>
            </a:r>
            <a:endParaRPr b="0" i="0" sz="1100" u="none" cap="none" strike="noStrike"/>
          </a:p>
        </p:txBody>
      </p:sp>
      <p:pic>
        <p:nvPicPr>
          <p:cNvPr id="97" name="Google Shape;9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34596" y="172219"/>
            <a:ext cx="1611701" cy="334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/>
          <p:nvPr/>
        </p:nvSpPr>
        <p:spPr>
          <a:xfrm>
            <a:off x="496119" y="1077144"/>
            <a:ext cx="4781848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Your First Python Program</a:t>
            </a:r>
            <a:endParaRPr b="0" i="0" sz="2750" u="none" cap="none" strike="noStrike"/>
          </a:p>
        </p:txBody>
      </p:sp>
      <p:sp>
        <p:nvSpPr>
          <p:cNvPr id="104" name="Google Shape;104;p21"/>
          <p:cNvSpPr/>
          <p:nvPr/>
        </p:nvSpPr>
        <p:spPr>
          <a:xfrm>
            <a:off x="496119" y="1874490"/>
            <a:ext cx="225340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The Classic First Step</a:t>
            </a:r>
            <a:endParaRPr b="0" i="0" sz="1350" u="none" cap="none" strike="noStrike"/>
          </a:p>
        </p:txBody>
      </p:sp>
      <p:sp>
        <p:nvSpPr>
          <p:cNvPr id="105" name="Google Shape;105;p21"/>
          <p:cNvSpPr/>
          <p:nvPr/>
        </p:nvSpPr>
        <p:spPr>
          <a:xfrm>
            <a:off x="496119" y="2237705"/>
            <a:ext cx="3902943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Every programmer starts here — printing a message to the screen. In Python, there are no semicolons and no curly braces. Just clean, readable code.</a:t>
            </a:r>
            <a:endParaRPr b="0" i="0" sz="1100" u="none" cap="none" strike="noStrike"/>
          </a:p>
        </p:txBody>
      </p:sp>
      <p:sp>
        <p:nvSpPr>
          <p:cNvPr id="106" name="Google Shape;106;p21"/>
          <p:cNvSpPr/>
          <p:nvPr/>
        </p:nvSpPr>
        <p:spPr>
          <a:xfrm>
            <a:off x="496119" y="3077617"/>
            <a:ext cx="3902943" cy="829196"/>
          </a:xfrm>
          <a:prstGeom prst="roundRect">
            <a:avLst>
              <a:gd fmla="val 2565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877" y="3292673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1"/>
          <p:cNvSpPr/>
          <p:nvPr/>
        </p:nvSpPr>
        <p:spPr>
          <a:xfrm>
            <a:off x="956816" y="3254797"/>
            <a:ext cx="3300487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 semicolons. No curly braces. Just clean, readable code.</a:t>
            </a:r>
            <a:endParaRPr b="0" i="0" sz="1100" u="none" cap="none" strike="noStrike"/>
          </a:p>
        </p:txBody>
      </p:sp>
      <p:sp>
        <p:nvSpPr>
          <p:cNvPr id="109" name="Google Shape;109;p21"/>
          <p:cNvSpPr/>
          <p:nvPr/>
        </p:nvSpPr>
        <p:spPr>
          <a:xfrm>
            <a:off x="4749701" y="1892201"/>
            <a:ext cx="3902943" cy="510332"/>
          </a:xfrm>
          <a:prstGeom prst="roundRect">
            <a:avLst>
              <a:gd fmla="val 4167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1"/>
          <p:cNvSpPr/>
          <p:nvPr/>
        </p:nvSpPr>
        <p:spPr>
          <a:xfrm>
            <a:off x="4742631" y="1892201"/>
            <a:ext cx="3917082" cy="510332"/>
          </a:xfrm>
          <a:prstGeom prst="roundRect">
            <a:avLst>
              <a:gd fmla="val 4167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/>
          <p:nvPr/>
        </p:nvSpPr>
        <p:spPr>
          <a:xfrm>
            <a:off x="4919811" y="2033960"/>
            <a:ext cx="4019922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3620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print("Hello, World!")</a:t>
            </a:r>
            <a:endParaRPr b="0" i="0" sz="1100" u="none" cap="none" strike="noStrike"/>
          </a:p>
        </p:txBody>
      </p:sp>
      <p:sp>
        <p:nvSpPr>
          <p:cNvPr id="112" name="Google Shape;112;p21"/>
          <p:cNvSpPr/>
          <p:nvPr/>
        </p:nvSpPr>
        <p:spPr>
          <a:xfrm>
            <a:off x="4749701" y="2562002"/>
            <a:ext cx="3902943" cy="685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Run this one line and you're officially a Python programmer. The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print()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function displays any value you pass to it.</a:t>
            </a:r>
            <a:endParaRPr b="0" i="0" sz="1100" u="none" cap="none" strike="noStrike"/>
          </a:p>
        </p:txBody>
      </p:sp>
      <p:pic>
        <p:nvPicPr>
          <p:cNvPr id="113" name="Google Shape;11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34596" y="172219"/>
            <a:ext cx="1611701" cy="334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9" name="Google Shape;11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2"/>
          <p:cNvSpPr/>
          <p:nvPr/>
        </p:nvSpPr>
        <p:spPr>
          <a:xfrm>
            <a:off x="496119" y="739601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Variables: Storing Information</a:t>
            </a:r>
            <a:endParaRPr b="0" i="0" sz="2750" u="none" cap="none" strike="noStrike"/>
          </a:p>
        </p:txBody>
      </p:sp>
      <p:sp>
        <p:nvSpPr>
          <p:cNvPr id="121" name="Google Shape;121;p22"/>
          <p:cNvSpPr/>
          <p:nvPr/>
        </p:nvSpPr>
        <p:spPr>
          <a:xfrm>
            <a:off x="496119" y="1838176"/>
            <a:ext cx="4722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 variable is a named container that holds a value. Python is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dynamically typed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no need to declare the type upfront.</a:t>
            </a:r>
            <a:endParaRPr b="0" i="0" sz="1100" u="none" cap="none" strike="noStrike"/>
          </a:p>
        </p:txBody>
      </p:sp>
      <p:sp>
        <p:nvSpPr>
          <p:cNvPr id="122" name="Google Shape;122;p22"/>
          <p:cNvSpPr/>
          <p:nvPr/>
        </p:nvSpPr>
        <p:spPr>
          <a:xfrm>
            <a:off x="496119" y="2451274"/>
            <a:ext cx="4722763" cy="963960"/>
          </a:xfrm>
          <a:prstGeom prst="roundRect">
            <a:avLst>
              <a:gd fmla="val 2206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2"/>
          <p:cNvSpPr/>
          <p:nvPr/>
        </p:nvSpPr>
        <p:spPr>
          <a:xfrm>
            <a:off x="489049" y="2451274"/>
            <a:ext cx="4736902" cy="963960"/>
          </a:xfrm>
          <a:prstGeom prst="roundRect">
            <a:avLst>
              <a:gd fmla="val 2206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2"/>
          <p:cNvSpPr/>
          <p:nvPr/>
        </p:nvSpPr>
        <p:spPr>
          <a:xfrm>
            <a:off x="666229" y="2593032"/>
            <a:ext cx="4382542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name  = "Alice"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age   = 25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score = 98.5</a:t>
            </a:r>
            <a:endParaRPr b="0" i="0" sz="1100" u="none" cap="none" strike="noStrike"/>
          </a:p>
        </p:txBody>
      </p:sp>
      <p:sp>
        <p:nvSpPr>
          <p:cNvPr id="125" name="Google Shape;125;p22"/>
          <p:cNvSpPr/>
          <p:nvPr/>
        </p:nvSpPr>
        <p:spPr>
          <a:xfrm>
            <a:off x="496119" y="3574703"/>
            <a:ext cx="4722763" cy="829196"/>
          </a:xfrm>
          <a:prstGeom prst="roundRect">
            <a:avLst>
              <a:gd fmla="val 2565" name="adj"/>
            </a:avLst>
          </a:prstGeom>
          <a:solidFill>
            <a:srgbClr val="D6D6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" name="Google Shape;12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877" y="3789759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2"/>
          <p:cNvSpPr/>
          <p:nvPr/>
        </p:nvSpPr>
        <p:spPr>
          <a:xfrm>
            <a:off x="956816" y="3751883"/>
            <a:ext cx="4120307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Python figures out the type automatically based on the value you assign.</a:t>
            </a:r>
            <a:endParaRPr b="0" i="0" sz="1100" u="none" cap="none" strike="noStrike"/>
          </a:p>
        </p:txBody>
      </p:sp>
      <p:pic>
        <p:nvPicPr>
          <p:cNvPr id="128" name="Google Shape;12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5121" y="112694"/>
            <a:ext cx="1611701" cy="334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/>
          <p:nvPr/>
        </p:nvSpPr>
        <p:spPr>
          <a:xfrm>
            <a:off x="496119" y="1301800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Naming Conventions</a:t>
            </a:r>
            <a:endParaRPr b="0" i="0" sz="2750" u="none" cap="none" strike="noStrike"/>
          </a:p>
        </p:txBody>
      </p:sp>
      <p:pic>
        <p:nvPicPr>
          <p:cNvPr descr="preencoded.png" id="135" name="Google Shape;13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028304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3"/>
          <p:cNvSpPr/>
          <p:nvPr/>
        </p:nvSpPr>
        <p:spPr>
          <a:xfrm>
            <a:off x="1027658" y="2028304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Use snake_case</a:t>
            </a:r>
            <a:endParaRPr b="0" i="0" sz="1350" u="none" cap="none" strike="noStrike"/>
          </a:p>
        </p:txBody>
      </p:sp>
      <p:sp>
        <p:nvSpPr>
          <p:cNvPr id="137" name="Google Shape;137;p23"/>
          <p:cNvSpPr/>
          <p:nvPr/>
        </p:nvSpPr>
        <p:spPr>
          <a:xfrm>
            <a:off x="1027658" y="2334816"/>
            <a:ext cx="3455715" cy="458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student_name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total_score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not camelCase. This is the Python standard.</a:t>
            </a:r>
            <a:endParaRPr b="0" i="0" sz="1100" u="none" cap="none" strike="noStrike"/>
          </a:p>
        </p:txBody>
      </p:sp>
      <p:pic>
        <p:nvPicPr>
          <p:cNvPr descr="preencoded.png" id="138" name="Google Shape;13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0553" y="2028304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3"/>
          <p:cNvSpPr/>
          <p:nvPr/>
        </p:nvSpPr>
        <p:spPr>
          <a:xfrm>
            <a:off x="5192092" y="2028304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Be Descriptive</a:t>
            </a:r>
            <a:endParaRPr b="0" i="0" sz="1350" u="none" cap="none" strike="noStrike"/>
          </a:p>
        </p:txBody>
      </p:sp>
      <p:sp>
        <p:nvSpPr>
          <p:cNvPr id="140" name="Google Shape;140;p23"/>
          <p:cNvSpPr/>
          <p:nvPr/>
        </p:nvSpPr>
        <p:spPr>
          <a:xfrm>
            <a:off x="5192092" y="2334816"/>
            <a:ext cx="3455789" cy="458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user_age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beats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or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a1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. Your future self will thank you.</a:t>
            </a:r>
            <a:endParaRPr b="0" i="0" sz="1100" u="none" cap="none" strike="noStrike"/>
          </a:p>
        </p:txBody>
      </p:sp>
      <p:pic>
        <p:nvPicPr>
          <p:cNvPr descr="preencoded.png" id="141" name="Google Shape;14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119" y="3076724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3"/>
          <p:cNvSpPr/>
          <p:nvPr/>
        </p:nvSpPr>
        <p:spPr>
          <a:xfrm>
            <a:off x="1027658" y="3076724"/>
            <a:ext cx="1866379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Avoid Reserved Words</a:t>
            </a:r>
            <a:endParaRPr b="0" i="0" sz="1350" u="none" cap="none" strike="noStrike"/>
          </a:p>
        </p:txBody>
      </p:sp>
      <p:sp>
        <p:nvSpPr>
          <p:cNvPr id="143" name="Google Shape;143;p23"/>
          <p:cNvSpPr/>
          <p:nvPr/>
        </p:nvSpPr>
        <p:spPr>
          <a:xfrm>
            <a:off x="1027658" y="3383235"/>
            <a:ext cx="3455715" cy="458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are already taken by Python — don't use them as variable names.</a:t>
            </a:r>
            <a:endParaRPr b="0" i="0" sz="1100" u="none" cap="none" strike="noStrike"/>
          </a:p>
        </p:txBody>
      </p:sp>
      <p:pic>
        <p:nvPicPr>
          <p:cNvPr descr="preencoded.png" id="144" name="Google Shape;14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0553" y="3076724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/>
          <p:nvPr/>
        </p:nvSpPr>
        <p:spPr>
          <a:xfrm>
            <a:off x="5192092" y="3076724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Case-Sensitive</a:t>
            </a:r>
            <a:endParaRPr b="0" i="0" sz="1350" u="none" cap="none" strike="noStrike"/>
          </a:p>
        </p:txBody>
      </p:sp>
      <p:sp>
        <p:nvSpPr>
          <p:cNvPr id="146" name="Google Shape;146;p23"/>
          <p:cNvSpPr/>
          <p:nvPr/>
        </p:nvSpPr>
        <p:spPr>
          <a:xfrm>
            <a:off x="5192092" y="3383235"/>
            <a:ext cx="3455789" cy="458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Score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score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are two completely different variables in Python.</a:t>
            </a:r>
            <a:endParaRPr b="0" i="0" sz="1100" u="none" cap="none" strike="noStrike"/>
          </a:p>
        </p:txBody>
      </p:sp>
      <p:pic>
        <p:nvPicPr>
          <p:cNvPr id="147" name="Google Shape;14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34596" y="172219"/>
            <a:ext cx="1611701" cy="334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/>
          <p:nvPr/>
        </p:nvSpPr>
        <p:spPr>
          <a:xfrm>
            <a:off x="496119" y="753963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Core Data Types</a:t>
            </a:r>
            <a:endParaRPr b="0" i="0" sz="2750" u="none" cap="none" strike="noStrike"/>
          </a:p>
        </p:txBody>
      </p:sp>
      <p:pic>
        <p:nvPicPr>
          <p:cNvPr descr="preencoded.png" id="154" name="Google Shape;1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585392"/>
            <a:ext cx="2628230" cy="262823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4"/>
          <p:cNvSpPr/>
          <p:nvPr/>
        </p:nvSpPr>
        <p:spPr>
          <a:xfrm>
            <a:off x="3474988" y="1569021"/>
            <a:ext cx="5177582" cy="2079873"/>
          </a:xfrm>
          <a:prstGeom prst="roundRect">
            <a:avLst>
              <a:gd fmla="val 1022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4"/>
          <p:cNvSpPr/>
          <p:nvPr/>
        </p:nvSpPr>
        <p:spPr>
          <a:xfrm>
            <a:off x="3622104" y="1663601"/>
            <a:ext cx="1893615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Type</a:t>
            </a:r>
            <a:endParaRPr b="0" i="0" sz="1100" u="none" cap="none" strike="noStrike"/>
          </a:p>
        </p:txBody>
      </p:sp>
      <p:sp>
        <p:nvSpPr>
          <p:cNvPr id="157" name="Google Shape;157;p24"/>
          <p:cNvSpPr/>
          <p:nvPr/>
        </p:nvSpPr>
        <p:spPr>
          <a:xfrm>
            <a:off x="5346799" y="1663601"/>
            <a:ext cx="189123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Description</a:t>
            </a:r>
            <a:endParaRPr b="0" i="0" sz="1100" u="none" cap="none" strike="noStrike"/>
          </a:p>
        </p:txBody>
      </p:sp>
      <p:sp>
        <p:nvSpPr>
          <p:cNvPr id="158" name="Google Shape;158;p24"/>
          <p:cNvSpPr/>
          <p:nvPr/>
        </p:nvSpPr>
        <p:spPr>
          <a:xfrm>
            <a:off x="7069113" y="1663601"/>
            <a:ext cx="1893615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Examples</a:t>
            </a:r>
            <a:endParaRPr b="0" i="0" sz="1100" u="none" cap="none" strike="noStrike"/>
          </a:p>
        </p:txBody>
      </p:sp>
      <p:sp>
        <p:nvSpPr>
          <p:cNvPr id="159" name="Google Shape;159;p24"/>
          <p:cNvSpPr/>
          <p:nvPr/>
        </p:nvSpPr>
        <p:spPr>
          <a:xfrm>
            <a:off x="3622104" y="2074813"/>
            <a:ext cx="1893615" cy="23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endParaRPr b="0" i="0" sz="1100" u="none" cap="none" strike="noStrike"/>
          </a:p>
        </p:txBody>
      </p:sp>
      <p:sp>
        <p:nvSpPr>
          <p:cNvPr id="160" name="Google Shape;160;p24"/>
          <p:cNvSpPr/>
          <p:nvPr/>
        </p:nvSpPr>
        <p:spPr>
          <a:xfrm>
            <a:off x="5346799" y="2074813"/>
            <a:ext cx="189123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Whole numbers</a:t>
            </a:r>
            <a:endParaRPr b="0" i="0" sz="1100" u="none" cap="none" strike="noStrike"/>
          </a:p>
        </p:txBody>
      </p:sp>
      <p:sp>
        <p:nvSpPr>
          <p:cNvPr id="161" name="Google Shape;161;p24"/>
          <p:cNvSpPr/>
          <p:nvPr/>
        </p:nvSpPr>
        <p:spPr>
          <a:xfrm>
            <a:off x="7069113" y="2074813"/>
            <a:ext cx="1893615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42, -7, 1000</a:t>
            </a:r>
            <a:endParaRPr b="0" i="0" sz="1100" u="none" cap="none" strike="noStrike"/>
          </a:p>
        </p:txBody>
      </p:sp>
      <p:sp>
        <p:nvSpPr>
          <p:cNvPr id="162" name="Google Shape;162;p24"/>
          <p:cNvSpPr/>
          <p:nvPr/>
        </p:nvSpPr>
        <p:spPr>
          <a:xfrm>
            <a:off x="3622104" y="2490788"/>
            <a:ext cx="1893615" cy="23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float</a:t>
            </a:r>
            <a:endParaRPr b="0" i="0" sz="1100" u="none" cap="none" strike="noStrike"/>
          </a:p>
        </p:txBody>
      </p:sp>
      <p:sp>
        <p:nvSpPr>
          <p:cNvPr id="163" name="Google Shape;163;p24"/>
          <p:cNvSpPr/>
          <p:nvPr/>
        </p:nvSpPr>
        <p:spPr>
          <a:xfrm>
            <a:off x="5346799" y="2490788"/>
            <a:ext cx="189123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Decimal numbers</a:t>
            </a:r>
            <a:endParaRPr b="0" i="0" sz="1100" u="none" cap="none" strike="noStrike"/>
          </a:p>
        </p:txBody>
      </p:sp>
      <p:sp>
        <p:nvSpPr>
          <p:cNvPr id="164" name="Google Shape;164;p24"/>
          <p:cNvSpPr/>
          <p:nvPr/>
        </p:nvSpPr>
        <p:spPr>
          <a:xfrm>
            <a:off x="7069113" y="2490788"/>
            <a:ext cx="1893615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3.14, -0.5, 2.0</a:t>
            </a:r>
            <a:endParaRPr b="0" i="0" sz="1100" u="none" cap="none" strike="noStrike"/>
          </a:p>
        </p:txBody>
      </p:sp>
      <p:sp>
        <p:nvSpPr>
          <p:cNvPr id="165" name="Google Shape;165;p24"/>
          <p:cNvSpPr/>
          <p:nvPr/>
        </p:nvSpPr>
        <p:spPr>
          <a:xfrm>
            <a:off x="3622104" y="2906762"/>
            <a:ext cx="1893615" cy="23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str</a:t>
            </a:r>
            <a:endParaRPr b="0" i="0" sz="1100" u="none" cap="none" strike="noStrike"/>
          </a:p>
        </p:txBody>
      </p:sp>
      <p:sp>
        <p:nvSpPr>
          <p:cNvPr id="166" name="Google Shape;166;p24"/>
          <p:cNvSpPr/>
          <p:nvPr/>
        </p:nvSpPr>
        <p:spPr>
          <a:xfrm>
            <a:off x="5346799" y="2906762"/>
            <a:ext cx="189123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Text in quotes</a:t>
            </a:r>
            <a:endParaRPr b="0" i="0" sz="1100" u="none" cap="none" strike="noStrike"/>
          </a:p>
        </p:txBody>
      </p:sp>
      <p:sp>
        <p:nvSpPr>
          <p:cNvPr id="167" name="Google Shape;167;p24"/>
          <p:cNvSpPr/>
          <p:nvPr/>
        </p:nvSpPr>
        <p:spPr>
          <a:xfrm>
            <a:off x="7069113" y="2906762"/>
            <a:ext cx="1893615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"hello", 'Python'</a:t>
            </a:r>
            <a:endParaRPr b="0" i="0" sz="1100" u="none" cap="none" strike="noStrike"/>
          </a:p>
        </p:txBody>
      </p:sp>
      <p:sp>
        <p:nvSpPr>
          <p:cNvPr id="168" name="Google Shape;168;p24"/>
          <p:cNvSpPr/>
          <p:nvPr/>
        </p:nvSpPr>
        <p:spPr>
          <a:xfrm>
            <a:off x="3622104" y="3322737"/>
            <a:ext cx="1893615" cy="23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bool</a:t>
            </a:r>
            <a:endParaRPr b="0" i="0" sz="1100" u="none" cap="none" strike="noStrike"/>
          </a:p>
        </p:txBody>
      </p:sp>
      <p:sp>
        <p:nvSpPr>
          <p:cNvPr id="169" name="Google Shape;169;p24"/>
          <p:cNvSpPr/>
          <p:nvPr/>
        </p:nvSpPr>
        <p:spPr>
          <a:xfrm>
            <a:off x="5346799" y="3322737"/>
            <a:ext cx="189123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True or False</a:t>
            </a:r>
            <a:endParaRPr b="0" i="0" sz="1100" u="none" cap="none" strike="noStrike"/>
          </a:p>
        </p:txBody>
      </p:sp>
      <p:sp>
        <p:nvSpPr>
          <p:cNvPr id="170" name="Google Shape;170;p24"/>
          <p:cNvSpPr/>
          <p:nvPr/>
        </p:nvSpPr>
        <p:spPr>
          <a:xfrm>
            <a:off x="7069113" y="3322737"/>
            <a:ext cx="1893615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True, False</a:t>
            </a:r>
            <a:endParaRPr b="0" i="0" sz="1100" u="none" cap="none" strike="noStrike"/>
          </a:p>
        </p:txBody>
      </p:sp>
      <p:sp>
        <p:nvSpPr>
          <p:cNvPr id="171" name="Google Shape;171;p24"/>
          <p:cNvSpPr/>
          <p:nvPr/>
        </p:nvSpPr>
        <p:spPr>
          <a:xfrm>
            <a:off x="3474988" y="3808363"/>
            <a:ext cx="5177582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These four types are the foundation of almost every Python program you'll write.</a:t>
            </a:r>
            <a:endParaRPr b="0" i="0" sz="1100" u="none" cap="none" strike="noStrike"/>
          </a:p>
        </p:txBody>
      </p:sp>
      <p:pic>
        <p:nvPicPr>
          <p:cNvPr id="172" name="Google Shape;17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34596" y="172219"/>
            <a:ext cx="1611701" cy="334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/>
          <p:nvPr/>
        </p:nvSpPr>
        <p:spPr>
          <a:xfrm>
            <a:off x="496119" y="808062"/>
            <a:ext cx="488461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Checking a Variable's Type</a:t>
            </a:r>
            <a:endParaRPr b="0" i="0" sz="2750" u="none" cap="none" strike="noStrike"/>
          </a:p>
        </p:txBody>
      </p:sp>
      <p:sp>
        <p:nvSpPr>
          <p:cNvPr id="179" name="Google Shape;179;p25"/>
          <p:cNvSpPr/>
          <p:nvPr/>
        </p:nvSpPr>
        <p:spPr>
          <a:xfrm>
            <a:off x="496119" y="1534567"/>
            <a:ext cx="8608963" cy="23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Use the built-in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type()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function to inspect any variable — essential when debugging or exploring unfamiliar data.</a:t>
            </a:r>
            <a:endParaRPr b="0" i="0" sz="1100" u="none" cap="none" strike="noStrike"/>
          </a:p>
        </p:txBody>
      </p:sp>
      <p:sp>
        <p:nvSpPr>
          <p:cNvPr id="180" name="Google Shape;180;p25"/>
          <p:cNvSpPr/>
          <p:nvPr/>
        </p:nvSpPr>
        <p:spPr>
          <a:xfrm>
            <a:off x="496119" y="1925613"/>
            <a:ext cx="8151763" cy="1643211"/>
          </a:xfrm>
          <a:prstGeom prst="roundRect">
            <a:avLst>
              <a:gd fmla="val 1294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5"/>
          <p:cNvSpPr/>
          <p:nvPr/>
        </p:nvSpPr>
        <p:spPr>
          <a:xfrm>
            <a:off x="496119" y="1925613"/>
            <a:ext cx="4075881" cy="821606"/>
          </a:xfrm>
          <a:prstGeom prst="roundRect">
            <a:avLst>
              <a:gd fmla="val 2588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5"/>
          <p:cNvSpPr/>
          <p:nvPr/>
        </p:nvSpPr>
        <p:spPr>
          <a:xfrm>
            <a:off x="637877" y="2067371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type(42)</a:t>
            </a:r>
            <a:endParaRPr b="0" i="0" sz="1350" u="none" cap="none" strike="noStrike"/>
          </a:p>
        </p:txBody>
      </p:sp>
      <p:sp>
        <p:nvSpPr>
          <p:cNvPr id="183" name="Google Shape;183;p25"/>
          <p:cNvSpPr/>
          <p:nvPr/>
        </p:nvSpPr>
        <p:spPr>
          <a:xfrm>
            <a:off x="637877" y="2373883"/>
            <a:ext cx="3792364" cy="23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&lt;class 'int'&gt;</a:t>
            </a:r>
            <a:endParaRPr b="0" i="0" sz="1100" u="none" cap="none" strike="noStrike"/>
          </a:p>
        </p:txBody>
      </p:sp>
      <p:sp>
        <p:nvSpPr>
          <p:cNvPr id="184" name="Google Shape;184;p25"/>
          <p:cNvSpPr/>
          <p:nvPr/>
        </p:nvSpPr>
        <p:spPr>
          <a:xfrm>
            <a:off x="4572000" y="1925613"/>
            <a:ext cx="4075881" cy="821606"/>
          </a:xfrm>
          <a:prstGeom prst="rect">
            <a:avLst/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5"/>
          <p:cNvSpPr/>
          <p:nvPr/>
        </p:nvSpPr>
        <p:spPr>
          <a:xfrm>
            <a:off x="4572000" y="1925613"/>
            <a:ext cx="19050" cy="821606"/>
          </a:xfrm>
          <a:prstGeom prst="roundRect">
            <a:avLst>
              <a:gd fmla="val 111628" name="adj"/>
            </a:avLst>
          </a:prstGeom>
          <a:solidFill>
            <a:srgbClr val="D3D1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5"/>
          <p:cNvSpPr/>
          <p:nvPr/>
        </p:nvSpPr>
        <p:spPr>
          <a:xfrm>
            <a:off x="4713759" y="2067371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type(3.14)</a:t>
            </a:r>
            <a:endParaRPr b="0" i="0" sz="1350" u="none" cap="none" strike="noStrike"/>
          </a:p>
        </p:txBody>
      </p:sp>
      <p:sp>
        <p:nvSpPr>
          <p:cNvPr id="187" name="Google Shape;187;p25"/>
          <p:cNvSpPr/>
          <p:nvPr/>
        </p:nvSpPr>
        <p:spPr>
          <a:xfrm>
            <a:off x="4713759" y="2373883"/>
            <a:ext cx="3792364" cy="23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&lt;class 'float'&gt;</a:t>
            </a:r>
            <a:endParaRPr b="0" i="0" sz="1100" u="none" cap="none" strike="noStrike"/>
          </a:p>
        </p:txBody>
      </p:sp>
      <p:sp>
        <p:nvSpPr>
          <p:cNvPr id="188" name="Google Shape;188;p25"/>
          <p:cNvSpPr/>
          <p:nvPr/>
        </p:nvSpPr>
        <p:spPr>
          <a:xfrm>
            <a:off x="496119" y="2747218"/>
            <a:ext cx="4075881" cy="821606"/>
          </a:xfrm>
          <a:prstGeom prst="rect">
            <a:avLst/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5"/>
          <p:cNvSpPr/>
          <p:nvPr/>
        </p:nvSpPr>
        <p:spPr>
          <a:xfrm>
            <a:off x="496119" y="2747218"/>
            <a:ext cx="4075881" cy="19050"/>
          </a:xfrm>
          <a:prstGeom prst="roundRect">
            <a:avLst>
              <a:gd fmla="val 111628" name="adj"/>
            </a:avLst>
          </a:prstGeom>
          <a:solidFill>
            <a:srgbClr val="D3D1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5"/>
          <p:cNvSpPr/>
          <p:nvPr/>
        </p:nvSpPr>
        <p:spPr>
          <a:xfrm>
            <a:off x="637877" y="2888977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type("hi")</a:t>
            </a:r>
            <a:endParaRPr b="0" i="0" sz="1350" u="none" cap="none" strike="noStrike"/>
          </a:p>
        </p:txBody>
      </p:sp>
      <p:sp>
        <p:nvSpPr>
          <p:cNvPr id="191" name="Google Shape;191;p25"/>
          <p:cNvSpPr/>
          <p:nvPr/>
        </p:nvSpPr>
        <p:spPr>
          <a:xfrm>
            <a:off x="637877" y="3195489"/>
            <a:ext cx="3792364" cy="23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&lt;class 'str'&gt;</a:t>
            </a:r>
            <a:endParaRPr b="0" i="0" sz="1100" u="none" cap="none" strike="noStrike"/>
          </a:p>
        </p:txBody>
      </p:sp>
      <p:sp>
        <p:nvSpPr>
          <p:cNvPr id="192" name="Google Shape;192;p25"/>
          <p:cNvSpPr/>
          <p:nvPr/>
        </p:nvSpPr>
        <p:spPr>
          <a:xfrm>
            <a:off x="4572000" y="2747218"/>
            <a:ext cx="4075881" cy="821606"/>
          </a:xfrm>
          <a:prstGeom prst="rect">
            <a:avLst/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5"/>
          <p:cNvSpPr/>
          <p:nvPr/>
        </p:nvSpPr>
        <p:spPr>
          <a:xfrm>
            <a:off x="4572000" y="2747218"/>
            <a:ext cx="19050" cy="821606"/>
          </a:xfrm>
          <a:prstGeom prst="roundRect">
            <a:avLst>
              <a:gd fmla="val 111628" name="adj"/>
            </a:avLst>
          </a:prstGeom>
          <a:solidFill>
            <a:srgbClr val="D3D1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5"/>
          <p:cNvSpPr/>
          <p:nvPr/>
        </p:nvSpPr>
        <p:spPr>
          <a:xfrm>
            <a:off x="4572000" y="2747218"/>
            <a:ext cx="4075881" cy="19050"/>
          </a:xfrm>
          <a:prstGeom prst="roundRect">
            <a:avLst>
              <a:gd fmla="val 111628" name="adj"/>
            </a:avLst>
          </a:prstGeom>
          <a:solidFill>
            <a:srgbClr val="D3D1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5"/>
          <p:cNvSpPr/>
          <p:nvPr/>
        </p:nvSpPr>
        <p:spPr>
          <a:xfrm>
            <a:off x="4713759" y="2888977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type(True)</a:t>
            </a:r>
            <a:endParaRPr b="0" i="0" sz="1350" u="none" cap="none" strike="noStrike"/>
          </a:p>
        </p:txBody>
      </p:sp>
      <p:sp>
        <p:nvSpPr>
          <p:cNvPr id="196" name="Google Shape;196;p25"/>
          <p:cNvSpPr/>
          <p:nvPr/>
        </p:nvSpPr>
        <p:spPr>
          <a:xfrm>
            <a:off x="4713759" y="3195489"/>
            <a:ext cx="3792364" cy="23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&lt;class 'bool'&gt;</a:t>
            </a:r>
            <a:endParaRPr b="0" i="0" sz="1100" u="none" cap="none" strike="noStrike"/>
          </a:p>
        </p:txBody>
      </p:sp>
      <p:sp>
        <p:nvSpPr>
          <p:cNvPr id="197" name="Google Shape;197;p25"/>
          <p:cNvSpPr/>
          <p:nvPr/>
        </p:nvSpPr>
        <p:spPr>
          <a:xfrm>
            <a:off x="496119" y="3728293"/>
            <a:ext cx="8151763" cy="607144"/>
          </a:xfrm>
          <a:prstGeom prst="roundRect">
            <a:avLst>
              <a:gd fmla="val 3502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8" name="Google Shape;19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877" y="3943350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5"/>
          <p:cNvSpPr/>
          <p:nvPr/>
        </p:nvSpPr>
        <p:spPr>
          <a:xfrm>
            <a:off x="956816" y="3905473"/>
            <a:ext cx="8006507" cy="23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When in doubt about what type a variable is, just call </a:t>
            </a:r>
            <a:r>
              <a:rPr b="0" i="0" lang="en-US" sz="1100" u="none" cap="none" strike="noStrike">
                <a:solidFill>
                  <a:srgbClr val="000000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type()</a:t>
            </a: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on it.</a:t>
            </a:r>
            <a:endParaRPr b="0" i="0" sz="1100" u="none" cap="none" strike="noStrike"/>
          </a:p>
        </p:txBody>
      </p:sp>
      <p:pic>
        <p:nvPicPr>
          <p:cNvPr id="200" name="Google Shape;20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34596" y="172219"/>
            <a:ext cx="1611701" cy="334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/>
          <p:nvPr/>
        </p:nvSpPr>
        <p:spPr>
          <a:xfrm>
            <a:off x="496119" y="397297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Type Conversion</a:t>
            </a:r>
            <a:endParaRPr b="0" i="0" sz="2750" u="none" cap="none" strike="noStrike"/>
          </a:p>
        </p:txBody>
      </p:sp>
      <p:sp>
        <p:nvSpPr>
          <p:cNvPr id="207" name="Google Shape;207;p26"/>
          <p:cNvSpPr/>
          <p:nvPr/>
        </p:nvSpPr>
        <p:spPr>
          <a:xfrm>
            <a:off x="496119" y="1194643"/>
            <a:ext cx="269088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Converting Between Types</a:t>
            </a:r>
            <a:endParaRPr b="0" i="0" sz="1350" u="none" cap="none" strike="noStrike"/>
          </a:p>
        </p:txBody>
      </p:sp>
      <p:sp>
        <p:nvSpPr>
          <p:cNvPr id="208" name="Google Shape;208;p26"/>
          <p:cNvSpPr/>
          <p:nvPr/>
        </p:nvSpPr>
        <p:spPr>
          <a:xfrm>
            <a:off x="496119" y="1557858"/>
            <a:ext cx="2628230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Use Python's built-in functions to convert values from one type to another.</a:t>
            </a:r>
            <a:endParaRPr b="0" i="0" sz="1100" u="none" cap="none" strike="noStrike"/>
          </a:p>
        </p:txBody>
      </p:sp>
      <p:sp>
        <p:nvSpPr>
          <p:cNvPr id="209" name="Google Shape;209;p26"/>
          <p:cNvSpPr/>
          <p:nvPr/>
        </p:nvSpPr>
        <p:spPr>
          <a:xfrm>
            <a:off x="496119" y="2397770"/>
            <a:ext cx="2628230" cy="963960"/>
          </a:xfrm>
          <a:prstGeom prst="roundRect">
            <a:avLst>
              <a:gd fmla="val 2206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6"/>
          <p:cNvSpPr/>
          <p:nvPr/>
        </p:nvSpPr>
        <p:spPr>
          <a:xfrm>
            <a:off x="489049" y="2397770"/>
            <a:ext cx="2642369" cy="963960"/>
          </a:xfrm>
          <a:prstGeom prst="roundRect">
            <a:avLst>
              <a:gd fmla="val 2206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6"/>
          <p:cNvSpPr/>
          <p:nvPr/>
        </p:nvSpPr>
        <p:spPr>
          <a:xfrm>
            <a:off x="666229" y="2539529"/>
            <a:ext cx="2288009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3620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int("5")    # → 5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3620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float(3)    # → 3.0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3620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str(100)    # → "100"</a:t>
            </a:r>
            <a:endParaRPr b="0" i="0" sz="1100" u="none" cap="none" strike="noStrike"/>
          </a:p>
        </p:txBody>
      </p:sp>
      <p:sp>
        <p:nvSpPr>
          <p:cNvPr id="212" name="Google Shape;212;p26"/>
          <p:cNvSpPr/>
          <p:nvPr/>
        </p:nvSpPr>
        <p:spPr>
          <a:xfrm>
            <a:off x="496119" y="3521199"/>
            <a:ext cx="2628230" cy="1065535"/>
          </a:xfrm>
          <a:prstGeom prst="roundRect">
            <a:avLst>
              <a:gd fmla="val 1996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3" name="Google Shape;21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877" y="3736256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6"/>
          <p:cNvSpPr/>
          <p:nvPr/>
        </p:nvSpPr>
        <p:spPr>
          <a:xfrm>
            <a:off x="956816" y="3698379"/>
            <a:ext cx="2025774" cy="6899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Watch out: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100" u="none" cap="none" strike="noStrike">
                <a:solidFill>
                  <a:srgbClr val="000000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int("hello")</a:t>
            </a: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raises a </a:t>
            </a:r>
            <a:r>
              <a:rPr b="0" i="0" lang="en-US" sz="1100" u="none" cap="none" strike="noStrike">
                <a:solidFill>
                  <a:srgbClr val="000000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ValueError</a:t>
            </a: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— only convert compatible types!</a:t>
            </a:r>
            <a:endParaRPr b="0" i="0" sz="1100" u="none" cap="none" strike="noStrike"/>
          </a:p>
        </p:txBody>
      </p:sp>
      <p:pic>
        <p:nvPicPr>
          <p:cNvPr descr="preencoded.png" id="215" name="Google Shape;21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44194" y="1256333"/>
            <a:ext cx="3839096" cy="3286348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6"/>
          <p:cNvSpPr/>
          <p:nvPr/>
        </p:nvSpPr>
        <p:spPr>
          <a:xfrm>
            <a:off x="4227343" y="2241500"/>
            <a:ext cx="1709115" cy="185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DM Sans Medium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int()</a:t>
            </a:r>
            <a:endParaRPr b="0" i="0" sz="1150" u="none" cap="none" strike="noStrike"/>
          </a:p>
        </p:txBody>
      </p:sp>
      <p:sp>
        <p:nvSpPr>
          <p:cNvPr id="217" name="Google Shape;217;p26"/>
          <p:cNvSpPr/>
          <p:nvPr/>
        </p:nvSpPr>
        <p:spPr>
          <a:xfrm>
            <a:off x="6237554" y="2129639"/>
            <a:ext cx="1518293" cy="185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DM Sans Medium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float()</a:t>
            </a:r>
            <a:endParaRPr b="0" i="0" sz="1150" u="none" cap="none" strike="noStrike"/>
          </a:p>
        </p:txBody>
      </p:sp>
      <p:sp>
        <p:nvSpPr>
          <p:cNvPr id="218" name="Google Shape;218;p26"/>
          <p:cNvSpPr/>
          <p:nvPr/>
        </p:nvSpPr>
        <p:spPr>
          <a:xfrm>
            <a:off x="5599287" y="3669374"/>
            <a:ext cx="1347211" cy="185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DM Sans Medium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str()</a:t>
            </a:r>
            <a:endParaRPr b="0" i="0" sz="1150" u="none" cap="none" strike="noStrike"/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34596" y="172219"/>
            <a:ext cx="1611701" cy="334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5" name="Google Shape;22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7"/>
          <p:cNvSpPr/>
          <p:nvPr/>
        </p:nvSpPr>
        <p:spPr>
          <a:xfrm>
            <a:off x="3925119" y="1064716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Common Type Conversion Use Cases</a:t>
            </a:r>
            <a:endParaRPr b="0" i="0" sz="2750" u="none" cap="none" strike="noStrike"/>
          </a:p>
        </p:txBody>
      </p:sp>
      <p:sp>
        <p:nvSpPr>
          <p:cNvPr id="227" name="Google Shape;227;p27"/>
          <p:cNvSpPr/>
          <p:nvPr/>
        </p:nvSpPr>
        <p:spPr>
          <a:xfrm>
            <a:off x="3925119" y="2163291"/>
            <a:ext cx="318939" cy="318939"/>
          </a:xfrm>
          <a:prstGeom prst="roundRect">
            <a:avLst>
              <a:gd fmla="val 6667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7"/>
          <p:cNvSpPr/>
          <p:nvPr/>
        </p:nvSpPr>
        <p:spPr>
          <a:xfrm>
            <a:off x="3978287" y="2189857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50"/>
              <a:buFont typeface="DM Sans Medium"/>
              <a:buNone/>
            </a:pPr>
            <a:r>
              <a:rPr b="0" i="0" lang="en-US" sz="16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</a:t>
            </a:r>
            <a:endParaRPr b="0" i="0" sz="1650" u="none" cap="none" strike="noStrike"/>
          </a:p>
        </p:txBody>
      </p:sp>
      <p:sp>
        <p:nvSpPr>
          <p:cNvPr id="229" name="Google Shape;229;p27"/>
          <p:cNvSpPr/>
          <p:nvPr/>
        </p:nvSpPr>
        <p:spPr>
          <a:xfrm>
            <a:off x="4385816" y="2211958"/>
            <a:ext cx="2308399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User input is always a string</a:t>
            </a:r>
            <a:endParaRPr b="0" i="0" sz="1350" u="none" cap="none" strike="noStrike"/>
          </a:p>
        </p:txBody>
      </p:sp>
      <p:sp>
        <p:nvSpPr>
          <p:cNvPr id="230" name="Google Shape;230;p27"/>
          <p:cNvSpPr/>
          <p:nvPr/>
        </p:nvSpPr>
        <p:spPr>
          <a:xfrm>
            <a:off x="4385816" y="2518470"/>
            <a:ext cx="4262065" cy="463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Convert to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or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before doing any math.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age = int(input("Enter age: "))</a:t>
            </a:r>
            <a:endParaRPr b="0" i="0" sz="1100" u="none" cap="none" strike="noStrike"/>
          </a:p>
        </p:txBody>
      </p:sp>
      <p:sp>
        <p:nvSpPr>
          <p:cNvPr id="231" name="Google Shape;231;p27"/>
          <p:cNvSpPr/>
          <p:nvPr/>
        </p:nvSpPr>
        <p:spPr>
          <a:xfrm>
            <a:off x="3925119" y="3265140"/>
            <a:ext cx="318939" cy="318939"/>
          </a:xfrm>
          <a:prstGeom prst="roundRect">
            <a:avLst>
              <a:gd fmla="val 6667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7"/>
          <p:cNvSpPr/>
          <p:nvPr/>
        </p:nvSpPr>
        <p:spPr>
          <a:xfrm>
            <a:off x="3978287" y="3291706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50"/>
              <a:buFont typeface="DM Sans Medium"/>
              <a:buNone/>
            </a:pPr>
            <a:r>
              <a:rPr b="0" i="0" lang="en-US" sz="16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2</a:t>
            </a:r>
            <a:endParaRPr b="0" i="0" sz="1650" u="none" cap="none" strike="noStrike"/>
          </a:p>
        </p:txBody>
      </p:sp>
      <p:sp>
        <p:nvSpPr>
          <p:cNvPr id="233" name="Google Shape;233;p27"/>
          <p:cNvSpPr/>
          <p:nvPr/>
        </p:nvSpPr>
        <p:spPr>
          <a:xfrm>
            <a:off x="4385816" y="3313807"/>
            <a:ext cx="303386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Concatenating numbers with strings</a:t>
            </a:r>
            <a:endParaRPr b="0" i="0" sz="1350" u="none" cap="none" strike="noStrike"/>
          </a:p>
        </p:txBody>
      </p:sp>
      <p:sp>
        <p:nvSpPr>
          <p:cNvPr id="234" name="Google Shape;234;p27"/>
          <p:cNvSpPr/>
          <p:nvPr/>
        </p:nvSpPr>
        <p:spPr>
          <a:xfrm>
            <a:off x="4385816" y="3620319"/>
            <a:ext cx="4262065" cy="458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You can't add a number to a string directly — convert first.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"Score: " + str(95)</a:t>
            </a:r>
            <a:endParaRPr b="0" i="0" sz="1100" u="none" cap="none" strike="noStrike"/>
          </a:p>
        </p:txBody>
      </p:sp>
      <p:pic>
        <p:nvPicPr>
          <p:cNvPr id="235" name="Google Shape;23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34596" y="172219"/>
            <a:ext cx="1611701" cy="334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8"/>
          <p:cNvSpPr/>
          <p:nvPr/>
        </p:nvSpPr>
        <p:spPr>
          <a:xfrm>
            <a:off x="496119" y="739899"/>
            <a:ext cx="493737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Input &amp; Output Operations</a:t>
            </a:r>
            <a:endParaRPr b="0" i="0" sz="2750" u="none" cap="none" strike="noStrike"/>
          </a:p>
        </p:txBody>
      </p:sp>
      <p:sp>
        <p:nvSpPr>
          <p:cNvPr id="242" name="Google Shape;242;p28"/>
          <p:cNvSpPr/>
          <p:nvPr/>
        </p:nvSpPr>
        <p:spPr>
          <a:xfrm>
            <a:off x="496119" y="1537246"/>
            <a:ext cx="22292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print() — Output</a:t>
            </a:r>
            <a:endParaRPr b="0" i="0" sz="1350" u="none" cap="none" strike="noStrike"/>
          </a:p>
        </p:txBody>
      </p:sp>
      <p:sp>
        <p:nvSpPr>
          <p:cNvPr id="243" name="Google Shape;243;p28"/>
          <p:cNvSpPr/>
          <p:nvPr/>
        </p:nvSpPr>
        <p:spPr>
          <a:xfrm>
            <a:off x="496119" y="1900461"/>
            <a:ext cx="390294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Displays values to the screen. Supports multiple arguments and f-strings for clean formatting.</a:t>
            </a:r>
            <a:endParaRPr b="0" i="0" sz="1100" u="none" cap="none" strike="noStrike"/>
          </a:p>
        </p:txBody>
      </p:sp>
      <p:sp>
        <p:nvSpPr>
          <p:cNvPr id="244" name="Google Shape;244;p28"/>
          <p:cNvSpPr/>
          <p:nvPr/>
        </p:nvSpPr>
        <p:spPr>
          <a:xfrm>
            <a:off x="496119" y="2513558"/>
            <a:ext cx="3902943" cy="963960"/>
          </a:xfrm>
          <a:prstGeom prst="roundRect">
            <a:avLst>
              <a:gd fmla="val 2206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8"/>
          <p:cNvSpPr/>
          <p:nvPr/>
        </p:nvSpPr>
        <p:spPr>
          <a:xfrm>
            <a:off x="489049" y="2513558"/>
            <a:ext cx="3917082" cy="963960"/>
          </a:xfrm>
          <a:prstGeom prst="roundRect">
            <a:avLst>
              <a:gd fmla="val 2206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8"/>
          <p:cNvSpPr/>
          <p:nvPr/>
        </p:nvSpPr>
        <p:spPr>
          <a:xfrm>
            <a:off x="666229" y="2655317"/>
            <a:ext cx="3562722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name = "Alice"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age  = 25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print(f"Hello, {name}! You are {age} years old.")</a:t>
            </a:r>
            <a:endParaRPr b="0" i="0" sz="1100" u="none" cap="none" strike="noStrike"/>
          </a:p>
        </p:txBody>
      </p:sp>
      <p:sp>
        <p:nvSpPr>
          <p:cNvPr id="247" name="Google Shape;247;p28"/>
          <p:cNvSpPr/>
          <p:nvPr/>
        </p:nvSpPr>
        <p:spPr>
          <a:xfrm>
            <a:off x="4749701" y="1537246"/>
            <a:ext cx="22292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input() — Input</a:t>
            </a:r>
            <a:endParaRPr b="0" i="0" sz="1350" u="none" cap="none" strike="noStrike"/>
          </a:p>
        </p:txBody>
      </p:sp>
      <p:sp>
        <p:nvSpPr>
          <p:cNvPr id="248" name="Google Shape;248;p28"/>
          <p:cNvSpPr/>
          <p:nvPr/>
        </p:nvSpPr>
        <p:spPr>
          <a:xfrm>
            <a:off x="4749701" y="1900461"/>
            <a:ext cx="390294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Pauses the program and waits for the user to type something. Always returns a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string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100" u="none" cap="none" strike="noStrike"/>
          </a:p>
        </p:txBody>
      </p:sp>
      <p:sp>
        <p:nvSpPr>
          <p:cNvPr id="249" name="Google Shape;249;p28"/>
          <p:cNvSpPr/>
          <p:nvPr/>
        </p:nvSpPr>
        <p:spPr>
          <a:xfrm>
            <a:off x="4749701" y="2513558"/>
            <a:ext cx="3902943" cy="737146"/>
          </a:xfrm>
          <a:prstGeom prst="roundRect">
            <a:avLst>
              <a:gd fmla="val 2885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8"/>
          <p:cNvSpPr/>
          <p:nvPr/>
        </p:nvSpPr>
        <p:spPr>
          <a:xfrm>
            <a:off x="4742631" y="2513558"/>
            <a:ext cx="3917082" cy="737146"/>
          </a:xfrm>
          <a:prstGeom prst="roundRect">
            <a:avLst>
              <a:gd fmla="val 2885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8"/>
          <p:cNvSpPr/>
          <p:nvPr/>
        </p:nvSpPr>
        <p:spPr>
          <a:xfrm>
            <a:off x="4919811" y="2655317"/>
            <a:ext cx="3562722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name = input("What is your name? ")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print("Nice to meet you, " + name)</a:t>
            </a:r>
            <a:endParaRPr b="0" i="0" sz="1100" u="none" cap="none" strike="noStrike"/>
          </a:p>
        </p:txBody>
      </p:sp>
      <p:sp>
        <p:nvSpPr>
          <p:cNvPr id="252" name="Google Shape;252;p28"/>
          <p:cNvSpPr/>
          <p:nvPr/>
        </p:nvSpPr>
        <p:spPr>
          <a:xfrm>
            <a:off x="4749701" y="3410173"/>
            <a:ext cx="3902943" cy="833958"/>
          </a:xfrm>
          <a:prstGeom prst="roundRect">
            <a:avLst>
              <a:gd fmla="val 2550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3" name="Google Shape;25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1460" y="3625230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8"/>
          <p:cNvSpPr/>
          <p:nvPr/>
        </p:nvSpPr>
        <p:spPr>
          <a:xfrm>
            <a:off x="5210398" y="3587353"/>
            <a:ext cx="3300487" cy="458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Remember: wrap </a:t>
            </a:r>
            <a:r>
              <a:rPr b="0" i="0" lang="en-US" sz="1100" u="none" cap="none" strike="noStrike">
                <a:solidFill>
                  <a:srgbClr val="000000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input()</a:t>
            </a: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with </a:t>
            </a:r>
            <a:r>
              <a:rPr b="0" i="0" lang="en-US" sz="1100" u="none" cap="none" strike="noStrike">
                <a:solidFill>
                  <a:srgbClr val="000000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int()</a:t>
            </a: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or </a:t>
            </a:r>
            <a:r>
              <a:rPr b="0" i="0" lang="en-US" sz="1100" u="none" cap="none" strike="noStrike">
                <a:solidFill>
                  <a:srgbClr val="000000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float()</a:t>
            </a: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when you need a number.</a:t>
            </a:r>
            <a:endParaRPr b="0" i="0" sz="1100" u="none" cap="none" strike="noStrike"/>
          </a:p>
        </p:txBody>
      </p:sp>
      <p:pic>
        <p:nvPicPr>
          <p:cNvPr id="255" name="Google Shape;25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34596" y="172219"/>
            <a:ext cx="1611701" cy="334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9"/>
          <p:cNvSpPr/>
          <p:nvPr/>
        </p:nvSpPr>
        <p:spPr>
          <a:xfrm>
            <a:off x="496119" y="960165"/>
            <a:ext cx="4033391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Putting It All Together</a:t>
            </a:r>
            <a:endParaRPr b="0" i="0" sz="2750" u="none" cap="none" strike="noStrike"/>
          </a:p>
        </p:txBody>
      </p:sp>
      <p:sp>
        <p:nvSpPr>
          <p:cNvPr id="262" name="Google Shape;262;p29"/>
          <p:cNvSpPr/>
          <p:nvPr/>
        </p:nvSpPr>
        <p:spPr>
          <a:xfrm>
            <a:off x="496119" y="1686669"/>
            <a:ext cx="8151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 mini program that combines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variables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input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type conversion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, and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output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everything you've learned so far in one place.</a:t>
            </a:r>
            <a:endParaRPr b="0" i="0" sz="1100" u="none" cap="none" strike="noStrike"/>
          </a:p>
        </p:txBody>
      </p:sp>
      <p:sp>
        <p:nvSpPr>
          <p:cNvPr id="263" name="Google Shape;263;p29"/>
          <p:cNvSpPr/>
          <p:nvPr/>
        </p:nvSpPr>
        <p:spPr>
          <a:xfrm>
            <a:off x="496119" y="2299767"/>
            <a:ext cx="8151763" cy="963960"/>
          </a:xfrm>
          <a:prstGeom prst="roundRect">
            <a:avLst>
              <a:gd fmla="val 2206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9"/>
          <p:cNvSpPr/>
          <p:nvPr/>
        </p:nvSpPr>
        <p:spPr>
          <a:xfrm>
            <a:off x="489049" y="2299767"/>
            <a:ext cx="8165902" cy="963960"/>
          </a:xfrm>
          <a:prstGeom prst="roundRect">
            <a:avLst>
              <a:gd fmla="val 2206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9"/>
          <p:cNvSpPr/>
          <p:nvPr/>
        </p:nvSpPr>
        <p:spPr>
          <a:xfrm>
            <a:off x="666229" y="2441525"/>
            <a:ext cx="7811542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name = input("Your name: ")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age  = int(input("Your age: "))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print(f"Hi {name}, in 10 years you'll be {age + 10}!")</a:t>
            </a:r>
            <a:endParaRPr b="0" i="0" sz="1100" u="none" cap="none" strike="noStrike"/>
          </a:p>
        </p:txBody>
      </p:sp>
      <p:pic>
        <p:nvPicPr>
          <p:cNvPr descr="preencoded.png" id="266" name="Google Shape;26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250" y="3427586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9"/>
          <p:cNvSpPr/>
          <p:nvPr/>
        </p:nvSpPr>
        <p:spPr>
          <a:xfrm>
            <a:off x="956816" y="3423196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input()</a:t>
            </a:r>
            <a:endParaRPr b="0" i="0" sz="1350" u="none" cap="none" strike="noStrike"/>
          </a:p>
        </p:txBody>
      </p:sp>
      <p:sp>
        <p:nvSpPr>
          <p:cNvPr id="268" name="Google Shape;268;p29"/>
          <p:cNvSpPr/>
          <p:nvPr/>
        </p:nvSpPr>
        <p:spPr>
          <a:xfrm>
            <a:off x="956816" y="3729707"/>
            <a:ext cx="2138437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Captures the user's name and age as strings.</a:t>
            </a:r>
            <a:endParaRPr b="0" i="0" sz="1100" u="none" cap="none" strike="noStrike"/>
          </a:p>
        </p:txBody>
      </p:sp>
      <p:pic>
        <p:nvPicPr>
          <p:cNvPr descr="preencoded.png" id="269" name="Google Shape;26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5564" y="3427586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9"/>
          <p:cNvSpPr/>
          <p:nvPr/>
        </p:nvSpPr>
        <p:spPr>
          <a:xfrm>
            <a:off x="3733130" y="3423196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int()</a:t>
            </a:r>
            <a:endParaRPr b="0" i="0" sz="1350" u="none" cap="none" strike="noStrike"/>
          </a:p>
        </p:txBody>
      </p:sp>
      <p:sp>
        <p:nvSpPr>
          <p:cNvPr id="271" name="Google Shape;271;p29"/>
          <p:cNvSpPr/>
          <p:nvPr/>
        </p:nvSpPr>
        <p:spPr>
          <a:xfrm>
            <a:off x="3733130" y="3729707"/>
            <a:ext cx="2138437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Converts the age string to an integer so we can do math.</a:t>
            </a:r>
            <a:endParaRPr b="0" i="0" sz="1100" u="none" cap="none" strike="noStrike"/>
          </a:p>
        </p:txBody>
      </p:sp>
      <p:pic>
        <p:nvPicPr>
          <p:cNvPr descr="preencoded.png" id="272" name="Google Shape;27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1879" y="3427586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9"/>
          <p:cNvSpPr/>
          <p:nvPr/>
        </p:nvSpPr>
        <p:spPr>
          <a:xfrm>
            <a:off x="6509445" y="3423196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print() + f-string</a:t>
            </a:r>
            <a:endParaRPr b="0" i="0" sz="1350" u="none" cap="none" strike="noStrike"/>
          </a:p>
        </p:txBody>
      </p:sp>
      <p:sp>
        <p:nvSpPr>
          <p:cNvPr id="274" name="Google Shape;274;p29"/>
          <p:cNvSpPr/>
          <p:nvPr/>
        </p:nvSpPr>
        <p:spPr>
          <a:xfrm>
            <a:off x="6509445" y="3729707"/>
            <a:ext cx="2138437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Formats and displays the result cleanly.</a:t>
            </a:r>
            <a:endParaRPr b="0" i="0" sz="1100" u="none" cap="none" strike="noStrike"/>
          </a:p>
        </p:txBody>
      </p:sp>
      <p:pic>
        <p:nvPicPr>
          <p:cNvPr id="275" name="Google Shape;27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34596" y="172219"/>
            <a:ext cx="1611701" cy="334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1" name="Google Shape;28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0"/>
          <p:cNvSpPr/>
          <p:nvPr/>
        </p:nvSpPr>
        <p:spPr>
          <a:xfrm>
            <a:off x="449610" y="412552"/>
            <a:ext cx="4753868" cy="401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500"/>
              <a:buFont typeface="DM Sans Medium"/>
              <a:buNone/>
            </a:pPr>
            <a:r>
              <a:rPr b="0" i="0" lang="en-US" sz="25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Key Takeaways &amp; Next Steps</a:t>
            </a:r>
            <a:endParaRPr b="0" i="0" sz="2500" u="none" cap="none" strike="noStrike"/>
          </a:p>
        </p:txBody>
      </p:sp>
      <p:sp>
        <p:nvSpPr>
          <p:cNvPr id="283" name="Google Shape;283;p30"/>
          <p:cNvSpPr/>
          <p:nvPr/>
        </p:nvSpPr>
        <p:spPr>
          <a:xfrm>
            <a:off x="449610" y="988591"/>
            <a:ext cx="2349698" cy="2400746"/>
          </a:xfrm>
          <a:prstGeom prst="roundRect">
            <a:avLst>
              <a:gd fmla="val 820" name="adj"/>
            </a:avLst>
          </a:prstGeom>
          <a:solidFill>
            <a:srgbClr val="F9F8F5"/>
          </a:solidFill>
          <a:ln cap="flat" cmpd="sng" w="14275">
            <a:solidFill>
              <a:srgbClr val="D3D1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0"/>
          <p:cNvSpPr/>
          <p:nvPr/>
        </p:nvSpPr>
        <p:spPr>
          <a:xfrm>
            <a:off x="592322" y="1131325"/>
            <a:ext cx="2112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DM Sans Medium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✅</a:t>
            </a:r>
            <a:r>
              <a:rPr b="0" i="0" lang="en-US" sz="12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What You Learned</a:t>
            </a:r>
            <a:endParaRPr b="0" i="0" sz="1250" u="none" cap="none" strike="noStrike"/>
          </a:p>
        </p:txBody>
      </p:sp>
      <p:sp>
        <p:nvSpPr>
          <p:cNvPr id="285" name="Google Shape;285;p30"/>
          <p:cNvSpPr/>
          <p:nvPr/>
        </p:nvSpPr>
        <p:spPr>
          <a:xfrm>
            <a:off x="592336" y="1401812"/>
            <a:ext cx="2064246" cy="184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Char char="•"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Python's simplicity makes it the perfect first language for data science</a:t>
            </a:r>
            <a:endParaRPr b="0" i="0" sz="1000" u="none" cap="none" strike="noStrike"/>
          </a:p>
          <a:p>
            <a:pPr indent="-342900" lvl="0" marL="34290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Char char="•"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Variables, data types, and I/O are the building blocks of every program</a:t>
            </a:r>
            <a:endParaRPr b="0" i="0" sz="1000" u="none" cap="none" strike="noStrike"/>
          </a:p>
          <a:p>
            <a:pPr indent="-342900" lvl="0" marL="34290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Char char="•"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Type conversion lets you work with data in any form you need</a:t>
            </a:r>
            <a:endParaRPr b="0" i="0" sz="1000" u="none" cap="none" strike="noStrike"/>
          </a:p>
        </p:txBody>
      </p:sp>
      <p:sp>
        <p:nvSpPr>
          <p:cNvPr id="286" name="Google Shape;286;p30"/>
          <p:cNvSpPr/>
          <p:nvPr/>
        </p:nvSpPr>
        <p:spPr>
          <a:xfrm>
            <a:off x="2915692" y="988591"/>
            <a:ext cx="2349698" cy="2400746"/>
          </a:xfrm>
          <a:prstGeom prst="roundRect">
            <a:avLst>
              <a:gd fmla="val 820" name="adj"/>
            </a:avLst>
          </a:prstGeom>
          <a:solidFill>
            <a:srgbClr val="F9F8F5"/>
          </a:solidFill>
          <a:ln cap="flat" cmpd="sng" w="14275">
            <a:solidFill>
              <a:srgbClr val="D3D1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0"/>
          <p:cNvSpPr/>
          <p:nvPr/>
        </p:nvSpPr>
        <p:spPr>
          <a:xfrm>
            <a:off x="3058418" y="1131317"/>
            <a:ext cx="1605930" cy="20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DM Sans Medium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🏋️</a:t>
            </a:r>
            <a:r>
              <a:rPr b="0" i="0" lang="en-US" sz="12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Practice Now</a:t>
            </a:r>
            <a:endParaRPr b="0" i="0" sz="1250" u="none" cap="none" strike="noStrike"/>
          </a:p>
        </p:txBody>
      </p:sp>
      <p:sp>
        <p:nvSpPr>
          <p:cNvPr id="288" name="Google Shape;288;p30"/>
          <p:cNvSpPr/>
          <p:nvPr/>
        </p:nvSpPr>
        <p:spPr>
          <a:xfrm>
            <a:off x="3058418" y="1401812"/>
            <a:ext cx="2064246" cy="7932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Write </a:t>
            </a:r>
            <a:r>
              <a:rPr b="1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3 small programs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today using </a:t>
            </a: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input()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, type conversion, and </a:t>
            </a: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print()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. Repetition is how it sticks.</a:t>
            </a:r>
            <a:endParaRPr b="0" i="0" sz="1000" u="none" cap="none" strike="noStrike"/>
          </a:p>
        </p:txBody>
      </p:sp>
      <p:sp>
        <p:nvSpPr>
          <p:cNvPr id="289" name="Google Shape;289;p30"/>
          <p:cNvSpPr/>
          <p:nvPr/>
        </p:nvSpPr>
        <p:spPr>
          <a:xfrm>
            <a:off x="449610" y="3505721"/>
            <a:ext cx="4815780" cy="1225153"/>
          </a:xfrm>
          <a:prstGeom prst="roundRect">
            <a:avLst>
              <a:gd fmla="val 1573" name="adj"/>
            </a:avLst>
          </a:prstGeom>
          <a:solidFill>
            <a:srgbClr val="F9F8F5"/>
          </a:solidFill>
          <a:ln cap="flat" cmpd="sng" w="14275">
            <a:solidFill>
              <a:srgbClr val="D3D1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0"/>
          <p:cNvSpPr/>
          <p:nvPr/>
        </p:nvSpPr>
        <p:spPr>
          <a:xfrm>
            <a:off x="592336" y="3648447"/>
            <a:ext cx="1605930" cy="20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DM Sans Medium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🚀</a:t>
            </a:r>
            <a:r>
              <a:rPr b="0" i="0" lang="en-US" sz="12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Up Next</a:t>
            </a:r>
            <a:endParaRPr b="0" i="0" sz="1250" u="none" cap="none" strike="noStrike"/>
          </a:p>
        </p:txBody>
      </p:sp>
      <p:sp>
        <p:nvSpPr>
          <p:cNvPr id="291" name="Google Shape;291;p30"/>
          <p:cNvSpPr/>
          <p:nvPr/>
        </p:nvSpPr>
        <p:spPr>
          <a:xfrm>
            <a:off x="592336" y="3918942"/>
            <a:ext cx="4530328" cy="6692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Char char="•"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Operators (arithmetic, comparison, logical)</a:t>
            </a:r>
            <a:endParaRPr b="0" i="0" sz="1000" u="none" cap="none" strike="noStrike"/>
          </a:p>
          <a:p>
            <a:pPr indent="-342900" lvl="0" marL="34290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Char char="•"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Conditionals (if / elif / else)</a:t>
            </a:r>
            <a:endParaRPr b="0" i="0" sz="1000" u="none" cap="none" strike="noStrike"/>
          </a:p>
          <a:p>
            <a:pPr indent="-342900" lvl="0" marL="34290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Char char="•"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Loops (for and while)</a:t>
            </a:r>
            <a:endParaRPr b="0" i="0" sz="10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