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HYPOTHESIS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BED7F0"/>
                </a:solidFill>
              </a:defRPr>
            </a:pPr>
            <a:r>
              <a:t>35-Question Quiz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Easy to Intermediate • Z-Test • T-Test • p-value • H₀ / H₁ • One- &amp; Two-Tailed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Quiz Instructions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300">
                <a:solidFill>
                  <a:srgbClr val="232323"/>
                </a:solidFill>
              </a:defRPr>
            </a:pPr>
            <a:r>
              <a:t>• 35 multiple-choice questions</a:t>
            </a:r>
          </a:p>
          <a:p>
            <a:pPr>
              <a:spcAft>
                <a:spcPts val="1600"/>
              </a:spcAft>
              <a:defRPr sz="2300">
                <a:solidFill>
                  <a:srgbClr val="232323"/>
                </a:solidFill>
              </a:defRPr>
            </a:pPr>
            <a:r>
              <a:t>• Choose one best answer for each question</a:t>
            </a:r>
          </a:p>
          <a:p>
            <a:pPr>
              <a:spcAft>
                <a:spcPts val="1600"/>
              </a:spcAft>
              <a:defRPr sz="2300">
                <a:solidFill>
                  <a:srgbClr val="232323"/>
                </a:solidFill>
              </a:defRPr>
            </a:pPr>
            <a:r>
              <a:t>• Topics: hypothesis testing, Z-test, t-test, p-value, significance level, tails, and errors</a:t>
            </a:r>
          </a:p>
          <a:p>
            <a:pPr>
              <a:spcAft>
                <a:spcPts val="1600"/>
              </a:spcAft>
              <a:defRPr sz="2300">
                <a:solidFill>
                  <a:srgbClr val="232323"/>
                </a:solidFill>
              </a:defRPr>
            </a:pPr>
            <a:r>
              <a:t>• Suggested time: 25–35 minutes</a:t>
            </a:r>
          </a:p>
          <a:p>
            <a:pPr>
              <a:spcAft>
                <a:spcPts val="1600"/>
              </a:spcAft>
              <a:defRPr sz="2300">
                <a:solidFill>
                  <a:srgbClr val="232323"/>
                </a:solidFill>
              </a:defRPr>
            </a:pPr>
            <a:r>
              <a:t>• Answer key is provided at the 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Hypothesis Testing Quiz  |  Question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5F96"/>
                </a:solidFill>
              </a:defRPr>
            </a:pPr>
            <a:r>
              <a:t>Choose the best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323"/>
                </a:solidFill>
              </a:defRPr>
            </a:pPr>
            <a:r>
              <a:t>1. What is the main purpose of hypothesis testing?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15184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A. To prove a hypothesis is always true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00984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B. To make a decision about a population using sample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87368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8795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C. To calculate only the mean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73752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97433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D. To create a 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D5F96"/>
                </a:solidFill>
              </a:defRPr>
            </a:pPr>
            <a:r>
              <a:t>Do not check the answer key until all questions are completed.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Hypothesis Testing Quiz  |  Question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5F96"/>
                </a:solidFill>
              </a:defRPr>
            </a:pPr>
            <a:r>
              <a:t>Choose the best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323"/>
                </a:solidFill>
              </a:defRPr>
            </a:pPr>
            <a:r>
              <a:t>2. What does H₀ represent?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15184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A. Alternative hypothesis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00984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B. Sample hypothesis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87368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8795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C. Null hypothesis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73752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97433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D. Research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D5F96"/>
                </a:solidFill>
              </a:defRPr>
            </a:pPr>
            <a:r>
              <a:t>Do not check the answer key until all questions are completed.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Hypothesis Testing Quiz  |  Question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5F96"/>
                </a:solidFill>
              </a:defRPr>
            </a:pPr>
            <a:r>
              <a:t>Choose the best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323"/>
                </a:solidFill>
              </a:defRPr>
            </a:pPr>
            <a:r>
              <a:t>3. What does H₁ generally represent?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15184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A. Alternative hypothesis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00984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B. Null hypothesis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87368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8795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C. Population size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73752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97433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D. Significance level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D5F96"/>
                </a:solidFill>
              </a:defRPr>
            </a:pPr>
            <a:r>
              <a:t>Do not check the answer key until all questions are completed.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Hypothesis Testing Quiz  |  Question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5F96"/>
                </a:solidFill>
              </a:defRPr>
            </a:pPr>
            <a:r>
              <a:t>Choose the best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323"/>
                </a:solidFill>
              </a:defRPr>
            </a:pPr>
            <a:r>
              <a:t>4. If p-value &lt; 0.05, what is the usual decision?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15184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A. Accept H₀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00984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B. Reject H₀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87368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8795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C. Increase the sample mean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73752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97433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D. Change the 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D5F96"/>
                </a:solidFill>
              </a:defRPr>
            </a:pPr>
            <a:r>
              <a:t>Do not check the answer key until all questions are completed.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Hypothesis Testing Quiz  |  Question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5F96"/>
                </a:solidFill>
              </a:defRPr>
            </a:pPr>
            <a:r>
              <a:t>Choose the best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323"/>
                </a:solidFill>
              </a:defRPr>
            </a:pPr>
            <a:r>
              <a:t>5. If p-value ≥ 0.05, what is the correct statistical wording?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15184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A. Reject H₀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00984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B. Prove H₀ is true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87368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8795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C. Fail to reject H₀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73752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97433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D. Reject H₁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D5F96"/>
                </a:solidFill>
              </a:defRPr>
            </a:pPr>
            <a:r>
              <a:t>Do not check the answer key until all questions are completed.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Hypothesis Testing Quiz  |  Question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5F96"/>
                </a:solidFill>
              </a:defRPr>
            </a:pPr>
            <a:r>
              <a:t>Choose the best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323"/>
                </a:solidFill>
              </a:defRPr>
            </a:pPr>
            <a:r>
              <a:t>6. What does α = 0.05 represent?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15184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A. Sample size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00984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B. Significance level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87368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8795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C. Population mean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73752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97433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D. Test statistic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D5F96"/>
                </a:solidFill>
              </a:defRPr>
            </a:pPr>
            <a:r>
              <a:t>Do not check the answer key until all questions are completed.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Hypothesis Testing Quiz  |  Question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5F96"/>
                </a:solidFill>
              </a:defRPr>
            </a:pPr>
            <a:r>
              <a:t>Choose the best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323"/>
                </a:solidFill>
              </a:defRPr>
            </a:pPr>
            <a:r>
              <a:t>7. Which alternative hypothesis represents a two-tailed test?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15184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A. H₁: μ &gt; 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00984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B. H₁: μ &lt;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87368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8795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C. H₁: μ ≠ 50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73752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97433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D. H₁: μ =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D5F96"/>
                </a:solidFill>
              </a:defRPr>
            </a:pPr>
            <a:r>
              <a:t>Do not check the answer key until all questions are completed.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Hypothesis Testing Quiz  |  Question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5F96"/>
                </a:solidFill>
              </a:defRPr>
            </a:pPr>
            <a:r>
              <a:t>Choose the best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323"/>
                </a:solidFill>
              </a:defRPr>
            </a:pPr>
            <a:r>
              <a:t>8. Which alternative hypothesis represents a right-tailed test?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15184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A. H₁: μ &gt; 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00984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B. H₁: μ &lt;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87368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8795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C. H₁: μ ≠ 100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73752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97433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D. H₁: μ = 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D5F96"/>
                </a:solidFill>
              </a:defRPr>
            </a:pPr>
            <a:r>
              <a:t>Do not check the answer key until all questions are completed.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Hypothesis Testing Quiz  |  Question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5F96"/>
                </a:solidFill>
              </a:defRPr>
            </a:pPr>
            <a:r>
              <a:t>Choose the best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323"/>
                </a:solidFill>
              </a:defRPr>
            </a:pPr>
            <a:r>
              <a:t>9. Which alternative hypothesis represents a left-tailed test?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15184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A. H₁: μ &gt; 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00984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B. H₁: μ &lt;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87368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8795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C. H₁: μ ≠ 100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73752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97433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D. H₁: μ = 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D5F96"/>
                </a:solidFill>
              </a:defRPr>
            </a:pPr>
            <a:r>
              <a:t>Do not check the answer key until all questions are completed.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Hypothesis Testing Quiz  |  Question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5F96"/>
                </a:solidFill>
              </a:defRPr>
            </a:pPr>
            <a:r>
              <a:t>Choose the best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323"/>
                </a:solidFill>
              </a:defRPr>
            </a:pPr>
            <a:r>
              <a:t>10. In SciPy's ttest_1samp(), what is the default alternative?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15184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A. less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00984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B. greater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87368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8795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C. two-sided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73752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97433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D. none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D5F96"/>
                </a:solidFill>
              </a:defRPr>
            </a:pPr>
            <a:r>
              <a:t>Do not check the answer key until all questions are completed.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Hypothesis Testing Quiz  |  Question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5F96"/>
                </a:solidFill>
              </a:defRPr>
            </a:pPr>
            <a:r>
              <a:t>Choose the best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323"/>
                </a:solidFill>
              </a:defRPr>
            </a:pPr>
            <a:r>
              <a:t>11. Which Python function performs a one-sample t-test in SciPy?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15184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A. ttest_1samp()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00984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B. ztest()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87368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8795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C. mean_test()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73752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97433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D. hypothesis_test()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D5F96"/>
                </a:solidFill>
              </a:defRPr>
            </a:pPr>
            <a:r>
              <a:t>Do not check the answer key until all questions are completed.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Hypothesis Testing Quiz  |  Question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5F96"/>
                </a:solidFill>
              </a:defRPr>
            </a:pPr>
            <a:r>
              <a:t>Choose the best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323"/>
                </a:solidFill>
              </a:defRPr>
            </a:pPr>
            <a:r>
              <a:t>12. Which library commonly provides ztest()?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15184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A. matplotlib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00984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B. statsmodels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87368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8795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C. numpy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73752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97433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D. pandas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D5F96"/>
                </a:solidFill>
              </a:defRPr>
            </a:pPr>
            <a:r>
              <a:t>Do not check the answer key until all questions are completed.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Hypothesis Testing Quiz  |  Question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5F96"/>
                </a:solidFill>
              </a:defRPr>
            </a:pPr>
            <a:r>
              <a:t>Choose the best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323"/>
                </a:solidFill>
              </a:defRPr>
            </a:pPr>
            <a:r>
              <a:t>13. A Z-test generally uses which distribution?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15184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A. Normal distribution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00984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B. Uniform distribution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87368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8795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C. Binomial distribution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73752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97433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D. Poisson distribution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D5F96"/>
                </a:solidFill>
              </a:defRPr>
            </a:pPr>
            <a:r>
              <a:t>Do not check the answer key until all questions are completed.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Hypothesis Testing Quiz  |  Question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5F96"/>
                </a:solidFill>
              </a:defRPr>
            </a:pPr>
            <a:r>
              <a:t>Choose the best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323"/>
                </a:solidFill>
              </a:defRPr>
            </a:pPr>
            <a:r>
              <a:t>14. A t-test uses which distribution?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15184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A. Normal distribution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00984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B. t-distribution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87368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8795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C. Uniform distribution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73752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97433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D. Chi-square distribution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D5F96"/>
                </a:solidFill>
              </a:defRPr>
            </a:pPr>
            <a:r>
              <a:t>Do not check the answer key until all questions are completed.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Hypothesis Testing Quiz  |  Question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5F96"/>
                </a:solidFill>
              </a:defRPr>
            </a:pPr>
            <a:r>
              <a:t>Choose the best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323"/>
                </a:solidFill>
              </a:defRPr>
            </a:pPr>
            <a:r>
              <a:t>15. A common reason to use a t-test instead of a Z-test is: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15184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A. The data has no mean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00984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B. Population standard deviation is unknown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87368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8795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C. There is no sample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73752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97433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D. The p-value is zero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D5F96"/>
                </a:solidFill>
              </a:defRPr>
            </a:pPr>
            <a:r>
              <a:t>Do not check the answer key until all questions are completed.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Hypothesis Testing Quiz  |  Question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5F96"/>
                </a:solidFill>
              </a:defRPr>
            </a:pPr>
            <a:r>
              <a:t>Choose the best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323"/>
                </a:solidFill>
              </a:defRPr>
            </a:pPr>
            <a:r>
              <a:t>16. In a one-sample t-test, degrees of freedom are usually: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15184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A. 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00984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B. n + 1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87368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8795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C. n - 1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73752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97433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D. 2n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D5F96"/>
                </a:solidFill>
              </a:defRPr>
            </a:pPr>
            <a:r>
              <a:t>Do not check the answer key until all questions are completed.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Hypothesis Testing Quiz  |  Question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5F96"/>
                </a:solidFill>
              </a:defRPr>
            </a:pPr>
            <a:r>
              <a:t>Choose the best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323"/>
                </a:solidFill>
              </a:defRPr>
            </a:pPr>
            <a:r>
              <a:t>17. If sample size n = 20, what are the degrees of freedom for a one-sample t-test?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15184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A.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00984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B.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87368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8795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C. 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73752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97433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D. 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D5F96"/>
                </a:solidFill>
              </a:defRPr>
            </a:pPr>
            <a:r>
              <a:t>Do not check the answer key until all questions are completed.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Hypothesis Testing Quiz  |  Question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5F96"/>
                </a:solidFill>
              </a:defRPr>
            </a:pPr>
            <a:r>
              <a:t>Choose the best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323"/>
                </a:solidFill>
              </a:defRPr>
            </a:pPr>
            <a:r>
              <a:t>18. Which statement is correct about a p-value?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15184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A. It is the probability that H₀ is definitely true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00984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B. It measures evidence against H₀ under the test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87368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8795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C. It is always equal to 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73752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97433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D. It is the sample mean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D5F96"/>
                </a:solidFill>
              </a:defRPr>
            </a:pPr>
            <a:r>
              <a:t>Do not check the answer key until all questions are completed.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Hypothesis Testing Quiz  |  Question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5F96"/>
                </a:solidFill>
              </a:defRPr>
            </a:pPr>
            <a:r>
              <a:t>Choose the best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323"/>
                </a:solidFill>
              </a:defRPr>
            </a:pPr>
            <a:r>
              <a:t>19. If p-value = 0.02 and α = 0.05, the decision is: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15184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A. Fail to reject H₀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00984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B. Reject H₀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87368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8795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C. Increase α to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73752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97433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D. No decision is possible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D5F96"/>
                </a:solidFill>
              </a:defRPr>
            </a:pPr>
            <a:r>
              <a:t>Do not check the answer key until all questions are completed.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Hypothesis Testing Quiz  |  Question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5F96"/>
                </a:solidFill>
              </a:defRPr>
            </a:pPr>
            <a:r>
              <a:t>Choose the best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323"/>
                </a:solidFill>
              </a:defRPr>
            </a:pPr>
            <a:r>
              <a:t>20. If p-value = 0.08 and α = 0.05, the decision is: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15184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A. Reject H₀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00984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B. Reject H₁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87368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8795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C. Fail to reject H₀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73752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97433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D. The test becomes one-tailed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D5F96"/>
                </a:solidFill>
              </a:defRPr>
            </a:pPr>
            <a:r>
              <a:t>Do not check the answer key until all questions are completed.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Hypothesis Testing Quiz  |  Question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5F96"/>
                </a:solidFill>
              </a:defRPr>
            </a:pPr>
            <a:r>
              <a:t>Choose the best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323"/>
                </a:solidFill>
              </a:defRPr>
            </a:pPr>
            <a:r>
              <a:t>21. For H₀: μ = 50 and H₁: μ ≠ 50, which Python option is appropriate?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15184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A. alternative='less'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00984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B. alternative='greater'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87368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8795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C. alternative='two-sided'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73752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97433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D. alternative='equal'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D5F96"/>
                </a:solidFill>
              </a:defRPr>
            </a:pPr>
            <a:r>
              <a:t>Do not check the answer key until all questions are completed.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Hypothesis Testing Quiz  |  Question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5F96"/>
                </a:solidFill>
              </a:defRPr>
            </a:pPr>
            <a:r>
              <a:t>Choose the best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323"/>
                </a:solidFill>
              </a:defRPr>
            </a:pPr>
            <a:r>
              <a:t>22. For H₀: μ = 50 and H₁: μ &gt; 50, which Python option is appropriate in SciPy?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15184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A. alternative='less'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00984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B. alternative='greater'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87368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8795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C. alternative='two-sided'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73752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97433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D. alternative='more'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D5F96"/>
                </a:solidFill>
              </a:defRPr>
            </a:pPr>
            <a:r>
              <a:t>Do not check the answer key until all questions are completed.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Hypothesis Testing Quiz  |  Question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5F96"/>
                </a:solidFill>
              </a:defRPr>
            </a:pPr>
            <a:r>
              <a:t>Choose the best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323"/>
                </a:solidFill>
              </a:defRPr>
            </a:pPr>
            <a:r>
              <a:t>23. For H₀: μ = 50 and H₁: μ &lt; 50, which Python option is appropriate in SciPy?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15184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A. alternative='less'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00984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B. alternative='greater'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87368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8795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C. alternative='two-sided'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73752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97433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D. alternative='below'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D5F96"/>
                </a:solidFill>
              </a:defRPr>
            </a:pPr>
            <a:r>
              <a:t>Do not check the answer key until all questions are completed.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Hypothesis Testing Quiz  |  Question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5F96"/>
                </a:solidFill>
              </a:defRPr>
            </a:pPr>
            <a:r>
              <a:t>Choose the best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323"/>
                </a:solidFill>
              </a:defRPr>
            </a:pPr>
            <a:r>
              <a:t>24. Why must the researcher choose the test tail before looking at the result?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15184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A. To avoid changing the hypothesis direction based on the observed result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00984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B. To make the p-value exactly 0.05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87368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8795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C. To increase the sample size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73752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97433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D. To remove all outliers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D5F96"/>
                </a:solidFill>
              </a:defRPr>
            </a:pPr>
            <a:r>
              <a:t>Do not check the answer key until all questions are completed.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Hypothesis Testing Quiz  |  Question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5F96"/>
                </a:solidFill>
              </a:defRPr>
            </a:pPr>
            <a:r>
              <a:t>Choose the best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323"/>
                </a:solidFill>
              </a:defRPr>
            </a:pPr>
            <a:r>
              <a:t>25. Which is a correct null hypothesis for testing whether average score is greater than 70?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15184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A. H₀: μ &gt; 70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00984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B. H₀: μ &lt; 70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87368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8795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C. H₀: μ = 70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73752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97433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D. H₀: μ ≠ 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D5F96"/>
                </a:solidFill>
              </a:defRPr>
            </a:pPr>
            <a:r>
              <a:t>Do not check the answer key until all questions are completed.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Hypothesis Testing Quiz  |  Question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5F96"/>
                </a:solidFill>
              </a:defRPr>
            </a:pPr>
            <a:r>
              <a:t>Choose the best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323"/>
                </a:solidFill>
              </a:defRPr>
            </a:pPr>
            <a:r>
              <a:t>26. A company claims average delivery time is 30 minutes. You want to test whether it has changed in either direction. Which test direction is appropriate?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15184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A. Right-tailed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00984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B. Left-tailed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87368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8795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C. Two-tailed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73752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97433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D. No-tailed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D5F96"/>
                </a:solidFill>
              </a:defRPr>
            </a:pPr>
            <a:r>
              <a:t>Do not check the answer key until all questions are completed.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Hypothesis Testing Quiz  |  Question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5F96"/>
                </a:solidFill>
              </a:defRPr>
            </a:pPr>
            <a:r>
              <a:t>Choose the best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323"/>
                </a:solidFill>
              </a:defRPr>
            </a:pPr>
            <a:r>
              <a:t>27. What is a Type I error?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15184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A. Failing to reject a false H₀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00984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B. Rejecting a true H₀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87368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8795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C. Rejecting a false H₀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73752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97433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D. Using the wrong sample mean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D5F96"/>
                </a:solidFill>
              </a:defRPr>
            </a:pPr>
            <a:r>
              <a:t>Do not check the answer key until all questions are completed.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Hypothesis Testing Quiz  |  Question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5F96"/>
                </a:solidFill>
              </a:defRPr>
            </a:pPr>
            <a:r>
              <a:t>Choose the best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323"/>
                </a:solidFill>
              </a:defRPr>
            </a:pPr>
            <a:r>
              <a:t>28. What is a Type II error?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15184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A. Rejecting a true H₀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00984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B. Failing to reject a false H₀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87368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8795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C. Rejecting H₁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73752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97433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D. Using α = 0.05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D5F96"/>
                </a:solidFill>
              </a:defRPr>
            </a:pPr>
            <a:r>
              <a:t>Do not check the answer key until all questions are completed.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Hypothesis Testing Quiz  |  Question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5F96"/>
                </a:solidFill>
              </a:defRPr>
            </a:pPr>
            <a:r>
              <a:t>Choose the best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323"/>
                </a:solidFill>
              </a:defRPr>
            </a:pPr>
            <a:r>
              <a:t>29. What happens to the test's evidence threshold when α is reduced from 0.05 to 0.01?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15184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A. It becomes easier to reject H₀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00984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B. It becomes harder to reject H₀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87368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8795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C. It does not change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73752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97433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D. The sample disappears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D5F96"/>
                </a:solidFill>
              </a:defRPr>
            </a:pPr>
            <a:r>
              <a:t>Do not check the answer key until all questions are completed.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Hypothesis Testing Quiz  |  Question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5F96"/>
                </a:solidFill>
              </a:defRPr>
            </a:pPr>
            <a:r>
              <a:t>Choose the best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323"/>
                </a:solidFill>
              </a:defRPr>
            </a:pPr>
            <a:r>
              <a:t>30. A test produces t = -3.2 with a left-tailed alternative. Which direction supports H₁: μ &lt; μ₀?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15184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A. Negative t-value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00984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B. Positive t-value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87368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8795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C. Zero t-value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73752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97433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D. Only the sample size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D5F96"/>
                </a:solidFill>
              </a:defRPr>
            </a:pPr>
            <a:r>
              <a:t>Do not check the answer key until all questions are completed.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Hypothesis Testing Quiz  |  Question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5F96"/>
                </a:solidFill>
              </a:defRPr>
            </a:pPr>
            <a:r>
              <a:t>Choose the best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323"/>
                </a:solidFill>
              </a:defRPr>
            </a:pPr>
            <a:r>
              <a:t>31. A test produces z = 2.5 with a right-tailed alternative. Is the observed statistic in the direction of H₁: μ &gt; μ₀?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15184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A. Yes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00984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B. 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87368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8795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C. Only if p &gt; 0.05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73752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97433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D. Cannot determine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D5F96"/>
                </a:solidFill>
              </a:defRPr>
            </a:pPr>
            <a:r>
              <a:t>Do not check the answer key until all questions are completed.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Hypothesis Testing Quiz  |  Question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5F96"/>
                </a:solidFill>
              </a:defRPr>
            </a:pPr>
            <a:r>
              <a:t>Choose the best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323"/>
                </a:solidFill>
              </a:defRPr>
            </a:pPr>
            <a:r>
              <a:t>32. Which sequence is most appropriate for a hypothesis test?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15184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A. p-value → H₁ → question → 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00984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B. Research question → H₀/H₁ → test → statistic/p-value → decision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87368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8795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C. Decision → sample → H₀ → p-value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73752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97433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D. Mean → graph → conclusion → H₁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D5F96"/>
                </a:solidFill>
              </a:defRPr>
            </a:pPr>
            <a:r>
              <a:t>Do not check the answer key until all questions are completed.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Hypothesis Testing Quiz  |  Question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5F96"/>
                </a:solidFill>
              </a:defRPr>
            </a:pPr>
            <a:r>
              <a:t>Choose the best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323"/>
                </a:solidFill>
              </a:defRPr>
            </a:pPr>
            <a:r>
              <a:t>33. If a result is statistically significant at α = 0.05, it means: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15184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A. The effect is automatically large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00984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B. The evidence is sufficient to reject H₀ at the 5% level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87368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8795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C. H₀ is proven false with 100% certainty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73752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97433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D. The sample is always representative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D5F96"/>
                </a:solidFill>
              </a:defRPr>
            </a:pPr>
            <a:r>
              <a:t>Do not check the answer key until all questions are completed.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Hypothesis Testing Quiz  |  Question 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5F96"/>
                </a:solidFill>
              </a:defRPr>
            </a:pPr>
            <a:r>
              <a:t>Choose the best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323"/>
                </a:solidFill>
              </a:defRPr>
            </a:pPr>
            <a:r>
              <a:t>34. Which formula represents a one-sample t-statistic?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15184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A. t = (x̄ − μ₀) / (s/√n)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00984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B. t = μ₀ − x̄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87368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8795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C. t = s√n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73752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97433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D. t = x̄ + μ₀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D5F96"/>
                </a:solidFill>
              </a:defRPr>
            </a:pPr>
            <a:r>
              <a:t>Do not check the answer key until all questions are completed.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Hypothesis Testing Quiz  |  Question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5F96"/>
                </a:solidFill>
              </a:defRPr>
            </a:pPr>
            <a:r>
              <a:t>Choose the best answer.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32323"/>
                </a:solidFill>
              </a:defRPr>
            </a:pPr>
            <a:r>
              <a:t>35. Which statement best describes what the Python library does after you specify the alternative?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15184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A. It chooses the research question for you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00984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401568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B. It calculates the test statistic and appropriate p-value for the specified 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87368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187952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C. It automatically proves H₀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873752"/>
            <a:ext cx="1042416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2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974336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</a:defRPr>
            </a:pPr>
            <a:r>
              <a:t>D. It always chooses two-tailed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2D5F96"/>
                </a:solidFill>
              </a:defRPr>
            </a:pPr>
            <a:r>
              <a:t>Do not check the answer key until all questions are completed.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Answer 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5F96"/>
                </a:solidFill>
              </a:defRPr>
            </a:pPr>
            <a:r>
              <a:t>Questions 1–18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87850"/>
                </a:solidFill>
              </a:defRPr>
            </a:pPr>
            <a:r>
              <a:t>01. 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87850"/>
                </a:solidFill>
              </a:defRPr>
            </a:pPr>
            <a:r>
              <a:t>02. 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87850"/>
                </a:solidFill>
              </a:defRPr>
            </a:pPr>
            <a:r>
              <a:t>03. 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87850"/>
                </a:solidFill>
              </a:defRPr>
            </a:pPr>
            <a:r>
              <a:t>04. 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5196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87850"/>
                </a:solidFill>
              </a:defRPr>
            </a:pPr>
            <a:r>
              <a:t>05. 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8348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87850"/>
                </a:solidFill>
              </a:defRPr>
            </a:pPr>
            <a:r>
              <a:t>06. 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32588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87850"/>
                </a:solidFill>
              </a:defRPr>
            </a:pPr>
            <a:r>
              <a:t>07.  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205740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87850"/>
                </a:solidFill>
              </a:defRPr>
            </a:pPr>
            <a:r>
              <a:t>08. 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78892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87850"/>
                </a:solidFill>
              </a:defRPr>
            </a:pPr>
            <a:r>
              <a:t>09. 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352044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87850"/>
                </a:solidFill>
              </a:defRPr>
            </a:pPr>
            <a:r>
              <a:t>10. 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425196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87850"/>
                </a:solidFill>
              </a:defRPr>
            </a:pPr>
            <a:r>
              <a:t>11. 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498348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87850"/>
                </a:solidFill>
              </a:defRPr>
            </a:pPr>
            <a:r>
              <a:t>12. 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132588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87850"/>
                </a:solidFill>
              </a:defRPr>
            </a:pPr>
            <a:r>
              <a:t>13. 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05740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87850"/>
                </a:solidFill>
              </a:defRPr>
            </a:pPr>
            <a:r>
              <a:t>14. 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78892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87850"/>
                </a:solidFill>
              </a:defRPr>
            </a:pPr>
            <a:r>
              <a:t>15. 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52044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87850"/>
                </a:solidFill>
              </a:defRPr>
            </a:pPr>
            <a:r>
              <a:t>16.  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425196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87850"/>
                </a:solidFill>
              </a:defRPr>
            </a:pPr>
            <a:r>
              <a:t>17. 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98348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87850"/>
                </a:solidFill>
              </a:defRPr>
            </a:pPr>
            <a:r>
              <a:t>18.  B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Answer 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5F96"/>
                </a:solidFill>
              </a:defRPr>
            </a:pPr>
            <a:r>
              <a:t>Questions 19–35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87850"/>
                </a:solidFill>
              </a:defRPr>
            </a:pPr>
            <a:r>
              <a:t>19. 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87850"/>
                </a:solidFill>
              </a:defRPr>
            </a:pPr>
            <a:r>
              <a:t>20. 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87850"/>
                </a:solidFill>
              </a:defRPr>
            </a:pPr>
            <a:r>
              <a:t>21. 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87850"/>
                </a:solidFill>
              </a:defRPr>
            </a:pPr>
            <a:r>
              <a:t>22. 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5196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87850"/>
                </a:solidFill>
              </a:defRPr>
            </a:pPr>
            <a:r>
              <a:t>23. 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8348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87850"/>
                </a:solidFill>
              </a:defRPr>
            </a:pPr>
            <a:r>
              <a:t>24. 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32588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87850"/>
                </a:solidFill>
              </a:defRPr>
            </a:pPr>
            <a:r>
              <a:t>25.  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205740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87850"/>
                </a:solidFill>
              </a:defRPr>
            </a:pPr>
            <a:r>
              <a:t>26.  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78892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87850"/>
                </a:solidFill>
              </a:defRPr>
            </a:pPr>
            <a:r>
              <a:t>27. 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352044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87850"/>
                </a:solidFill>
              </a:defRPr>
            </a:pPr>
            <a:r>
              <a:t>28. 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425196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87850"/>
                </a:solidFill>
              </a:defRPr>
            </a:pPr>
            <a:r>
              <a:t>29. 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498348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87850"/>
                </a:solidFill>
              </a:defRPr>
            </a:pPr>
            <a:r>
              <a:t>30. 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132588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87850"/>
                </a:solidFill>
              </a:defRPr>
            </a:pPr>
            <a:r>
              <a:t>31. 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05740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87850"/>
                </a:solidFill>
              </a:defRPr>
            </a:pPr>
            <a:r>
              <a:t>32. 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78892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87850"/>
                </a:solidFill>
              </a:defRPr>
            </a:pPr>
            <a:r>
              <a:t>33. 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52044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87850"/>
                </a:solidFill>
              </a:defRPr>
            </a:pPr>
            <a:r>
              <a:t>34. 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4251960"/>
            <a:ext cx="2834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87850"/>
                </a:solidFill>
              </a:defRPr>
            </a:pPr>
            <a:r>
              <a:t>35.  B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Quiz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743200"/>
            <a:ext cx="9601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Review your answers using the answer key.</a:t>
            </a:r>
          </a:p>
          <a:p>
            <a:pPr algn="ctr">
              <a:defRPr sz="2000">
                <a:solidFill>
                  <a:srgbClr val="BED7F0"/>
                </a:solidFill>
              </a:defRPr>
            </a:pPr>
            <a:r>
              <a:t>Discuss the reasoning behind any incorrect answers.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